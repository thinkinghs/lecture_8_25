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배포 시작 파일에서 출발하는 독립 실습. 3교시까지의 내용을 몰라도 따라올 수 있는 구성임을 먼저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5번(검증)이 오늘의 숨은 주인공임을 예고한다. 표·그림·보고서 어느 것이든 '생성 → 검증'이 한 세트라는 메시지를 미리 심는다.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타임라인 블록의 폭이 곧 시간 비중임을 짚어 준다. 실습 B가 가장 긴 이유(스타일 왕복 조정이 하이라이트)를 미리 언급한다.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‘이 메일 받아 본 분?’ 손들기로 시작해 공감대를 만든 뒤 다음 장으로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‘오늘 이 세 파일이 여러분 폴더에 실제로 생긴다’를 약속하고 개념 파트로 전환한다.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저널 심사 시스템은 파일에 기록된 dpi 메타데이터가 아니라 '픽셀 수 ÷ 최종 인쇄 크기'를 계산한다. 그래서 300dpi로 저장했다는 말만으로는 부족하고, 그림 폭을 함께 지정해야 한다는 점을 강조한다. 선 위주 그림은 Cell·Elsevier 기준 1,000dpi여서 사실상 벡터가 정답.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손으로는 두 벌 만드는 것이 일이지만, 오늘 방식에서는 요건 한 줄로 끝난다는 점을 대비해서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한글 폰트를 지정하면 마이너스 기호가 대신 깨지는 경우가 잦다. 두 가지가 한 세트로 따라온다는 점을 미리 알려 주고 부록 A1로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문장을 수강생과 소리 내어 함께 읽고 실습 파트로 전환한다. 문법 지식이 아니라 요건을 문장으로 옮기는 능력이 핵심임을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번호·그림 번호가 논문의 Table 1, Figure 1과 그대로 대응한다는 감각을 심어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진행이 막힌 수강생은 손들게 하고, 문제 상황은 부록 A1 표로 유도한다.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CLAUDE.md를 강사 화면으로 30초간 함께 훑어, 앞 장의 규칙표와 같은 내용임을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초보자가 가장 불안해하는 지점이 '잘못 누르면 어떻게 되나'이다. 계획 모드와 되돌리기를 먼저 보여 주고 나면 이후 실습에서 훨씬 과감하게 시도한다. 되돌리기가 bash 산출물을 추적하지 않는다는 점은 반드시 짚어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대기 시간에 다음 장으로 넘어가 데이터 값을 설명하면 흐름이 끊기지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 화면의 요약 보고와 이 값을 대조해 전원 출발선을 동기화한다.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요건 5줄을 짚으며 ‘이것이 각자 분야의 표 관례를 문장으로 옮긴 것’이라고 해설한다.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‘코드는 안 썼지만 요건은 아주 구체적으로 썼다’를 프롬프트를 다시 띄워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‘그냥 CSV로 두면 안 되나’라는 흔한 질문에 답하는 자리. 원본과 보여줄 것의 분리 원칙을 처음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보고가 나오는 동안 다음 장으로 이동한다.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‘AI를 믿지 말라’가 아니라 ‘믿을 수 있게 만드는 절차’라고 프레이밍하면 연구자 청중의 수용도가 높다. 검증을 새 대화에 맡기는 것은 코드 리뷰를 작성자 본인이 아닌 다른 사람에게 맡기는 것과 같은 원리로 설명하면 이해가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그림이 뜨면 잠시 멈추고 다음 장에서 이 프롬프트를 뜯어본다. 폭(90mm)을 지정하는 이유는 저널이 '픽셀 수 ÷ 인쇄 폭'으로 유효 해상도를 계산하기 때문이고, 색과 선 종류를 함께 쓰는 것은 흑백 인쇄와 색약 독자를 동시에 대비하는 방법이라고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강의의 이론적 핵심 슬라이드. 칠판 판서와 병행을 권장한다.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개를 마친 수강생에게는 자유 조정을 유도한다 — ‘제목 빼줘’, ‘격자선 연하게’, ‘실외 선만 굵게’, ‘y축 0~30’. 잘 나온 화면은 발표시켜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덱 앞부분에서 CLAUDE.md를 소개해 놓고 프롬프트에 같은 요건을 계속 반복하면 모순이다. 이 장이 그 매듭을 푸는 자리. 요건을 규칙 파일로 옮기고 나면 이후 실습 C의 프롬프트가 짧아지는 것을 수강생이 직접 체감하게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저널 투고 시스템과 인쇄소가 벡터를 요구하는 이유가 품질과 용량 두 가지임을 마무리로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부족 시 통째로 생략 가능. 생략하면 정리 파트에서 강사 화면 30초 시연으로 대체한다.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생성이 도는 동안 프롬프트의 ‘구성 1~5’가 곧 보고서 목차가 된다는 점을 해설한다.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예전에는 pandoc을 winget으로 설치하는 방식이 일반적이었지만, 지금은 Anthropic이 배포하는 document-skills 플러그인이 표준 경로다. 스킬 안에 변환·검증 절차가 함께 들어 있어 결과가 더 일정하다. 설치가 막히는 PC만 부록의 pandoc 경로로 통일해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표에서 배운 분리 원칙이 문서에도 똑같이 적용됨을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부족 시 구두 설명으로 대체 가능. ‘생성 → 검증’이 한 세트라는 메시지는 반드시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수강생과 함께 파일 탐색기를 열어 실물을 확인한다. 빠진 파일이 있는 수강생은 해당 단계를 다시 실행하게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패턴을 수강생이 소리 내어 읽게 해 문장으로 기억시킨다.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청중이 개발자가 아니라면 터미널 자체가 진입 장벽이다. 오늘 실습은 Claude Code로 진행했지만 같은 문장 습관이 Cowork에서도 그대로 통한다는 점을 남겨 주면 실무 복귀 후 실제로 쓸 확률이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Q&amp;A로 전환. 예상 질문 — 저널별 폰트/포맷 요건은 요건만 바꿔 요청 / AI 오류 우려는 검증 3단계 / 손 수정은 재생성 시 덮어씀 주의 / 보고서는 초안이며 해석·책임은 연구자, 기관의 AI 활용 정책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시작 전과 문제 발생 시 이 장 번호를 반복 안내해 ‘부록 A1 펴세요’ 한 마디로 통일한다. 3번(되돌리기)은 실습 중 가장 자주 쓰이므로 앞 장에서 이미 시연해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350" y="2487168"/>
            <a:ext cx="64008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6974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논문·보고서용</a:t>
            </a:r>
            <a:endParaRPr lang="en-US" sz="34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산출물로 바꾸는 방법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224528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코드 0줄로 만드는 표 · 그림 · 보고서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학습 목표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23160" y="598932"/>
            <a:ext cx="89455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끝나면 할 수 있게 되는 것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표·그림·보고서를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문장으로 만들고, 문장으로 고치고, 검증까지 요청하는 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29968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2996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139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논문용 그림의 3대 요건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00200" y="239572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 · 포맷 · 폰트가 무엇인지 개념 수준에서 설명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807208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8072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2916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용도와 요건을 담은 프롬프트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00200" y="317296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“논문 Figure 1로 쓸 수 있게 폭 90mm, 300dpi로” 형태로 작성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584448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5844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파일 → Excel(.xlsx)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395020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CSV·Parquet를 논문 표 형식으로 자동 변환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361688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6168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471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3포맷 + 스타일 조정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00200" y="472744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PNG·PDF·SVG 동시 생성, 반복 요건은 CLAUDE.md 규칙으로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138928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3892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00200" y="5248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md → Word + 검증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00200" y="550468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 변환 후 수치를 원본과 대조하도록 요청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진행 순서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23160" y="598932"/>
            <a:ext cx="89455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8분, 실습 41분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움직이는 시간이 오늘의 중심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05343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93976"/>
            <a:ext cx="5053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340864"/>
            <a:ext cx="5053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01455" y="2011680"/>
            <a:ext cx="134758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1455" y="2093976"/>
            <a:ext cx="13475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01455" y="2340864"/>
            <a:ext cx="13475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22189" y="2011680"/>
            <a:ext cx="1179134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2189" y="2093976"/>
            <a:ext cx="11791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22189" y="2340864"/>
            <a:ext cx="1179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74475" y="2011680"/>
            <a:ext cx="1684477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4475" y="2093976"/>
            <a:ext cx="16844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74475" y="2340864"/>
            <a:ext cx="16844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32104" y="2011680"/>
            <a:ext cx="2358268" cy="65836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2104" y="2093976"/>
            <a:ext cx="2358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8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2104" y="2340864"/>
            <a:ext cx="2358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34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63524" y="2011680"/>
            <a:ext cx="1684477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3524" y="2093976"/>
            <a:ext cx="16844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63524" y="2340864"/>
            <a:ext cx="16844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21153" y="2011680"/>
            <a:ext cx="1347582" cy="6583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21153" y="2093976"/>
            <a:ext cx="13475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21153" y="2340864"/>
            <a:ext cx="13475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279806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 가 가장 긴 이유는 스타일을 여러 번 고쳐 보는 과정이 들어 있기 때문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63824"/>
          <a:ext cx="105457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7436815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00:00–00:03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리비전 대응 사례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00:03–00:11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그림의 3대 요건 (해상도 · 포맷 · 폰트)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00:11–00:18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파일 · Claude Code 실행 · 계획 모드와 되돌리기 · 데이터 파악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00:18–00:28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비교 통계 → 논문 표 Excel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00:28–00:42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 3포맷 동시 생성 · 스타일 조정 · 반복 요건을 규칙 파일로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00:42–00:52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Markdown 작성 → Word 변환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00:52–01:00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 체크리스트 · 프롬프트 3대 패턴 · 다음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필요한가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598932"/>
            <a:ext cx="88541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메일에 반복해서 등장하는 요구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분석이 끝난 다음에 시작되는 일 — 표 만들기, 그림 만들기,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만들기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4864" cy="98755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11680"/>
            <a:ext cx="10490911" cy="98755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762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편집국에서 온 메일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45059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“Figure 2가 해상도 미달입니다. 300dpi 이상 또는 벡터 포맷으로 다시 제출하세요.”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60420"/>
            <a:ext cx="3271418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3785616"/>
            <a:ext cx="27593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글씨가 너무 작음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114800"/>
            <a:ext cx="2759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 크기로 줄었을 때 읽히지 않는 경우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60138" y="3310128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0138" y="3360420"/>
            <a:ext cx="3271418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17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6170" y="3785616"/>
            <a:ext cx="27593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흑백 인쇄 시 색 구분 불가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6170" y="4114800"/>
            <a:ext cx="2759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색으로만 구분한 선·막대는 흑백에서 겹쳐 보임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7317" y="3310128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7317" y="3360420"/>
            <a:ext cx="3271418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3349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53349" y="3785616"/>
            <a:ext cx="27593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위치 이동 요청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53349" y="4114800"/>
            <a:ext cx="2759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범례가 데이터 위에 겹쳐 있는 경우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956048"/>
            <a:ext cx="10545775" cy="713232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50840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요구가 부담이 되는 이유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530352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마우스로 만든 그림은 만든 과정이 남지 않음. 결국 처음부터 다시 그리게 되는 구조.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필요한가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598932"/>
            <a:ext cx="88541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요구에 대한 두 가지 대응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만드는 것은 그림을 만든 과정이 기록으로 남아 있는지 여부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044288" cy="24871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9456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손으로 다시 그리기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578608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요구 도착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2999232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만들었는지 기억 더듬기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3419856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작업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3840480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반나절 ~ 하루 소요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24448" y="2011680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4448" y="2061972"/>
            <a:ext cx="5044288" cy="243687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8768" y="219456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프롬프트로 다시 뽑기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98768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1376" y="2578608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요구 도착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9876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1376" y="2999232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“글씨 키우고 PDF로도 저장해줘”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98768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1376" y="3419856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포맷 동시 재생성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98768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1376" y="3840480"/>
            <a:ext cx="41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 내 완료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4718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실제로 만들 파일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5010912"/>
            <a:ext cx="3307994" cy="896112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138928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Table1_group_comparison.xlsx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42416" y="5431536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유의성 별표와 각주가 달린 논문 표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41850" y="5010912"/>
            <a:ext cx="3307994" cy="896112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1306" y="5138928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Fig1_temp_trend.png / .pdf / .svg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1306" y="5431536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+ 투고용 그림 세트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60741" y="5010912"/>
            <a:ext cx="3307994" cy="896112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0197" y="5138928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analysis_summary.docx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80197" y="5431536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요약 보고서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0" y="598932"/>
            <a:ext cx="89912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 — 인쇄 폭이 정해져야 dpi가 의미를 가짐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저널이 재는 값은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수 ÷ 최종 인쇄 폭</a:t>
            </a:r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파일에 적힌 dpi 값이 아님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2103120"/>
            <a:ext cx="2505456" cy="250545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710" y="2498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871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871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871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871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8710" y="3927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460" y="2212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4460" y="2498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446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9446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9446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9446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94460" y="3927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94460" y="4213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80210" y="2212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80210" y="2498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8021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8021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021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8021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0210" y="3927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80210" y="4213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0" y="2212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65960" y="2498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6596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6596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6596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6596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65960" y="3927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65960" y="4213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51710" y="2212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51710" y="2498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5171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5171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5171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5171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51710" y="3927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51710" y="4213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37460" y="2498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746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3746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3746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3746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37460" y="3927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23210" y="27843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23210" y="30700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23210" y="335584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23210" y="3641598"/>
            <a:ext cx="285750" cy="285750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4681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dpi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456432" y="2103120"/>
            <a:ext cx="2505456" cy="250545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66160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66160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66160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566160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66160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70069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70069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70069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70069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70069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70069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70069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70069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70069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70069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73978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73978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73978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73978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73978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73978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73978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73978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773978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773978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73978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73978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73978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773978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877887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77887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877887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877887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877887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77887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77887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77887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877887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877887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877887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77887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77887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877887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877887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77887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981796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81796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81796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981796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981796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981796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981796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81796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81796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81796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81796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81796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1796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981796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981796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981796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981796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981796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085705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085705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085705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085705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085705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085705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085705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085705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085705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085705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085705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085705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085705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085705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085705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085705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085705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085705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189615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189615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189615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189615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189615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189615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189615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189615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189615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189615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189615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189615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189615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189615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189615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189615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189615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189615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189615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189615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293524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93524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293524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293524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293524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93524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293524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293524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293524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293524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293524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293524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293524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293524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293524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293524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293524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293524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293524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293524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397433" y="2212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397433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397433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397433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397433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397433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397433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397433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397433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397433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397433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397433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397433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397433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397433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397433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397433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397433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397433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397433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397433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397433" y="4394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501342" y="2212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501342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501342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501342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501342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501342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501342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501342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501342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501342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501342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501342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501342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501342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501342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501342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501342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501342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501342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501342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501342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501342" y="4394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605251" y="2212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605251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605251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605251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605251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605251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605251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605251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605251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605251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605251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605251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605251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605251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605251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605251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605251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605251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605251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605251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605251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605251" y="4394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709160" y="2212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709160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709160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709160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709160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709160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709160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709160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709160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709160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709160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709160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709160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709160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709160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709160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709160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709160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709160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709160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4709160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709160" y="4394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813069" y="2212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813069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813069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4813069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813069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4813069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4813069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4813069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813069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813069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813069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813069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813069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813069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813069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813069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813069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813069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813069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813069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813069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813069" y="4394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916978" y="2212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916978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916978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916978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916978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4916978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4916978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916978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916978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916978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916978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916978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4916978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4916978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4916978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4916978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4916978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4916978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4916978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4916978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4916978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4916978" y="4394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020887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020887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020887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020887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5020887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020887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020887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020887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020887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5020887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5020887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5020887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020887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020887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5020887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5020887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5020887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5020887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5020887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5020887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124796" y="2316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124796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5124796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5124796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5124796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5124796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5124796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5124796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5124796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5124796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5124796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5124796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5124796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5124796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5124796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5124796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5124796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5124796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5124796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5124796" y="4291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5228705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5228705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5228705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5228705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5228705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5228705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5228705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5228705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5228705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5228705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228705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5228705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5228705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5228705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5228705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5228705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228705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228705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332615" y="2420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5332615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5332615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5332615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5332615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5332615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332615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332615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332615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5332615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5332615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332615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5332615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5332615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332615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332615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332615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5332615" y="4187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5436524" y="2524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5436524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5436524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5436524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5436524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5436524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5436524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436524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436524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436524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5436524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5436524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5436524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5436524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5436524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5436524" y="4083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5540433" y="2628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5540433" y="2732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5540433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5540433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5540433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5540433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5540433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5540433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5540433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5540433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5540433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5540433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5540433" y="387539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5540433" y="3979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644342" y="2836303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5644342" y="2940212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5644342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5644342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5644342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644342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5644342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5644342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5644342" y="3667575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5644342" y="3771484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5748251" y="3044121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5748251" y="3148030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5748251" y="3251939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5748251" y="3355848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5748251" y="3459757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5748251" y="3563666"/>
            <a:ext cx="103909" cy="103909"/>
          </a:xfrm>
          <a:prstGeom prst="rect">
            <a:avLst/>
          </a:prstGeom>
          <a:solidFill>
            <a:srgbClr val="FFD733"/>
          </a:solidFill>
          <a:ln w="3175">
            <a:solidFill>
              <a:srgbClr val="141209"/>
            </a:solidFill>
            <a:prstDash val="solid"/>
          </a:ln>
        </p:spPr>
      </p:sp>
      <p:sp>
        <p:nvSpPr>
          <p:cNvPr id="439" name="Text 437"/>
          <p:cNvSpPr/>
          <p:nvPr/>
        </p:nvSpPr>
        <p:spPr>
          <a:xfrm>
            <a:off x="3456432" y="4681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dpi</a:t>
            </a:r>
            <a:endParaRPr lang="en-US" sz="1100" dirty="0"/>
          </a:p>
        </p:txBody>
      </p:sp>
      <p:sp>
        <p:nvSpPr>
          <p:cNvPr id="440" name="Text 438"/>
          <p:cNvSpPr/>
          <p:nvPr/>
        </p:nvSpPr>
        <p:spPr>
          <a:xfrm>
            <a:off x="822960" y="5138928"/>
            <a:ext cx="5248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그림이라도 점이 촘촘할수록 크게 인쇄해도 가장자리가 매끈함</a:t>
            </a:r>
            <a:endParaRPr lang="en-US" sz="1100" dirty="0"/>
          </a:p>
        </p:txBody>
      </p:sp>
      <p:sp>
        <p:nvSpPr>
          <p:cNvPr id="441" name="Text 439"/>
          <p:cNvSpPr/>
          <p:nvPr/>
        </p:nvSpPr>
        <p:spPr>
          <a:xfrm>
            <a:off x="6528816" y="2103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관행 (2026년 기준)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28816" y="2395728"/>
          <a:ext cx="4839919" cy="914400"/>
        </p:xfrm>
        <a:graphic>
          <a:graphicData uri="http://schemas.openxmlformats.org/drawingml/2006/table">
            <a:tbl>
              <a:tblPr/>
              <a:tblGrid>
                <a:gridCol w="2419960"/>
                <a:gridCol w="241996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관행적인 요건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슬라이드 발표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PNG 150 ~ 300dpi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저널 투고 (그래프 · 사진)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300dpi 이상 또는 벡터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저널 투고 (선 위주 그림)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1,000dpi 이상 또는 벡터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443" name="Shape 440"/>
          <p:cNvSpPr/>
          <p:nvPr/>
        </p:nvSpPr>
        <p:spPr>
          <a:xfrm>
            <a:off x="6528816" y="4617720"/>
            <a:ext cx="4839919" cy="96012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444" name="Text 441"/>
          <p:cNvSpPr/>
          <p:nvPr/>
        </p:nvSpPr>
        <p:spPr>
          <a:xfrm>
            <a:off x="6821424" y="4745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프롬프트에 폭을 함께 적음</a:t>
            </a:r>
            <a:endParaRPr lang="en-US" sz="1000" dirty="0"/>
          </a:p>
        </p:txBody>
      </p:sp>
      <p:sp>
        <p:nvSpPr>
          <p:cNvPr id="445" name="Text 442"/>
          <p:cNvSpPr/>
          <p:nvPr/>
        </p:nvSpPr>
        <p:spPr>
          <a:xfrm>
            <a:off x="6821424" y="4965192"/>
            <a:ext cx="42547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단 약 90mm, 두 단 약 180mm. 폭과 300dpi를 같이 지정해야 심사 기준을 통과함.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0" y="598932"/>
            <a:ext cx="89912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 — 점으로 저장할까, 그리는 방법으로 저장할까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PNG는 완성된 점의 배열, PDF·SVG는 선을 그리는 순서를 저장한 파일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래스터 (PNG)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(PDF · SVG)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완성된 점의 배열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선을 그리는 순서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점이 커져 계단처럼 보임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그때그때 다시 그려 매끈함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대체로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대체로 작음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 슬라이드에 붙이기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저널 투고 · 인쇄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2011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확대했을 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0" y="2331720"/>
            <a:ext cx="4053535" cy="146304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3410712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8412" y="3268980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10144" y="3127248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51876" y="2985516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93608" y="2843784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35340" y="2702052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77072" y="2560320"/>
            <a:ext cx="141732" cy="141732"/>
          </a:xfrm>
          <a:prstGeom prst="rect">
            <a:avLst/>
          </a:prstGeom>
          <a:solidFill>
            <a:srgbClr val="FFD733"/>
          </a:solidFill>
          <a:ln w="6350">
            <a:solidFill>
              <a:srgbClr val="14120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6840" y="269748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계단처럼 보임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0" y="3977640"/>
            <a:ext cx="4053535" cy="146304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-2700000">
            <a:off x="7525512" y="4677156"/>
            <a:ext cx="1371600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06840" y="4343400"/>
            <a:ext cx="2133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· SVG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선이 매끈함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617720"/>
            <a:ext cx="6035040" cy="82296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745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선택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15568" y="4965192"/>
            <a:ext cx="5449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하나를 고르지 않음. 발표용 PNG와 투고용 벡터를 한 문장으로 동시에 생성.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③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0" y="598932"/>
            <a:ext cx="89912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폰트 — 크기, 서체, 한글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리뷰어 지적에서 가장 자주 나오는 항목은 글씨 크기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61972"/>
            <a:ext cx="3271418" cy="18699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2722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88336"/>
            <a:ext cx="2722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그림이 단 폭(단일 단 약 90mm)으로 줄면 글씨도 같이 줄어듦. 저널이 요구하는 인쇄 기준은 대체로 5~8pt 범위이고, Nature는 5~7pt를 명시.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0138" y="2011680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0138" y="2061972"/>
            <a:ext cx="3271418" cy="18699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4458" y="2212848"/>
            <a:ext cx="2722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34458" y="2688336"/>
            <a:ext cx="2722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Arial · Helvetica 같은 고딕 계열(sans-serif)이 관행. 저널의 Author Guidelines 확인 필요.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2011680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7317" y="2061972"/>
            <a:ext cx="3271418" cy="18699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1637" y="2212848"/>
            <a:ext cx="27227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1637" y="2688336"/>
            <a:ext cx="2722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지정하지 않으면 □□□ 로 깨짐. Windows에서는 맑은 고딕(Malgun Gothic) 지정으로 해결. 마이너스 기호는 별도 설정 필요.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10545775" cy="113385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352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축 레이블이 논문에 들어갈 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4626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기온 (°C)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46268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46268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기온 (°C)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92240" y="4626864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크기를 줄이면 글씨도 함께 줄어듦. 그래서 처음부터 크게 지정해 두는 편이 안전함.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541264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554126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중 1·2순위 오류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한글 □□□ 깨짐, 그리고 마이너스 기호 깨짐 — 대처는 부록 A1의 1·2번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개념 정리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598932"/>
            <a:ext cx="88541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외울 것은 코드가 아니라 세 단어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단어를 한 문장에 담으면 그대로 프롬프트가 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53412"/>
            <a:ext cx="3247034" cy="15499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3247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3247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90mm · 300dpi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472330" y="2103120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2330" y="2153412"/>
            <a:ext cx="3247034" cy="15499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2330" y="2359152"/>
            <a:ext cx="3247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72330" y="2788920"/>
            <a:ext cx="3247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+ PDF·SVG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21701" y="2103120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2153412"/>
            <a:ext cx="3247034" cy="15499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1701" y="2359152"/>
            <a:ext cx="3247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1701" y="2788920"/>
            <a:ext cx="32470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맑은 고딕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54864" cy="12344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4114800"/>
            <a:ext cx="10490911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315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문장이 오늘 실습의 기본형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4626864"/>
            <a:ext cx="9960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“논문 Figure 1로 쓸 수 있게, 폭 90mm에 300dpi PNG와 벡터 PDF로, 한글은 맑은 고딕으로.”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0 · 준비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598932"/>
            <a:ext cx="857981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산출물은 outputs/ 아래, 이름은 규칙대로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규칙은 시작 파일 안의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 이미 적혀 있음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577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3657600"/>
                <a:gridCol w="35963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outputs/tables/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Table{번호}_{영문설명}.xlsx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Table1_group_comparison.xlsx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outputs/figures/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Fig{번호}_{영문설명}.png / .pdf / .svg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Fig1_temp_trend.png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outputs/report/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analysis_summary.md / .docx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analysis_summary.docx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4434840"/>
            <a:ext cx="10545775" cy="105156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4562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가 하는 일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5568" y="4782312"/>
            <a:ext cx="99605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는 이 폴더에서 작업할 때마다 CLAUDE.md 를 먼저 읽음.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덕분에 프롬프트를 짧게 써도 저장 위치와 파일명 규칙이 일정하게 유지됨.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0 · 준비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598932"/>
            <a:ext cx="857981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파일 zip 하나로 작업 폴더 준비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압축을 풀면 데이터와 빈 산출물 폴더가 함께 만들어짐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5577840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848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72768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lesson4_starter.zip 받기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4505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폴더 또는 USB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871216"/>
            <a:ext cx="5577840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87121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탐색기에서 우클릭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3236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「압축 풀기...」 선택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5577840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65760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위치 지정 후 풀기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4023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C:\lecture\lesson4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084832"/>
            <a:ext cx="4510735" cy="2249424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22311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풀고 나면 이 구조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14032" y="2523744"/>
            <a:ext cx="3998671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C:\lecture\lesson4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CLAUDE.md        작업 규칙서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pyproject.toml   환경 정의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data\            시작 파일 4종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outputs\         산출물 (빈 상태)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tables\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figures\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report\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626864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62686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파일 탐색기에서 위 폴더 구조가 그대로 보이면 정상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5230368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5230368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진행이 막히면 손을 들어 주세요. 자주 나오는 문제는 부록 A1 표로 정리해 두었습니다.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0 · 준비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598932"/>
            <a:ext cx="857981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두 줄이면 준비 완료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버튼 우클릭 → 「터미널」, 또는 시작 메뉴에서 PowerShell 검색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54864" cy="1060704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10490911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1 — 작업 폴더로 이동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4871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C:\lecture\lesson4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816352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터미널이 열리면 가장 먼저 입력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273552"/>
            <a:ext cx="54864" cy="1060704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3273552"/>
            <a:ext cx="10490911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419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2 — Claude Code 실행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36941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402336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 시 “Do you trust the files in this folder?” → 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626864"/>
            <a:ext cx="10545775" cy="120700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754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한 번 열어 볼 것 — CLAUDE.md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4974336"/>
            <a:ext cx="99605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안의 CLAUDE.md 를 메모장으로 열어 봅니다. 산출물 위치, 파일명, 그림 규칙이 적혀 있고,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가 이 폴더에서 일할 때 항상 먼저 읽는 파일입니다. 앞 장의 규칙표와 같은 내용입니다.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0 · 준비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598932"/>
            <a:ext cx="857981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전에 알아 둘 세 가지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잘못돼도 되돌릴 수 있다는 것을 확인하고 시작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53412"/>
            <a:ext cx="3271418" cy="20985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22576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모드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2706624"/>
            <a:ext cx="2722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127248"/>
            <a:ext cx="2722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건드리기 전에 무엇을 할지 계획으로 먼저 보여 줌. 계획을 읽고 승인한 뒤 실행되는 방식.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60138" y="2103120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0138" y="2153412"/>
            <a:ext cx="3271418" cy="20985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2322576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706624"/>
            <a:ext cx="2722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 두 번  ·  /rewind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4458" y="3127248"/>
            <a:ext cx="2722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보낼 때마다 저장점 생성. 대화만 · 파일만 · 둘 다 중 골라 이전 상태로 복구.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7317" y="2103120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2153412"/>
            <a:ext cx="3271418" cy="20985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1637" y="2322576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71637" y="2706624"/>
            <a:ext cx="2722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/permissions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1637" y="3127248"/>
            <a:ext cx="2722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명령을 미리 허용 목록에 등록. 매번 확인을 누르는 부담이 줄어듦.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480560"/>
            <a:ext cx="10545775" cy="1060704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6085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되돌리기의 한계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4828032"/>
            <a:ext cx="99605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저장점은 Claude가 파일 편집 도구로 바꾼 내용만 추적합니다. 터미널 명령으로 만들어진 그림·표 파일은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대상이 아니므로, 마음에 드는 결과가 나오면 outputs/ 폴더를 따로 복사해 두는 편이 안전합니다.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0 · 준비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598932"/>
            <a:ext cx="857981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프롬프트로 설치와 데이터 파악을 한 번에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설치, 파일 읽기, 요약까지 한 번에 요청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54864" cy="16154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10490911" cy="1615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494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523744"/>
            <a:ext cx="9978847" cy="1048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폴더는 분석 결과 파일로 논문·보고서용 산출물을 만드는 프로젝트야.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uv sync로 pyproject.toml에 정의된 패키지를 설치해줘.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 data 폴더의 파일 4개를 각각 읽고, 파일별로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(컬럼 구성 / 행 수 / 어떤 통계인지 한 줄 요약) 형태의 표로 정리해서 보여줘.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10545775" cy="113385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4151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진행하면서 알아 둘 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4370832"/>
            <a:ext cx="99605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설치와 파일 읽기 전에 허락을 묻습니다. 내용을 한 줄 읽고 허용하는 습관을 유지하세요.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도는 동안에는 다음 장으로 넘어가 데이터 설명을 듣습니다.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539496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① uv sync 완료 메시지  ② 파일 4개 요약 표 출력 — 다음 장의 값과 대조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실습 0 · 데이터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598932"/>
            <a:ext cx="857981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출발점은 정제가 끝난 분석 결과 4개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50개(S001~S050) · 2026-03-01부터 90일 관측 · 전부 강사 배포본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071720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67712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daily_stats.parquet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15184"/>
            <a:ext cx="452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센서×날짜 집계 4,500행 (센서 50 × 90일).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· 기온 · 습도 · 일교차 · 오류율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3218688"/>
            <a:ext cx="452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Fig1 의 재료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7016" y="2103120"/>
            <a:ext cx="5071720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1336" y="2267712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group_comparison.csv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71336" y="2615184"/>
            <a:ext cx="452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vs 실외 4개 변수 비교 통계.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 3개 + 비유의 1개 구성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71336" y="3218688"/>
            <a:ext cx="452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1 의 재료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895344"/>
            <a:ext cx="5071720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59936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descriptive_stats.csv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407408"/>
            <a:ext cx="452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기술통계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 · 평균 · 사분위 등)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5010912"/>
            <a:ext cx="452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2절의 재료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97016" y="3895344"/>
            <a:ext cx="5071720" cy="14813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1336" y="4059936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correlation_matrix.csv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71336" y="4407408"/>
            <a:ext cx="452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4개 상관계수 행렬.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습도–오류율 0.52 가 최대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71336" y="5010912"/>
            <a:ext cx="452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Fig2 히트맵의 재료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5541264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554126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앞 장에서 출력된 요약 표와 위 내용이 같은지 대조 — 전원 같은 출발선에서 시작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실습 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파일을 논문 표 형식의 Excel로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0줄. 대신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관례를 요건 문장으로</a:t>
            </a:r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촘촘하게 적어 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4864" cy="313029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11680"/>
            <a:ext cx="10490911" cy="313029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468880"/>
            <a:ext cx="9978847" cy="256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data/group_comparison.csv에는 실내/실외 센서 그룹의 비교 통계가 들어 있어.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이걸 논문에 넣을 Table 1 형식으로 정리해서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outputs/tables/Table1_group_comparison.xlsx 로 저장해줘.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요건: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행은 변수(한글 이름 사용), 열은 실내 / 실외 / p값 구성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각 그룹 값은 "평균 ± 표준편차" 한 칸으로, 소수점 첫째 자리까지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p값은 소수점 셋째 자리까지, 0.001보다 작으면 "&lt;0.001"로 표기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 &lt; 0.05인 변수는 변수명 옆에 * 표시하고, 맨 아래 "* p &lt; 0.05" 각주 행 추가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머리글 행은 굵게, 열 너비는 내용에 맞게 조정, 시트 이름은 "Table 1"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저장이 끝나면 완성된 표 내용을 채팅으로도 보여줘.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541264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554126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유의 변수 3개(평균 기온 · 일교차 · 평균 습도)에 * 표시, 오류율에는 없음이 정답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실습 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세 가지, 그리고 역할 분담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탐색기에서 Table1_group_comparison.xlsx 를 더블클릭해 Excel 로 열어 확인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 확인할 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40864"/>
            <a:ext cx="3271418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487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4752" y="2487168"/>
            <a:ext cx="239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머리글 행이 굵게 표시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44752" y="2816352"/>
            <a:ext cx="239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CSV로는 남지 않는 서식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0138" y="2340864"/>
            <a:ext cx="3271418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6170" y="2487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1930" y="2487168"/>
            <a:ext cx="239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22.5 ± 1.5 형태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1930" y="2816352"/>
            <a:ext cx="239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평균과 표준편차가 한 칸에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7317" y="2340864"/>
            <a:ext cx="3271418" cy="106070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3349" y="2487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19109" y="2487168"/>
            <a:ext cx="239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아래 * p &lt; 0.05 각주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19109" y="2816352"/>
            <a:ext cx="23935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유의성 표기 관례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7124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4005072"/>
            <a:ext cx="3137306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055364"/>
            <a:ext cx="3137306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169664"/>
            <a:ext cx="262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8992" y="4498848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관례와 요건 결정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78992" y="4809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형식이 논문에 실릴 수 있는지 아는 쪽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15130" y="4005072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27194" y="4005072"/>
            <a:ext cx="3137306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7194" y="4055364"/>
            <a:ext cx="3137306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3226" y="4169664"/>
            <a:ext cx="262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83226" y="4498848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 적용과 파일 저장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83226" y="4809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지시받은 요건을 구현하는 쪽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19365" y="4005072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1429" y="4005072"/>
            <a:ext cx="3137306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1429" y="4055364"/>
            <a:ext cx="3137306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7461" y="4169664"/>
            <a:ext cx="26252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87461" y="4498848"/>
            <a:ext cx="2625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487461" y="4809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 실릴 숫자를 책임지는 쪽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여기서 잠깐 ①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598932"/>
            <a:ext cx="84883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CSV가 아니라 Excel 파일로 저장할까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표의 품질은 ± 표기, 유효숫자 통일, 유의성 별표, 각주, 굵은 머리글 같은 서식이 절반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57984"/>
            <a:ext cx="5044288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377440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2724912"/>
            <a:ext cx="445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값만 저장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182112"/>
            <a:ext cx="445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쉼표로 구분된 값의 나열. 굵게 · 각주 · 열 너비 같은 서식은 저장되지 않음.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4448" y="2157984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2208276"/>
            <a:ext cx="5044288" cy="17785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7056" y="2377440"/>
            <a:ext cx="445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7056" y="2724912"/>
            <a:ext cx="445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서식째 저장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17056" y="3182112"/>
            <a:ext cx="445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서식이 파일 안에 함께 들어감. 열어서 그대로 논문·보고서에 붙일 수 있는 상태.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315968"/>
            <a:ext cx="54864" cy="102412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4315968"/>
            <a:ext cx="10490911" cy="10241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4754880"/>
            <a:ext cx="99605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계산의 원본은 CSV · Parquet 로, 사람에게 보여줄 표는 xlsx 로.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실습 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요청의 마지막 한 문장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달라고 요청한 다음,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“원본과 일치하는지 검증해줘”</a:t>
            </a:r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덧붙임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54864" cy="16154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10490911" cy="1615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494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523744"/>
            <a:ext cx="9978847" cy="1048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만든 outputs/tables/Table1_group_comparison.xlsx의 모든 수치가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data/group_comparison.csv와 일치하는지 하나하나 대조해서 검증해줘.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반올림 기준을 적용했는지도 함께 알려주고,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 있으면 표로 정리해서 보고해줘.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68496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968496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“전 항목 일치” 취지의 검증 보고가 돌아오면 정상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10545775" cy="118872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7000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 보고되어도 괜찮습니다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4919472"/>
            <a:ext cx="99605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보고는 그 자체로 좋은 학습 장면입니다. 보고 내용을 근거로 수정을 요청하면 되고,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어디가 어떻게 달랐는지 확인하는 과정에서 반올림 기준 같은 판단 지점이 드러납니다.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여기서 잠깐 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598932"/>
            <a:ext cx="84883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쪽에 검증까지 시키는 이유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작업과 대조하는 작업은 서로 다른 일이기 때문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53412"/>
            <a:ext cx="5044288" cy="16413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322576"/>
            <a:ext cx="445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작업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670048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서식을 입히고 저장하는 과정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" y="2999232"/>
            <a:ext cx="445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반올림, 자릿수, 표기 방식에서 실수가 생길 수 있는 단계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4448" y="2103120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448" y="2153412"/>
            <a:ext cx="5044288" cy="16413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7056" y="2322576"/>
            <a:ext cx="445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작업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7056" y="2670048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완성 파일을 나란히 대조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7056" y="2999232"/>
            <a:ext cx="445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하나씩 맞춰 보는 별개의 작업. 만든 근거를 그대로 안고 검사하면 같은 실수를 지나치기 쉬움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023360"/>
            <a:ext cx="10545775" cy="896112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151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잘 걸러내려면 — 새 창에서 검증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4370832"/>
            <a:ext cx="99605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대화를 이어 가는 대신 새 대화(또는 서브에이전트)에 검증만 맡기면 판단이 덜 오염됩니다.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54864" cy="89611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5120640"/>
            <a:ext cx="10490911" cy="8961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5120640"/>
            <a:ext cx="985083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관문은 사람 — 논문에 실릴 핵심 숫자 대여섯 개는 본인 눈으로 원본과 대조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실습 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PNG와 투고용 PDF·SVG를 한 번에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포맷을 나눠서 두 번 만들지 않고, 요건에 세 포맷을 함께 적어 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4864" cy="293192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11680"/>
            <a:ext cx="10490911" cy="293192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468880"/>
            <a:ext cx="9978847" cy="2364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data/daily_stats.parquet를 사용해서, seaborn으로 실내/실외 구역별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일평균 기온(temp_mean)의 90일 추이 선 그래프를 그려줘.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Figure 1로 쓸 수 있게 다음 요건을 지켜줘: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그림 폭은 단일 단 기준 90mm, 발표용 PNG(300dpi)와 투고용 PDF, SVG를 동시에 저장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파일명: outputs/figures/Fig1_temp_trend.png / .pdf / .svg (세 개 모두)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같은 구역 센서들의 일평균으로 집계해서 구역당 선 1개씩만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x축은 날짜, y축은 일평균 기온(°C), 구역은 색과 선 종류로 함께 구분하고 범례 표시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제목·축 이름은 한글로, 맑은 고딕(Malgun Gothic) 폰트, 마이너스 기호도 깨지지 않게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저장이 끝나면 PNG 파일을 Windows 기본 사진 뷰어로 열어서 보여줘.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394960"/>
            <a:ext cx="10545775" cy="56692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539496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실내는 22°C 부근의 평평한 선, 실외는 3월 8°C → 5월 20°C 로 올라가는 선.</a:t>
            </a:r>
            <a:endParaRPr lang="en-US" sz="1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figures/ 폴더에 파일 3개 생성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프롬프트 요령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598932"/>
            <a:ext cx="87169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· 용도 · 요건 — 프롬프트의 세 부분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용도를 밝히면 관례가 따라오고, 요건을 숫자로 적으면 판정 기준이 생김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35124"/>
            <a:ext cx="3271418" cy="14310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2722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재료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15184"/>
            <a:ext cx="2722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만들 것인가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2907792"/>
            <a:ext cx="27227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data/daily_stats.parquet 를 사용해서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60138" y="2084832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0138" y="2135124"/>
            <a:ext cx="3271418" cy="14310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2286000"/>
            <a:ext cx="2722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용도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4458" y="2615184"/>
            <a:ext cx="2722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쓸 것인가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34458" y="2907792"/>
            <a:ext cx="27227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Figure 1 로 쓸 수 있게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7317" y="2084832"/>
            <a:ext cx="327141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2135124"/>
            <a:ext cx="3271418" cy="14310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1637" y="2286000"/>
            <a:ext cx="2722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요건 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71637" y="2615184"/>
            <a:ext cx="2722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지킬 것인가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71637" y="2907792"/>
            <a:ext cx="27227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90mm · 300dpi · PDF/SVG 동시 · 맑은 고딕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8039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용도만 바꿔도 결과가 달라짐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1480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3395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 표현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 함께 챙기는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“논문 Figure 1로 쓸 수 있게”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해상도 · 벡터 포맷 · 학술 그림 관례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“학회 포스터용으로 크게”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글씨 · 굵은 선 · 멀리서 보이는 대비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“주간 보고서에 넣게 단순하게”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장식 최소화 · 핵심 수치 위주 구성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실습 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요구에 대한 대응은 문장 한 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본 리뷰어 지적 세 가지를 그대로 처리해 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54864" cy="9144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10490911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글씨 크기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" y="2505456"/>
            <a:ext cx="9905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인쇄하면 글씨가 작을 것 같아. 축 제목은 14pt, 눈금 글씨는 12pt,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글씨도 12pt로 키우고, 세 가지 포맷 모두 다시 저장해줘.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27248"/>
            <a:ext cx="54864" cy="9144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3127248"/>
            <a:ext cx="10490911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위치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5568" y="3566160"/>
            <a:ext cx="9905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범례가 그래프 선과 겹쳐 보여. 범례를 그래프 바깥 오른쪽으로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옮기고 세 가지 포맷 모두 다시 저장해줘.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87952"/>
            <a:ext cx="54864" cy="9144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4187952"/>
            <a:ext cx="10490911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4334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15568" y="4626864"/>
            <a:ext cx="9905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색맹 친화 팔레트(범주형은 Okabe-Ito, 연속형은 viridis)로 바꾸고,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흑백 인쇄에서도 구분되게 선 종류도 다르게 해서 세 포맷 모두 다시 저장해줘.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321808"/>
            <a:ext cx="10545775" cy="56692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32180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매회 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사진 뷰어에서 변화 확인 + 파일 탐색기에서 Fig1_* 세 파일의</a:t>
            </a:r>
            <a:endParaRPr lang="en-US" sz="1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‘수정한 날짜’가 갱신되었는지 확인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프롬프트 요령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598932"/>
            <a:ext cx="86255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 반복한 요건은 규칙 파일로 옮김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요건을 매번 적는 대신 CLAUDE.md 에 한 번 적어 두는 단계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5044288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286000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— 매번 반복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2615184"/>
            <a:ext cx="445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“…를 그려줘. 폭 90mm, 300dpi PNG와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PDF·SVG 동시 저장, 한글은 맑은 고딕,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파일명은 outputs/figures/Fig{번호}_…”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3584448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요건이 길어 프롬프트가 매번 10줄 이상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2084832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2135124"/>
            <a:ext cx="5044288" cy="191566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7056" y="2286000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옮긴 뒤 — 한 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7056" y="2615184"/>
            <a:ext cx="445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“Fig3으로 습도 분포 히스토그램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그려줘.”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7056" y="3584448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요건은 CLAUDE.md 가 대신 챙김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54864" cy="1182624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4206240"/>
            <a:ext cx="10490911" cy="118262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3891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 — 규칙으로 승격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4663440"/>
            <a:ext cx="9978847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그림 요청에 공통으로 넣은 요건을 CLAUDE.md의 ‘그림 규칙’ 항목으로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정리해서 추가해줘. 이후 그림 요청에는 이 규칙이 기본으로 적용되게 해줘.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468112"/>
            <a:ext cx="10545775" cy="47548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468112"/>
            <a:ext cx="99605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 — 항상 적용되면 CLAUDE.md, 이번에만 해당하면 프롬프트.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여기서 잠깐 ③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598932"/>
            <a:ext cx="84883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벡터가 앞서는 두 가지 — 품질과 용량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확대해 보면 앞에서 설명한 차이가 그대로 보임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 실험 (2분)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0545775" cy="8961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77440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를 Edge 로 열기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779776"/>
            <a:ext cx="9448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Fig1_temp_trend.pdf 더블클릭 → Ctrl + ‘+’ 를 눌러 400% 이상 확대 →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선과 글씨가 매끈하게 유지되는지 관찰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401568"/>
            <a:ext cx="10545775" cy="8961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0156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를 사진 뷰어로 열기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3803904"/>
            <a:ext cx="9448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Fig1_temp_trend.png 을 같은 배율로 확대 →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 가장자리에 계단처럼 각이 생기는지 관찰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498848"/>
            <a:ext cx="10545775" cy="877824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6268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비교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4846320"/>
            <a:ext cx="9960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Fig1_temp_trend 세 파일의 크기를 확인 — PNG(300dpi)는 수백 KB ~ 수 MB, SVG 는 수십 KB.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541264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541264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“벡터는 확대해도 깨지지 않는다”를 눈으로 확인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실습 B · 선택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598932"/>
            <a:ext cx="86255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방식으로 그림 하나 더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습도와 오류율의 관계가 드러나는 상관 히트맵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54864" cy="213842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84832"/>
            <a:ext cx="6163056" cy="213842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677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542032"/>
            <a:ext cx="5650992" cy="157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data/correlation_matrix.csv로 seaborn 히트맵을 그려줘.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칸에 상관계수를 소수점 둘째 자리까지 표시하고,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이름은 한글로 바꿔줘.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outputs/figures/Fig2_correlation_heatmap 이름으로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PNG(300dpi), PDF, SVG를 동시에 저장하고,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한글은 맑은 고딕을 사용해.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완성되면 PNG를 열어서 보여줘.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2084832"/>
            <a:ext cx="3870655" cy="317296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결과에서 볼 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54112" y="2743200"/>
            <a:ext cx="33585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754112" y="3657600"/>
            <a:ext cx="33585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‘평균 습도 – 오류율’ 이 가장 진하게 나옴.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“습도가 높을수록 센서 오류가 잦다”는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이야깃거리 확보.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6217920" cy="9144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4714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부족하면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" y="4690872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단계는 통째로 생략 가능. 강사 화면 시연으로 대체합니다.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440680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544068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figures/ 폴더에 Fig2_correlation_heatmap 세 파일 생성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초안은 구성만 정해 주면 되는 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적은 ‘구성 1~5’ 가 그대로 보고서 목차가 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4864" cy="313029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11680"/>
            <a:ext cx="10490911" cy="313029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468880"/>
            <a:ext cx="9978847" cy="256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폴더의 통계 파일들과 outputs 폴더의 표·그림을 바탕으로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요약 보고서를 Markdown으로 작성해서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outputs/report/analysis_summary.md 로 저장해줘.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데이터 개요 (관측 기간, 센서 수, 실내/실외 구성)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기술통계 요약 — descriptive_stats.csv 기반, 표 포함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실내/실외 비교 핵심 결과 — 유의했던 변수와 수치를 본문 문장으로 인용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그림 설명 — Fig1(기온 추이), Fig2(상관 히트맵)를 각 2~3문장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결론 3줄 요약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모든 수치는 data/ 원본에서 그대로 가져오고, 지어내지 마.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230368"/>
            <a:ext cx="10545775" cy="76809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53583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두 줄이 이 프롬프트의 안전장치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5577840"/>
            <a:ext cx="9960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수치를 어디서 가져올지 지정하고, 지어내지 말라는 조건을 명시하는 습관을 들입니다.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제출본은 docx — 문서 스킬을 설치해서 변환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이 배포하는 document-skills 플러그인에 Word · Excel · PowerPoint 처리 절차가 들어 있음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54864" cy="117043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10490911" cy="117043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311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 — 플러그인 설치 (Claude Code 안에서 입력)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523744"/>
            <a:ext cx="99605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anthropics/skills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document-skills@anthropic-agent-skills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419856"/>
            <a:ext cx="54864" cy="139903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3419856"/>
            <a:ext cx="10490911" cy="139903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6027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" y="3877056"/>
            <a:ext cx="9978847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outputs/report/analysis_summary.md 를 docx 스킬을 사용해서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outputs/report/analysis_summary.docx 로 변환해줘.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단계, 표, 목록 서식이 그대로 유지되게 해줘.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956048"/>
            <a:ext cx="10545775" cy="56692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95604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analysis_summary.docx 생성 → Word 로 열면 제목 · 표 · 목록이</a:t>
            </a:r>
            <a:endParaRPr lang="en-US" sz="10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서식이 잡힌 문서로 표시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5596128"/>
            <a:ext cx="10545775" cy="40233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5596128"/>
            <a:ext cx="99605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정책으로 플러그인 설치가 막히는 PC 는 부록 A1 의 pandoc 경로로 전환합니다.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여기서 잠깐 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598932"/>
            <a:ext cx="848837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Word 로 바로 만들지 않고 Markdown 을 거칠까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 배운 ‘원본과 보여줄 것의 분리’ 가 문서에도 그대로 적용됨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3566160" cy="2487168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249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하나, 출력은 여러 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2578608"/>
            <a:ext cx="2286000" cy="40233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5786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8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analysis_summary.md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6304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3273552"/>
            <a:ext cx="1737360" cy="365760"/>
          </a:xfrm>
          <a:prstGeom prst="rect">
            <a:avLst/>
          </a:prstGeom>
          <a:solidFill>
            <a:srgbClr val="1A1810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 스킬 · pandoc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34440" y="3950208"/>
            <a:ext cx="914400" cy="3840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950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3950208"/>
            <a:ext cx="914400" cy="3840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950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950208"/>
            <a:ext cx="914400" cy="3840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950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103120"/>
            <a:ext cx="6522415" cy="76809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212848"/>
            <a:ext cx="6010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02352" y="2487168"/>
            <a:ext cx="60103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글자만 있는 파일이라 AI 가 가장 정확하게 읽고 씀. 서식이 깨질 일 없이 내용에 집중.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962656"/>
            <a:ext cx="6522415" cy="76809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3072384"/>
            <a:ext cx="6010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관리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02352" y="3346704"/>
            <a:ext cx="60103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파일이므로 버전 관리(Git)로 어디가 바뀌었는지 추적 가능.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3822192"/>
            <a:ext cx="6522415" cy="76809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931920"/>
            <a:ext cx="6010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출력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02352" y="4206240"/>
            <a:ext cx="60103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md 하나에서 Word · HTML · PDF 를 만들 수 있음. 그 변환을 문서 스킬이나 pandoc 이 담당.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" y="4901184"/>
            <a:ext cx="54864" cy="89611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4901184"/>
            <a:ext cx="10490911" cy="8961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901184"/>
            <a:ext cx="985083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보고서의 원본은 md, 제출본은 docx.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598932"/>
            <a:ext cx="90827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문장 속 숫자까지 대조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그림에 이어 보고서까지 — 검증 습관의 완성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54864" cy="1182624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10490911" cy="118262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2494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523744"/>
            <a:ext cx="9978847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outputs/report/analysis_summary.md 본문에 등장하는 모든 수치를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 원본 파일과 대조해서, 수치별 일치 여부를 체크리스트로 보고해줘.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401568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수치별 체크리스트 형태의 보고가 돌아오면 정상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다진 검증 3단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84548"/>
            <a:ext cx="3247034" cy="115671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517136"/>
            <a:ext cx="2698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646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Table1 의 모든 값을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CSV 와 대조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72330" y="4334256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2330" y="4384548"/>
            <a:ext cx="3247034" cy="115671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6650" y="4517136"/>
            <a:ext cx="2698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46650" y="48646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그림에 쓰인 근거 수치가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같은지 확인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21701" y="4334256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1701" y="4384548"/>
            <a:ext cx="3247034" cy="115671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6021" y="4517136"/>
            <a:ext cx="2698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96021" y="4864608"/>
            <a:ext cx="2698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문장 속 숫자를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대조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정리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598932"/>
            <a:ext cx="912845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0줄, 산출물 8개 파일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탐색기를 열어 실물을 함께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66544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36192" y="2176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Table1_group_comparison.xlsx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24323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유의성 별표와 각주가 달린 논문 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39935" y="206654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852928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5292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36192" y="29626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Fig1_temp_trend.png / .pdf / .svg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3218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+ 투고용 그림 세트 (스타일 3회 반영)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39935" y="285292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639312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639312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36192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Fig2_correlation_heatmap.png / .pdf / .svg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36192" y="40050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히트맵 (진행한 경우)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39935" y="363931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B · 선택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4425696"/>
            <a:ext cx="10545775" cy="6766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425696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36192" y="45354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7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analysis_summary.md / .docx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36192" y="47914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요약 보고서 (원본 + 제출본)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42569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5321808"/>
            <a:ext cx="10545775" cy="603504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5321808"/>
            <a:ext cx="99605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파일이 있으면 해당 단계의 프롬프트를 다시 실행하면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정리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598932"/>
            <a:ext cx="912845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것은 도구가 아니라 문장 세 가지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산출물을 만들든 이 세 가지를 붙이면 결과가 안정적으로 나옴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53412"/>
            <a:ext cx="3247034" cy="29672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269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596896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90672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“논문 Figure 1로 쓸 수 있게”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“학회 포스터용으로”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968496"/>
            <a:ext cx="269839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14800"/>
            <a:ext cx="2698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용도의 관례(크기 · 여백 · 서식)를 AI 가 함께 챙김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72330" y="2103120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2330" y="2153412"/>
            <a:ext cx="3247034" cy="29672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6650" y="2286000"/>
            <a:ext cx="269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6650" y="2596896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명시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46650" y="3090672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“폭 90mm에 300dpi”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“p는 셋째 자리”, “맑은 고딕”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46650" y="3968496"/>
            <a:ext cx="269839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6650" y="4114800"/>
            <a:ext cx="2698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판정할 기준이 생김. 세 번 반복되면 CLAUDE.md 로 옮김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21701" y="2103120"/>
            <a:ext cx="3247034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21701" y="2153412"/>
            <a:ext cx="3247034" cy="296722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6021" y="2286000"/>
            <a:ext cx="2698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96021" y="2596896"/>
            <a:ext cx="2698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요청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96021" y="3090672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“원본과 일치하는지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대조해서 보고해줘”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96021" y="3968496"/>
            <a:ext cx="2698394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6021" y="4114800"/>
            <a:ext cx="26983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 들어갈 숫자에 대한 안전장치. 새 대화에 맡기면 더 정확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358384"/>
            <a:ext cx="10545775" cy="54864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5358384"/>
            <a:ext cx="99605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문장을 한 번씩 소리 내어 읽고 마칩니다.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다음 단계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598932"/>
            <a:ext cx="86255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터미널이 부담이면 같은 일을 Cowork 에서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익힌 것은 특정 도구 사용법이 아니라 요건을 문장으로 적는 방식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53412"/>
            <a:ext cx="5044288" cy="17327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322576"/>
            <a:ext cx="445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688336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실행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017520"/>
            <a:ext cx="445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 환경. 폴더 단위 작업과 스크립트 자동화까지 다룸.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반복이 많은 분석 작업에 적합.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4448" y="2103120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448" y="2153412"/>
            <a:ext cx="5044288" cy="173278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7056" y="2322576"/>
            <a:ext cx="445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Cowork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17056" y="2688336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데스크톱 앱에서 실행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17056" y="3017520"/>
            <a:ext cx="445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에이전트를 터미널 없이 사용. 폴더를 지정하고 대화로 지시.</a:t>
            </a:r>
            <a:endParaRPr lang="en-US" sz="1150" dirty="0"/>
          </a:p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· macOS 모두 지원.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쪽을 쓰든 그대로 옮겨 가는 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407408"/>
            <a:ext cx="3271418" cy="9144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535424"/>
            <a:ext cx="2759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규칙 파일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8992" y="4828032"/>
            <a:ext cx="2759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 · 파일명 · 그림 요건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60138" y="4407408"/>
            <a:ext cx="3271418" cy="9144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6170" y="4535424"/>
            <a:ext cx="2759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3대 패턴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16170" y="4828032"/>
            <a:ext cx="2759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선언 · 요건 명시 · 검증 요청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7317" y="4407408"/>
            <a:ext cx="3271418" cy="9144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3349" y="4535424"/>
            <a:ext cx="2759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폴더 구조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53349" y="4828032"/>
            <a:ext cx="2759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outputs/ 아래 tables · figures · report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504688"/>
            <a:ext cx="10545775" cy="457200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5504688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고르는 일보다 요건을 문장으로 적어 두는 습관이 결과를 좌우합니다.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마무리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40280" y="598932"/>
            <a:ext cx="912845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 달 뒤 같은 메일이 와도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</a:t>
            </a:r>
            <a:pPr algn="l" indent="0" marL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열고 문장 두 줄을 입력하는 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4864" cy="91440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103120"/>
            <a:ext cx="10490911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103120"/>
            <a:ext cx="98508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“Figure 폰트를 키우고 벡터로 다시 제출하세요”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310128"/>
            <a:ext cx="5044288" cy="13716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93008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3840480"/>
            <a:ext cx="445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만들던 기억을 더듬으며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다시 작업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4448" y="3310128"/>
            <a:ext cx="5044288" cy="502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448" y="3360420"/>
            <a:ext cx="5044288" cy="13213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7056" y="3493008"/>
            <a:ext cx="445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17056" y="3840480"/>
            <a:ext cx="445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열고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두 줄 입력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974336"/>
            <a:ext cx="10545775" cy="950976"/>
          </a:xfrm>
          <a:prstGeom prst="rect">
            <a:avLst/>
          </a:prstGeom>
          <a:solidFill>
            <a:srgbClr val="141209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5102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5321808"/>
            <a:ext cx="99605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산출물로 바꾸는 작업의 대부분은 요건을 문장으로 적는 일로 처리할 수 있습니다.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해석과 최종 책임은 그대로 연구자에게 남습니다.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논문·보고서용 산출물 자동 생성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271455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A1 · 오류 대처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598932"/>
            <a:ext cx="844265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2296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이 표부터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증상을 찾고 오른쪽 문장을 그대로 붙여 넣으면 됨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48256"/>
          <a:ext cx="1054577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533369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대처 — Claude Code 에 이렇게 말하기 / 직접 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1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한글이 □□□ 로 깨짐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 폰트 미지정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“한글이 네모로 깨져 보여. 맑은 고딕(Malgun Gothic)으로 다시 그려서 세 포맷 모두 다시 저장해줘”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마이너스 기호(−)만 네모로 깨짐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 폰트의 기본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“축의 마이너스 기호가 깨져. axes.unicode_minus를 False로 두고 다시 그려줘”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결과가 엉뚱하게 바뀜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직전 지시가 잘못 반영됨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Esc 두 번 → 되돌릴 지점 선택 (대화만 / 파일만 / 둘 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xlsx 저장 시 Permission denied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파일이 Excel 에서 열려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Excel 창을 닫은 뒤 “방금 실패한 저장을 다시 해줘”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스킬 설치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 정책 · 네트워크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“pandoc으로 md를 docx로 변환해줘. pandoc이 없으면 python-docx로 대신 해줘” (시작 파일에 예비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ModuleNotFoundError: ...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 미설치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“uv sync로 패키지를 설치한 뒤 다시 실행해줘”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4교시 · 논문·보고서용 산출물 자동 생성</dc:title>
  <dc:subject>PptxGenJS Presentation</dc:subject>
  <dc:creator>KISTEP</dc:creator>
  <cp:lastModifiedBy>KISTEP</cp:lastModifiedBy>
  <cp:revision>1</cp:revision>
  <dcterms:created xsi:type="dcterms:W3CDTF">2026-08-18T16:11:22Z</dcterms:created>
  <dcterms:modified xsi:type="dcterms:W3CDTF">2026-08-18T16:11:22Z</dcterms:modified>
</cp:coreProperties>
</file>