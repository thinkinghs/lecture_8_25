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84" r:id="rId2"/>
    <p:sldId id="256" r:id="rId3"/>
    <p:sldId id="257" r:id="rId4"/>
    <p:sldId id="259" r:id="rId5"/>
    <p:sldId id="260" r:id="rId6"/>
    <p:sldId id="261" r:id="rId7"/>
    <p:sldId id="262" r:id="rId8"/>
    <p:sldId id="263" r:id="rId9"/>
    <p:sldId id="285" r:id="rId10"/>
    <p:sldId id="286" r:id="rId11"/>
    <p:sldId id="287" r:id="rId12"/>
    <p:sldId id="271" r:id="rId13"/>
    <p:sldId id="288" r:id="rId14"/>
    <p:sldId id="289" r:id="rId15"/>
    <p:sldId id="276" r:id="rId16"/>
    <p:sldId id="277" r:id="rId17"/>
    <p:sldId id="278" r:id="rId18"/>
    <p:sldId id="290" r:id="rId19"/>
    <p:sldId id="279" r:id="rId20"/>
    <p:sldId id="291" r:id="rId21"/>
    <p:sldId id="280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733"/>
    <a:srgbClr val="FFDF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570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표지. 이 과정은 코드를 직접 쓰지 않고 자연어로 AI에게 일을 시키고 그 결과를 검증하는 방식을 익히는 7교시 시리즈. 오늘은 1교시로 환경을 세팅하고 내 데이터에 첫 질문을 던진다.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교시의 목적지를 먼저 보여준다. 네 가지 학습 목표와 오늘 손에 쥐고 나갈 결과물(환경 + 첫 요약)을 한 장으로 요약. 코드를 직접 쓰지 않는다는 점, 배우는 것은 '시키는 법'과 '검증하는 법' 두 가지라는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재료공학 연구실 사례로 공감대를 만든다. 로그 400개를 2주에 걸쳐 정리했는데 펌웨어 업데이트로 형식이 바뀌어 처음부터 다시. 오늘 배우는 방식에서는 그 '다시'가 문장 하나로 끝난다는 점을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도구의 차이를 세 가지 축(파일 전달·코드 실행·오류 대응)으로 비교. 웹 챗은 조언까지, Claude Code는 실행까지 간다. 다음 장에서 그 '일하는 방식'인 루프를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루프 그림 하나를 기억시킨다: 읽기→생성→실행→자기수정→보고. 핵심은 '자기 수정' — 오류를 AI가 스스로 읽고 고친다. 그리고 실행 전 반드시 승인을 요청한다.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6CB16-50DE-33D5-E511-3B2ABF5D0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6481B4-E77D-D133-42CB-EC61C4E2D8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E57C8-BD6A-ACCC-BFC8-36DD4E3707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9FE33-BDE1-6F7D-7BAB-BC649E2C46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18316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B24A1-D3F2-251C-5E56-1142C1DBB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E5C4CB-BE00-6EEF-C2D4-BA7A85CCE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71E35F-7F48-A57B-97DF-0C9C47852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DF7BA-3376-EFC6-D7DC-4817FFFC1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1221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7D029-174A-7116-7CEA-F3C5DDF6C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DC160-731E-9E9A-C6DF-91B74FC62A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907D5-B55F-08A5-63DF-C9AF60DC9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F3938-8242-D704-E838-9A23983B1B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84320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보충 ②. uv sync 대기 시간에 설명. pyproject.toml은 필요한 패키지 목록, uv.lock은 설치할 정확한 버전 기록, uv sync는 그 기록대로 설치. 전원이 같은 버전을 갖게 되는 것이 재현성의 첫 단추.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6A011-74D7-78D1-503C-659FB730A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3521FB-CCC1-F981-A2CD-6F058B20DF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381932-EB37-B938-3BA3-D69FCF123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8DE227-6C2A-1046-C1F4-3203A0481B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1425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EF87-D4D4-B13D-CF79-E7460D831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D2E6E-0148-D2E2-C6AE-EC5469D08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6928A-A22A-CB3C-E12C-87AA118E80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3. uv sync 한 번으로 7교시 전 과정 패키지를 일괄 설치. 3~5분 대기 시간이 생기므로 다음 장의 보충 설명 ②를 여기서 진행한다.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7F5D9-FB24-04F0-B259-6B3D044A4A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036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③-B 도입. 합성 데이터지만 실제처럼 결측·이상치·형식 불일치가 심어져 있다. 오늘은 그 지저분함을 '발견'만 한다 — 고치는 것은 2교시. 발견 자체가 2교시로 가는 동기가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6. 자연어 한 문장으로 구조를 파악. '전체를 다 읽지 말고 표본만'이라는 표현이 대용량 대응의 첫 습관. 앞에서 설명한 루프가 화면에서 실제로 도는 것을 여기서 짚어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89BCD-3B9B-D135-09BC-54480B91E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0F8F82-8BFD-86B4-FE9B-6207B41B0A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49D84-CB86-E796-F814-1F6D94200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6. 자연어 한 문장으로 구조를 파악. '전체를 다 읽지 말고 표본만'이라는 표현이 대용량 대응의 첫 습관. 앞에서 설명한 루프가 화면에서 실제로 도는 것을 여기서 짚어 준다.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641451-6CFC-FF1E-F398-63DAF5B913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54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7. 기초 통계에서 -999, 습도 100 초과, 정상/OK 분리 같은 결함 단서가 드러난다. 이것이 2교시로 가는 다리. 여기서 수강생이 '내 데이터도 이렇겠다'는 생각을 하게 만든다.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9515D-24D7-7E0E-955C-C9BDC3A42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F626EE-E4F4-7920-7D47-4DADA76368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39088B-0206-8D09-D589-5885D521A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 7. 기초 통계에서 -999, 습도 100 초과, 정상/OK 분리 같은 결함 단서가 드러난다. 이것이 2교시로 가는 다리. 여기서 수강생이 '내 데이터도 이렇겠다'는 생각을 하게 만든다.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1E6A8-4ABF-AC2A-593C-142F620DA0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68898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보충 ④. 구분 기준은 내용이 아니라 만든 방법. 코드 결과는 결정론적 — 틀려도 일관되게 틀리므로, 샘플 몇 건만 원본과 대조해 코드가 맞는지 확인하면 전체 결과가 한 번에 보장됨. LLM 추정은 비결정론적이고 자체 판별 기준이 없음 — 샘플이 맞아도 나머지가 보장되지 않으므로 건건이 확인. 마무리: 코드 결과는 샘플 대조 한 번, 추정 결과는 전건 확인.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1106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준비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979295" y="598932"/>
            <a:ext cx="9389440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4124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시작 전 준비 사항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1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4241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강의자료 다운로드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04241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수강 신청 시 등록한 개인 이메일로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7376" y="1993392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 2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37376" y="2304288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Desktop 설치 · 로그인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37376" y="2688336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 'claude desktop download' 검색 후 다운로드 및 설치. 유료 계정 로그인 필수.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271455" y="6446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A8A090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46E52953-388F-0527-125A-D223EDE0BB09}"/>
              </a:ext>
            </a:extLst>
          </p:cNvPr>
          <p:cNvSpPr/>
          <p:nvPr/>
        </p:nvSpPr>
        <p:spPr>
          <a:xfrm>
            <a:off x="822960" y="4250267"/>
            <a:ext cx="5148072" cy="22860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1A06D5B7-10B2-EA1B-EC37-72865C004464}"/>
              </a:ext>
            </a:extLst>
          </p:cNvPr>
          <p:cNvSpPr/>
          <p:nvPr/>
        </p:nvSpPr>
        <p:spPr>
          <a:xfrm>
            <a:off x="1042416" y="4414859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50" b="1" i="0" u="none" strike="noStrike" kern="0" cap="none" spc="20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</a:t>
            </a:r>
            <a:r>
              <a:rPr kumimoji="0" lang="en-US" sz="950" b="1" i="0" u="none" strike="noStrike" kern="0" cap="none" spc="20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3</a:t>
            </a:r>
            <a:endParaRPr kumimoji="0" 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FF23402E-37D9-7CD1-C1D2-045F321A8A6D}"/>
              </a:ext>
            </a:extLst>
          </p:cNvPr>
          <p:cNvSpPr/>
          <p:nvPr/>
        </p:nvSpPr>
        <p:spPr>
          <a:xfrm>
            <a:off x="1042416" y="4725755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다운로드 및 </a:t>
            </a:r>
            <a:r>
              <a:rPr kumimoji="0" lang="en-US" sz="15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6B1B3E3D-2808-C178-F266-FC72F98832EB}"/>
              </a:ext>
            </a:extLst>
          </p:cNvPr>
          <p:cNvSpPr/>
          <p:nvPr/>
        </p:nvSpPr>
        <p:spPr>
          <a:xfrm>
            <a:off x="1042416" y="5109803"/>
            <a:ext cx="4709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구글에서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‘git download' 검색 후 다운로드 및 설치.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설치시 물어보는 것들은 모두 기본 값으로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733288" y="2331720"/>
            <a:ext cx="73152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0" y="2514600"/>
            <a:ext cx="9448495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연구 데이터</a:t>
            </a:r>
            <a:endParaRPr lang="en-US" sz="4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 · 분석 자동화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371600" y="4160520"/>
            <a:ext cx="94484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 · 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세팅과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1교시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설치부터 첫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78992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로그인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Windows PC에 Claude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Code를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설치하고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15868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15868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7190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3771900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환경 구성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71900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폴더에서 uv sync 한 번으로 7교시 전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64808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 이해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→ 생성 → 실행 → 자기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901684" y="1965960"/>
            <a:ext cx="2478024" cy="21488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01684" y="1965960"/>
            <a:ext cx="2478024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57716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9157716" y="267004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b="1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57716" y="3072384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자연어 요청만으로 데이터 구조와 기초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통계를</a:t>
            </a:r>
            <a:r>
              <a:rPr lang="en-US" sz="110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10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13018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800" b="1" kern="0" spc="1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강의 목적 </a:t>
            </a:r>
            <a:endParaRPr lang="en-US" altLang="ko-KR" sz="2800" b="1" kern="0" spc="150" dirty="0">
              <a:solidFill>
                <a:srgbClr val="FFD733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결과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분석보다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 정리에 더 많은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쓸 때가 많음</a:t>
            </a:r>
            <a:endParaRPr lang="en-US" altLang="ko-KR" sz="2500" b="1" dirty="0">
              <a:solidFill>
                <a:srgbClr val="FFDF5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342900" indent="-342900">
              <a:buFontTx/>
              <a:buChar char="-"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</a:rPr>
              <a:t>데이터 정리 및 분석을 효율화 해보기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24526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상황 예시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'한 번 한 일을 다시 해야 하는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상황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3083560"/>
            <a:ext cx="6720840" cy="12801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3220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</a:t>
            </a:r>
            <a:r>
              <a:rPr 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사례</a:t>
            </a:r>
            <a:r>
              <a:rPr 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0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" y="349504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로그 400개를 엑셀로 정리하는 데 꼬박 2주가 걸렸습니다.</a:t>
            </a:r>
            <a:endParaRPr lang="en-US" sz="140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장비 펌웨어가 업데이트되면서 로그 형식이 바뀌었습니다.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펌웨어 업데이트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05840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제조사가 로그 출력을 개선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968496" y="4519168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35424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형식 변경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718304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정리 방식이 통하지 않음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4519168"/>
            <a:ext cx="566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47888" y="4519168"/>
            <a:ext cx="3145536" cy="91440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30768" y="470204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 작업을 처음부터 다시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430768" y="5022088"/>
            <a:ext cx="2779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다시 400개 </a:t>
            </a:r>
            <a:r>
              <a:rPr lang="ko-KR" altLang="en-US" sz="105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재작업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컴퓨터에 직접 접근해서 실행까지 가능한 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DC44B120-3DF4-558B-6E20-32AB6CA31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4029" y="2703642"/>
            <a:ext cx="5471171" cy="2804826"/>
          </a:xfrm>
          <a:prstGeom prst="rect">
            <a:avLst/>
          </a:prstGeom>
          <a:ln>
            <a:solidFill>
              <a:srgbClr val="FFFF00"/>
            </a:solidFill>
          </a:ln>
        </p:spPr>
      </p:pic>
      <p:sp>
        <p:nvSpPr>
          <p:cNvPr id="42" name="Text 6">
            <a:extLst>
              <a:ext uri="{FF2B5EF4-FFF2-40B4-BE49-F238E27FC236}">
                <a16:creationId xmlns:a16="http://schemas.microsoft.com/office/drawing/2014/main" id="{02273BFF-6AFC-49A7-A8B4-404F57354183}"/>
              </a:ext>
            </a:extLst>
          </p:cNvPr>
          <p:cNvSpPr/>
          <p:nvPr/>
        </p:nvSpPr>
        <p:spPr>
          <a:xfrm>
            <a:off x="822960" y="1853544"/>
            <a:ext cx="10149480" cy="427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marL="285750" marR="0" lvl="0" indent="-285750" algn="l" defTabSz="914400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Claude desktop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과 </a:t>
            </a:r>
            <a:r>
              <a:rPr lang="en-US" altLang="ko-KR" sz="1250" b="1" spc="-1" dirty="0">
                <a:solidFill>
                  <a:srgbClr val="E8F2F2"/>
                </a:solidFill>
                <a:latin typeface="Malgun Gothic"/>
                <a:ea typeface="Malgun Gothic"/>
              </a:rPr>
              <a:t>C</a:t>
            </a: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laude cli 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모두 이용 가능하나 오늘은 </a:t>
            </a:r>
            <a:r>
              <a:rPr kumimoji="0" lang="en-US" altLang="ko-KR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desktop</a:t>
            </a:r>
            <a:r>
              <a:rPr kumimoji="0" lang="ko-KR" altLang="en-US" sz="1250" b="1" i="0" u="none" strike="noStrike" kern="1200" cap="none" spc="-1" normalizeH="0" baseline="0" noProof="0" dirty="0">
                <a:ln>
                  <a:noFill/>
                </a:ln>
                <a:solidFill>
                  <a:srgbClr val="E8F2F2"/>
                </a:solidFill>
                <a:effectLst/>
                <a:uLnTx/>
                <a:uFillTx/>
                <a:latin typeface="Malgun Gothic"/>
                <a:ea typeface="Malgun Gothic"/>
                <a:cs typeface="+mn-cs"/>
              </a:rPr>
              <a:t>에서 실습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0E558C37-FF6A-18E5-DDBD-37215BBEF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76" y="2703642"/>
            <a:ext cx="4962544" cy="3637722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8D188B38-D520-E90A-1C4E-DA9AE8774FE6}"/>
              </a:ext>
            </a:extLst>
          </p:cNvPr>
          <p:cNvSpPr txBox="1"/>
          <p:nvPr/>
        </p:nvSpPr>
        <p:spPr>
          <a:xfrm>
            <a:off x="749880" y="1266513"/>
            <a:ext cx="11155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latinLnBrk="1">
              <a:tabLst>
                <a:tab pos="0" algn="l"/>
              </a:tabLst>
              <a:defRPr/>
            </a:pP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무엇을 개발하고 </a:t>
            </a:r>
            <a:r>
              <a:rPr lang="ko-KR" altLang="en-US" sz="2000" spc="-1" dirty="0" err="1">
                <a:solidFill>
                  <a:schemeClr val="bg1">
                    <a:lumMod val="95000"/>
                  </a:schemeClr>
                </a:solidFill>
                <a:latin typeface="Arial"/>
              </a:rPr>
              <a:t>싶은지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 자연어로 말하면 파일을 직접 만들고 고치고 실행해 주는 코딩 에이전트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Arial"/>
              </a:rPr>
              <a:t> </a:t>
            </a:r>
            <a:endParaRPr kumimoji="0" lang="en-US" altLang="ko-KR" sz="2000" b="0" i="0" u="none" strike="noStrike" kern="1200" cap="none" spc="-1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10241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생성 → 실행 →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파일 읽기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32688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폴더의 데이터를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열어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97480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990088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9816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코드 생성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99816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요청에 맞는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코드를 작성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64608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157216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266944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자리에서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코드를 실행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31736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24344" y="1965960"/>
            <a:ext cx="1874520" cy="1298448"/>
          </a:xfrm>
          <a:prstGeom prst="rect">
            <a:avLst/>
          </a:prstGeom>
          <a:solidFill>
            <a:srgbClr val="2A2412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34072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자기 수정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34072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메시지를 읽고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스스로 고쳐 재실행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98864" y="1965960"/>
            <a:ext cx="2926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91472" y="1965960"/>
            <a:ext cx="1874520" cy="1298448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0" y="2157984"/>
            <a:ext cx="1655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결과 보고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601200" y="2487168"/>
            <a:ext cx="1655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정리된 결과를</a:t>
            </a:r>
            <a:endParaRPr lang="en-US" sz="1000" dirty="0"/>
          </a:p>
          <a:p>
            <a:pPr marL="0" indent="0" algn="ctr">
              <a:lnSpc>
                <a:spcPct val="128000"/>
              </a:lnSpc>
              <a:buNone/>
            </a:pPr>
            <a:r>
              <a:rPr lang="en-US" sz="1000" dirty="0">
                <a:solidFill>
                  <a:srgbClr val="A8A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사람에게 전달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3429000"/>
            <a:ext cx="10545775" cy="7362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r>
              <a:rPr lang="en-US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결과가 통과할 때까지 ② – ④ 를 </a:t>
            </a:r>
            <a:r>
              <a:rPr lang="en-US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</a:t>
            </a:r>
            <a:r>
              <a:rPr lang="ko-KR" altLang="en-US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에이전트 방식</a:t>
            </a:r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4977B9-2E27-C352-7736-582086786F26}"/>
              </a:ext>
            </a:extLst>
          </p:cNvPr>
          <p:cNvSpPr txBox="1"/>
          <p:nvPr/>
        </p:nvSpPr>
        <p:spPr>
          <a:xfrm>
            <a:off x="879347" y="4727450"/>
            <a:ext cx="896738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코딩 방식으로 데이터 다루는 실습을 하기 때문에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결과가 수강생마다 다르게 나옴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 실습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1EFD7-CBC4-0BC2-DDDF-E4C1CAE6E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747EFA9A-2901-A56B-ABBA-DD6748F555E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646E6BE-67CA-B9E8-48FE-CE01C358889E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폴더 지정 및 </a:t>
            </a:r>
            <a:r>
              <a:rPr kumimoji="0" lang="en-US" altLang="ko-KR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 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5BB1DF-E22D-D57B-F46B-3196C088BDCB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23409BF-6D6B-7715-5796-9B8AF98D68DC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FB865B-7453-AA3A-7EC0-856E72C07CDF}"/>
              </a:ext>
            </a:extLst>
          </p:cNvPr>
          <p:cNvSpPr txBox="1"/>
          <p:nvPr/>
        </p:nvSpPr>
        <p:spPr>
          <a:xfrm>
            <a:off x="533399" y="1478742"/>
            <a:ext cx="10236201" cy="141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Claude code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하단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-&gt;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폴더 열기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-&gt; 1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교시 강의자료에 있는 </a:t>
            </a:r>
            <a:r>
              <a:rPr lang="en-US" altLang="ko-KR" sz="2000" spc="-1" dirty="0" err="1">
                <a:solidFill>
                  <a:schemeClr val="bg1">
                    <a:lumMod val="95000"/>
                  </a:schemeClr>
                </a:solidFill>
                <a:latin typeface="+mn-ea"/>
              </a:rPr>
              <a:t>kisti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-lab 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폴더 선택</a:t>
            </a:r>
            <a:endParaRPr lang="en-US" altLang="ko-KR" sz="2000" spc="-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시간 관계상 모델은 </a:t>
            </a:r>
            <a:r>
              <a:rPr lang="en-US" altLang="ko-KR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sonnet</a:t>
            </a:r>
            <a:r>
              <a:rPr lang="ko-KR" altLang="en-US" sz="2000" spc="-1" dirty="0">
                <a:solidFill>
                  <a:schemeClr val="bg1">
                    <a:lumMod val="95000"/>
                  </a:schemeClr>
                </a:solidFill>
                <a:latin typeface="+mn-ea"/>
              </a:rPr>
              <a:t>으로 실습 </a:t>
            </a:r>
            <a:endParaRPr lang="en-US" altLang="ko-KR" sz="2000" spc="-1" dirty="0">
              <a:solidFill>
                <a:schemeClr val="bg1">
                  <a:lumMod val="95000"/>
                </a:schemeClr>
              </a:solidFill>
              <a:latin typeface="+mn-ea"/>
            </a:endParaRPr>
          </a:p>
          <a:p>
            <a:pPr marL="342900" lvl="0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+mn-ea"/>
                <a:cs typeface="+mn-cs"/>
              </a:rPr>
              <a:t>아래 프롬프트 입력으로 환경 세팅 시작</a:t>
            </a:r>
            <a:endParaRPr kumimoji="0" lang="en-US" altLang="ko-KR" sz="2000" b="0" i="0" u="none" strike="noStrike" kern="1200" cap="none" spc="-1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B9444851-0332-A903-E2B8-A0A7B6114F55}"/>
              </a:ext>
            </a:extLst>
          </p:cNvPr>
          <p:cNvSpPr/>
          <p:nvPr/>
        </p:nvSpPr>
        <p:spPr>
          <a:xfrm>
            <a:off x="625923" y="322491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3B7C458A-BC82-1616-50BC-6D4393737AEC}"/>
              </a:ext>
            </a:extLst>
          </p:cNvPr>
          <p:cNvSpPr/>
          <p:nvPr/>
        </p:nvSpPr>
        <p:spPr>
          <a:xfrm>
            <a:off x="625923" y="322491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F8CEEE6-C533-9F8D-DEA7-227EB1D3795D}"/>
              </a:ext>
            </a:extLst>
          </p:cNvPr>
          <p:cNvSpPr/>
          <p:nvPr/>
        </p:nvSpPr>
        <p:spPr>
          <a:xfrm>
            <a:off x="845379" y="334379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lang="en-US" sz="1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56FA70B8-F6A1-BE97-998D-94F0C8F01830}"/>
              </a:ext>
            </a:extLst>
          </p:cNvPr>
          <p:cNvSpPr/>
          <p:nvPr/>
        </p:nvSpPr>
        <p:spPr>
          <a:xfrm>
            <a:off x="845380" y="360896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이 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PC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에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uv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(Python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패키지 매니저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)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를 공식 설치 스크립트로 설치해줘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설치가 끝나면 </a:t>
            </a:r>
            <a:r>
              <a:rPr lang="en-US" altLang="ko-KR" sz="1400" dirty="0" err="1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uv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 --version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을 실행해서 버전이 정상적으로 나오는지 확인해줘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 </a:t>
            </a:r>
            <a:r>
              <a:rPr lang="ko-KR" altLang="en-US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만약 명령을 못 찾으면 설치 경로를 직접 확인해서 알려줘</a:t>
            </a:r>
            <a:r>
              <a:rPr lang="en-US" altLang="ko-KR" sz="1400" dirty="0">
                <a:solidFill>
                  <a:srgbClr val="F4F0E1"/>
                </a:solidFill>
                <a:latin typeface="Malgun Gothic" pitchFamily="34" charset="0"/>
                <a:ea typeface="Malgun Gothic" pitchFamily="34" charset="-12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206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412B70-97B4-3AFD-0C89-6491EEC67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2817CD5-22D4-14CE-782A-340C750DEF3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830F8C0-02AF-2052-7FF1-93D90A6690D0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재시작 후 확인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688CB03-3EE1-E9C8-58AB-395BA36F5A8A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FB884F9-528C-4BF6-B549-02BC0089F95C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258B3A-D8D9-9DE8-48A9-0D312C7D83CC}"/>
              </a:ext>
            </a:extLst>
          </p:cNvPr>
          <p:cNvSpPr txBox="1"/>
          <p:nvPr/>
        </p:nvSpPr>
        <p:spPr>
          <a:xfrm>
            <a:off x="533399" y="1478742"/>
            <a:ext cx="10236201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재시작 후 아래 프롬프트 입력 후 제대로 버전 출력되면 정상 인스톨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70716832-8941-83EA-56EA-8C3E5ABB44AD}"/>
              </a:ext>
            </a:extLst>
          </p:cNvPr>
          <p:cNvSpPr/>
          <p:nvPr/>
        </p:nvSpPr>
        <p:spPr>
          <a:xfrm>
            <a:off x="625923" y="221907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013A30B-CB95-B452-8920-726B5EDCA380}"/>
              </a:ext>
            </a:extLst>
          </p:cNvPr>
          <p:cNvSpPr/>
          <p:nvPr/>
        </p:nvSpPr>
        <p:spPr>
          <a:xfrm>
            <a:off x="625923" y="221907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D889CCE8-EBD0-20B7-594E-F0337FD8CDF4}"/>
              </a:ext>
            </a:extLst>
          </p:cNvPr>
          <p:cNvSpPr/>
          <p:nvPr/>
        </p:nvSpPr>
        <p:spPr>
          <a:xfrm>
            <a:off x="845379" y="233795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DBE0CF0F-1C2D-405E-4201-EBF245400868}"/>
              </a:ext>
            </a:extLst>
          </p:cNvPr>
          <p:cNvSpPr/>
          <p:nvPr/>
        </p:nvSpPr>
        <p:spPr>
          <a:xfrm>
            <a:off x="845380" y="260312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uv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--version 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확인해줘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FD85BE-C266-4C42-08B0-6BFACAF6D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275" y="3539262"/>
            <a:ext cx="5427144" cy="2474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981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92D88-A262-3B30-C90D-719B4687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0BA72BA-FE38-EDD0-C1CF-5C16EDB9D804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B133F59-2832-D23D-CD24-59AE4FE2B979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lang="en-US" altLang="ko-KR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 환경 세팅</a:t>
            </a:r>
            <a:endParaRPr kumimoji="0" lang="ko-KR" altLang="en-US" sz="25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ADCEF3-55CA-7F96-3E7F-67553FA03167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458C41F-5A59-99D9-DF08-6F3F6242F5C9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FBC9B-8942-61FF-F93F-7186231B1526}"/>
              </a:ext>
            </a:extLst>
          </p:cNvPr>
          <p:cNvSpPr txBox="1"/>
          <p:nvPr/>
        </p:nvSpPr>
        <p:spPr>
          <a:xfrm>
            <a:off x="533399" y="1478742"/>
            <a:ext cx="11328401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아래 프롬프트 입력하기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원리는 뒷장에서 설명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(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세팅 완료까지 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r>
              <a:rPr lang="ko-KR" altLang="en-US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분 소요</a:t>
            </a:r>
            <a:r>
              <a:rPr lang="en-US" altLang="ko-KR" sz="1600" spc="-1" dirty="0">
                <a:solidFill>
                  <a:prstClr val="white">
                    <a:lumMod val="9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ko-KR" altLang="en-US" sz="1600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00373A7C-841F-C3D6-93A1-A470AF3F3B6C}"/>
              </a:ext>
            </a:extLst>
          </p:cNvPr>
          <p:cNvSpPr/>
          <p:nvPr/>
        </p:nvSpPr>
        <p:spPr>
          <a:xfrm>
            <a:off x="625923" y="2351951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4088E116-7BE4-6EC3-D707-301506971EC5}"/>
              </a:ext>
            </a:extLst>
          </p:cNvPr>
          <p:cNvSpPr/>
          <p:nvPr/>
        </p:nvSpPr>
        <p:spPr>
          <a:xfrm>
            <a:off x="625923" y="2351951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7A03441-3FD6-4DEE-43F9-752B8B1A4EB0}"/>
              </a:ext>
            </a:extLst>
          </p:cNvPr>
          <p:cNvSpPr/>
          <p:nvPr/>
        </p:nvSpPr>
        <p:spPr>
          <a:xfrm>
            <a:off x="845379" y="2470823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C4188642-86F1-7A5F-5E77-4C18B8971E52}"/>
              </a:ext>
            </a:extLst>
          </p:cNvPr>
          <p:cNvSpPr/>
          <p:nvPr/>
        </p:nvSpPr>
        <p:spPr>
          <a:xfrm>
            <a:off x="845380" y="2735999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uv</a:t>
            </a: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sync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4F0E1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+mn-cs"/>
              </a:rPr>
              <a:t> 이용해서 개발 환경을 세팅해줘</a:t>
            </a:r>
          </a:p>
        </p:txBody>
      </p:sp>
    </p:spTree>
    <p:extLst>
      <p:ext uri="{BB962C8B-B14F-4D97-AF65-F5344CB8AC3E}">
        <p14:creationId xmlns:p14="http://schemas.microsoft.com/office/powerpoint/2010/main" val="27261178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이용한 환경 세팅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3"/>
            <a:ext cx="10545775" cy="11638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명령어는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파일을 참고해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파일에 있는 라이브러리 버전대로 환경을 세팅해주는 기능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sync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입력하니 강사가 미리 세팅한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 파일을 이용해 수강생들 컴퓨터에 동일한 환경으로 </a:t>
            </a:r>
            <a:r>
              <a:rPr lang="ko-KR" alt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세팅된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것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97594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7594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3626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pyproject.toml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3626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패키지 목록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3626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프로젝트에 pandas, polars, duckdb 등이 필요하다고 적어 둔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943130" y="2945723"/>
            <a:ext cx="566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10058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10058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66090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uv.lock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66090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설치할 정확한 버전 기록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6090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설치될 패키지의 버전을 소수점 자리까지 못 박아 둔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55594" y="2945723"/>
            <a:ext cx="56692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2522" y="2945723"/>
            <a:ext cx="3145536" cy="233172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2522" y="2945723"/>
            <a:ext cx="314553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8554" y="3192611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sync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78554" y="3558371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기록대로 설치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78554" y="3942419"/>
            <a:ext cx="2633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uv.lock 에 적힌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그래서 참가자 전원의 </a:t>
            </a:r>
            <a:r>
              <a:rPr 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</a:t>
            </a:r>
            <a:r>
              <a:rPr lang="en-US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</a:t>
            </a:r>
            <a:r>
              <a:rPr lang="ko-KR" altLang="en-US" sz="1050" dirty="0" err="1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아짐</a:t>
            </a:r>
            <a:r>
              <a:rPr lang="en-US" altLang="ko-KR" sz="1050" dirty="0">
                <a:solidFill>
                  <a:srgbClr val="C6BFA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8AB6-70F1-9F01-D945-CD302E30B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A2E2192A-7E63-BBC4-A361-D4D7E29038A0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81CB65-E8D1-76B9-DC48-BEAC6C8B41B5}"/>
              </a:ext>
            </a:extLst>
          </p:cNvPr>
          <p:cNvSpPr/>
          <p:nvPr/>
        </p:nvSpPr>
        <p:spPr>
          <a:xfrm>
            <a:off x="822960" y="713232"/>
            <a:ext cx="10545775" cy="759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원하는 프로그램을 개발해 달라고만 명령해도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code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알아서 환경도 세팅해 줌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그럼에도 실습에서 </a:t>
            </a:r>
            <a:r>
              <a:rPr kumimoji="0" lang="en-US" altLang="ko-KR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uv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인스톨하고 같이 세팅한 이유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FFDF57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DE5E59-4653-7DF0-DC69-56B34882D41F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203313A-08C3-56D6-8205-BB30DC67E637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E87B67-0C1E-791E-1198-37A2ABC7BAA8}"/>
              </a:ext>
            </a:extLst>
          </p:cNvPr>
          <p:cNvSpPr txBox="1"/>
          <p:nvPr/>
        </p:nvSpPr>
        <p:spPr>
          <a:xfrm>
            <a:off x="533399" y="1622341"/>
            <a:ext cx="11404601" cy="4609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환경 도구를 지정 안 하면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마다 다른 방법을 고르는데 실습에서는 통일된 환경 필요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Python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설치부터 라이브러리까지 도구 하나로 해결하고 속도도 빠름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</a:t>
            </a:r>
          </a:p>
          <a:p>
            <a:pPr marL="800100" lvl="1" indent="-342900" latinLnBrk="1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그런데 </a:t>
            </a: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명시하지 않으면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가 기존 방법인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pip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이용할 수 있음</a:t>
            </a: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는 개인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의 기존 환경을 안 건드리고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개발 환경을 다른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PC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에서도 바로 재현 가능</a:t>
            </a:r>
          </a:p>
          <a:p>
            <a:pPr marR="0" lvl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>
                <a:tab pos="0" algn="l"/>
              </a:tabLst>
              <a:defRPr/>
            </a:pP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그러니 나중에 개발할 때도 </a:t>
            </a:r>
            <a:r>
              <a:rPr kumimoji="0" lang="en-US" altLang="ko-KR" b="0" i="0" u="none" strike="noStrike" kern="1200" cap="none" spc="-1" normalizeH="0" baseline="0" noProof="0" dirty="0" err="1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uv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로 환경 세팅해달라고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에게 요청하면 좋음</a:t>
            </a:r>
            <a:endParaRPr kumimoji="0" lang="en-US" altLang="ko-KR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endParaRPr lang="en-US" altLang="ko-KR" spc="-1" dirty="0">
              <a:solidFill>
                <a:prstClr val="white">
                  <a:lumMod val="9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이처럼 </a:t>
            </a:r>
            <a:r>
              <a:rPr kumimoji="0" lang="en-US" altLang="ko-KR" b="0" i="0" u="none" strike="noStrike" kern="1200" cap="none" spc="-1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AI</a:t>
            </a:r>
            <a:r>
              <a:rPr kumimoji="0" lang="ko-KR" altLang="en-US" b="0" i="0" u="none" strike="noStrike" kern="1200" cap="none" spc="-1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에게 구체적인 기술 용어로 지시할수록 </a:t>
            </a:r>
            <a:r>
              <a:rPr lang="ko-KR" altLang="en-US" spc="-1" dirty="0">
                <a:solidFill>
                  <a:srgbClr val="FFD7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효율 높은 결과를 얻음</a:t>
            </a:r>
            <a:endParaRPr lang="en-US" altLang="ko-KR" spc="-1" dirty="0">
              <a:solidFill>
                <a:srgbClr val="FFD733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lang="ko-KR" altLang="en-US" spc="-1" dirty="0">
                <a:solidFill>
                  <a:srgbClr val="FFD7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오늘 전체적인 강의 내용도 데이터 처리할 때 사용하는 구체적인 용어와 방법으로 구성</a:t>
            </a:r>
            <a:endParaRPr kumimoji="0" lang="ko-KR" altLang="en-US" b="0" i="0" u="none" strike="noStrike" kern="1200" cap="none" spc="-1" normalizeH="0" baseline="0" noProof="0" dirty="0">
              <a:ln>
                <a:noFill/>
              </a:ln>
              <a:solidFill>
                <a:srgbClr val="FFD733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56290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C5A74-FBED-A182-BD9A-380F0BBF7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E2C5C9B-7D0A-B961-6F02-CDA10134988C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8EF94DB-CAA2-6B1A-2640-B02815AACAB8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환경세팅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제대로 되었는지 확인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8A7F2B9-9E9E-A65A-F559-AAC475C3FF92}"/>
              </a:ext>
            </a:extLst>
          </p:cNvPr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FC274F-F36F-6E00-455A-D14F6C575297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609FA3-CFC3-18C7-33B1-38B6C3A1EB89}"/>
              </a:ext>
            </a:extLst>
          </p:cNvPr>
          <p:cNvSpPr txBox="1"/>
          <p:nvPr/>
        </p:nvSpPr>
        <p:spPr>
          <a:xfrm>
            <a:off x="533399" y="1478742"/>
            <a:ext cx="10236201" cy="494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0" algn="l"/>
              </a:tabLst>
              <a:defRPr/>
            </a:pP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아래 프롬프트 입력 후 정상 여부 확인</a:t>
            </a:r>
            <a:r>
              <a:rPr kumimoji="0" lang="en-US" altLang="ko-KR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(1</a:t>
            </a:r>
            <a:r>
              <a:rPr kumimoji="0" lang="ko-KR" altLang="en-US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분 소요</a:t>
            </a:r>
            <a:r>
              <a:rPr kumimoji="0" lang="en-US" altLang="ko-KR" sz="2000" b="0" i="0" u="none" strike="noStrike" kern="1200" cap="none" spc="-1" normalizeH="0" baseline="0" noProof="0" dirty="0">
                <a:ln>
                  <a:noFill/>
                </a:ln>
                <a:solidFill>
                  <a:prstClr val="white">
                    <a:lumMod val="95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)</a:t>
            </a:r>
            <a:endParaRPr kumimoji="0" lang="ko-KR" altLang="en-US" sz="2000" b="0" i="0" u="none" strike="noStrike" kern="1200" cap="none" spc="-1" normalizeH="0" baseline="0" noProof="0" dirty="0">
              <a:ln>
                <a:noFill/>
              </a:ln>
              <a:solidFill>
                <a:prstClr val="white">
                  <a:lumMod val="9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4A76EADC-199A-993A-BD79-15FEE4B37705}"/>
              </a:ext>
            </a:extLst>
          </p:cNvPr>
          <p:cNvSpPr/>
          <p:nvPr/>
        </p:nvSpPr>
        <p:spPr>
          <a:xfrm>
            <a:off x="625923" y="2219079"/>
            <a:ext cx="10684934" cy="1005840"/>
          </a:xfrm>
          <a:prstGeom prst="rect">
            <a:avLst/>
          </a:prstGeom>
          <a:solidFill>
            <a:srgbClr val="1A1810"/>
          </a:solidFill>
          <a:ln w="9525">
            <a:solidFill>
              <a:srgbClr val="4A4429"/>
            </a:solidFill>
            <a:prstDash val="solid"/>
          </a:ln>
        </p:spPr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C275441E-2C25-C579-FDD3-8B382F1D52FC}"/>
              </a:ext>
            </a:extLst>
          </p:cNvPr>
          <p:cNvSpPr/>
          <p:nvPr/>
        </p:nvSpPr>
        <p:spPr>
          <a:xfrm>
            <a:off x="625923" y="2219079"/>
            <a:ext cx="54089" cy="1005840"/>
          </a:xfrm>
          <a:prstGeom prst="rect">
            <a:avLst/>
          </a:prstGeom>
          <a:solidFill>
            <a:srgbClr val="FFD733"/>
          </a:solidFill>
          <a:ln w="3175">
            <a:solidFill>
              <a:srgbClr val="FFD733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4D4B2BC2-D461-B409-0F27-6E0C74CB875C}"/>
              </a:ext>
            </a:extLst>
          </p:cNvPr>
          <p:cNvSpPr/>
          <p:nvPr/>
        </p:nvSpPr>
        <p:spPr>
          <a:xfrm>
            <a:off x="845379" y="2337951"/>
            <a:ext cx="565480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25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A0541924-E090-2D11-A6DF-7B068EAB3669}"/>
              </a:ext>
            </a:extLst>
          </p:cNvPr>
          <p:cNvSpPr/>
          <p:nvPr/>
        </p:nvSpPr>
        <p:spPr>
          <a:xfrm>
            <a:off x="845380" y="2603127"/>
            <a:ext cx="1002201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제대로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설치됐는지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pyproject.toml에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선언된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설치되어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확인하고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있으면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원인과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방법도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알려줘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86325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2377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4A4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822960" y="3401568"/>
            <a:ext cx="822960" cy="0"/>
          </a:xfrm>
          <a:prstGeom prst="line">
            <a:avLst/>
          </a:prstGeom>
          <a:noFill/>
          <a:ln w="38100">
            <a:solidFill>
              <a:srgbClr val="FFD7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356616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실습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4261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없이 자연어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문장만으로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데이터를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다룰</a:t>
            </a:r>
            <a:r>
              <a:rPr 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dirty="0" err="1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data/sensor_readings.csv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8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59" y="1965960"/>
            <a:ext cx="10420774" cy="339344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139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데이터인가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79" y="2450591"/>
            <a:ext cx="9426788" cy="2620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12개 관측 지점의 1년치 환경 센서 기록을 흉내 낸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</a:t>
            </a:r>
            <a:r>
              <a:rPr 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20만 행, 14개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컬럼으로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 매우 큰 규모의 데이터는 아니지만 엑셀에서 가공이 힘든 수준은 됨</a:t>
            </a:r>
            <a:endParaRPr lang="en-US" altLang="ko-KR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지금은 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시간을 고려해 </a:t>
            </a:r>
            <a:r>
              <a:rPr lang="ko-KR" altLang="en-US" sz="160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정도를 대규모 데이터라 가정하고 실습</a:t>
            </a:r>
            <a:endParaRPr lang="en-US" sz="1600" dirty="0">
              <a:solidFill>
                <a:srgbClr val="FFD733"/>
              </a:solidFill>
            </a:endParaRPr>
          </a:p>
          <a:p>
            <a:pPr marL="171450" indent="-171450" algn="l">
              <a:lnSpc>
                <a:spcPct val="128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</a:endParaRPr>
          </a:p>
          <a:p>
            <a:pPr marL="171450" indent="-171450">
              <a:lnSpc>
                <a:spcPct val="128000"/>
              </a:lnSpc>
              <a:buFont typeface="Arial" panose="020B0604020202020204" pitchFamily="34" charset="0"/>
              <a:buChar char="•"/>
            </a:pP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데이터에서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흔히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나타나는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결측값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이상치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불일치가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6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의도적으로</a:t>
            </a:r>
            <a:r>
              <a:rPr lang="en-US" altLang="ko-KR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섞</a:t>
            </a:r>
            <a:r>
              <a:rPr lang="ko-KR" altLang="en-US" sz="16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지저분한 데이터</a:t>
            </a:r>
            <a:endParaRPr lang="en-US" altLang="ko-KR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 개요 살펴보기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3"/>
            <a:ext cx="10545775" cy="4599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</a:t>
            </a:r>
            <a:r>
              <a:rPr 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altLang="ko-KR" sz="1400" dirty="0"/>
          </a:p>
        </p:txBody>
      </p:sp>
      <p:sp>
        <p:nvSpPr>
          <p:cNvPr id="7" name="Text 5"/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6A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22960" y="1883156"/>
            <a:ext cx="10545775" cy="2559304"/>
          </a:xfrm>
          <a:prstGeom prst="rect">
            <a:avLst/>
          </a:prstGeom>
          <a:solidFill>
            <a:srgbClr val="241F14"/>
          </a:solidFill>
          <a:ln w="12700">
            <a:solidFill>
              <a:srgbClr val="7A6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203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 err="1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" y="2294636"/>
            <a:ext cx="9997135" cy="2080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폴더에 있는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어떤 데이터인지 파악해줘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파일이 크니까 전체를 통째로 불러오지 말고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훑어보듯 일부만 확인해줘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것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크기와 전체 줄 수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컬럼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들이 있는지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항목의 의미와 들어있는 값의 형태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앞과 맨 뒤 몇 줄씩 확인해서 중간에 형식이 달라지지 않는지</a:t>
            </a:r>
          </a:p>
          <a:p>
            <a:pPr>
              <a:lnSpc>
                <a:spcPct val="128000"/>
              </a:lnSpc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표로 정리하고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원본을 길게 나열하지는 말아줘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7DF02F5E-CAE5-1651-D4BE-31042AB999A1}"/>
              </a:ext>
            </a:extLst>
          </p:cNvPr>
          <p:cNvSpPr/>
          <p:nvPr/>
        </p:nvSpPr>
        <p:spPr>
          <a:xfrm>
            <a:off x="664836" y="4673093"/>
            <a:ext cx="10545775" cy="179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개요만 확인할 때 분석가로서 노하우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통째로 불러오지 말고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비용 절약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모델은 알아서 일부만 불러오지만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명시하면 확실하게 동작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앞과 맨 뒤 몇 줄씩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 분석가의 습관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형식이 바뀌는 파일도 있으니 데이터 앞뒤로 확인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원본을 길게 나열하지 말아줘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출력이 길면 느려지고 토큰 소모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요약만 받기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부분도 최신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알아서 하지만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별도 에이전트를 만들고 통제가 필요할 때는 명시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B77E10E-FC7A-491F-28DE-10E1F645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F8BD02F5-EEB7-D5EA-825B-9F8BB00F60EF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C5F338-3F2B-DDBB-3F9C-BA320A687C87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대용량 데이터 개요 살펴보기</a:t>
            </a:r>
            <a:endParaRPr lang="en-US" altLang="ko-KR" sz="25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3D2433E-E208-4AB0-72E7-E6B725386A71}"/>
              </a:ext>
            </a:extLst>
          </p:cNvPr>
          <p:cNvSpPr/>
          <p:nvPr/>
        </p:nvSpPr>
        <p:spPr>
          <a:xfrm>
            <a:off x="822960" y="1335023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읽기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코드 생성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 수정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보고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52CDBD-A802-EDF3-1834-A0540607D04A}"/>
              </a:ext>
            </a:extLst>
          </p:cNvPr>
          <p:cNvSpPr/>
          <p:nvPr/>
        </p:nvSpPr>
        <p:spPr>
          <a:xfrm>
            <a:off x="822960" y="6367047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771DE33-64AA-88F3-D544-12FCCB3D1954}"/>
              </a:ext>
            </a:extLst>
          </p:cNvPr>
          <p:cNvSpPr/>
          <p:nvPr/>
        </p:nvSpPr>
        <p:spPr>
          <a:xfrm>
            <a:off x="10271455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A0D10DC-861C-9806-D839-1DE9EA014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333" y="1901951"/>
            <a:ext cx="5960103" cy="434701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BF38D77-5517-19C9-9926-A9B35EB45575}"/>
              </a:ext>
            </a:extLst>
          </p:cNvPr>
          <p:cNvSpPr txBox="1"/>
          <p:nvPr/>
        </p:nvSpPr>
        <p:spPr>
          <a:xfrm>
            <a:off x="6519332" y="2029471"/>
            <a:ext cx="5672668" cy="3424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>
                <a:solidFill>
                  <a:srgbClr val="FFDF57"/>
                </a:solidFill>
              </a:rPr>
              <a:t>참고</a:t>
            </a:r>
            <a:endParaRPr lang="en-US" altLang="ko-KR" b="1" dirty="0">
              <a:solidFill>
                <a:srgbClr val="FFDF57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600" dirty="0" err="1">
                <a:solidFill>
                  <a:schemeClr val="bg1"/>
                </a:solidFill>
              </a:rPr>
              <a:t>Claude가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CSV를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 dirty="0">
                <a:solidFill>
                  <a:schemeClr val="bg1"/>
                </a:solidFill>
              </a:rPr>
              <a:t>글자 그대로</a:t>
            </a:r>
            <a:r>
              <a:rPr lang="ko-KR" altLang="ko-KR" sz="1600" dirty="0">
                <a:solidFill>
                  <a:schemeClr val="bg1"/>
                </a:solidFill>
              </a:rPr>
              <a:t> 읽어서 파악하는 게 아</a:t>
            </a:r>
            <a:r>
              <a:rPr lang="ko-KR" altLang="en-US" sz="1600" dirty="0">
                <a:solidFill>
                  <a:schemeClr val="bg1"/>
                </a:solidFill>
              </a:rPr>
              <a:t>님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>
                <a:solidFill>
                  <a:schemeClr val="bg1"/>
                </a:solidFill>
              </a:rPr>
              <a:t>답변창</a:t>
            </a:r>
            <a:r>
              <a:rPr lang="ko-KR" altLang="en-US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>
                <a:solidFill>
                  <a:schemeClr val="bg1"/>
                </a:solidFill>
              </a:rPr>
              <a:t>스크린샷을 보면, 방금 </a:t>
            </a:r>
            <a:r>
              <a:rPr lang="ko-KR" altLang="en-US" sz="1600" dirty="0">
                <a:solidFill>
                  <a:schemeClr val="bg1"/>
                </a:solidFill>
              </a:rPr>
              <a:t>던진</a:t>
            </a:r>
            <a:r>
              <a:rPr lang="ko-KR" altLang="ko-KR" sz="1600" dirty="0">
                <a:solidFill>
                  <a:schemeClr val="bg1"/>
                </a:solidFill>
              </a:rPr>
              <a:t> 프롬프트</a:t>
            </a:r>
            <a:r>
              <a:rPr lang="ko-KR" altLang="en-US" sz="1600" dirty="0">
                <a:solidFill>
                  <a:schemeClr val="bg1"/>
                </a:solidFill>
              </a:rPr>
              <a:t>에 답하기 위해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dirty="0" err="1">
                <a:solidFill>
                  <a:schemeClr val="bg1"/>
                </a:solidFill>
              </a:rPr>
              <a:t>Claude는</a:t>
            </a:r>
            <a:r>
              <a:rPr lang="ko-KR" altLang="ko-KR" sz="1600" dirty="0">
                <a:solidFill>
                  <a:schemeClr val="bg1"/>
                </a:solidFill>
              </a:rPr>
              <a:t> </a:t>
            </a:r>
            <a:r>
              <a:rPr lang="ko-KR" altLang="ko-KR" sz="1600" b="1" dirty="0" err="1">
                <a:solidFill>
                  <a:schemeClr val="bg1"/>
                </a:solidFill>
              </a:rPr>
              <a:t>inspect_csv.py라는</a:t>
            </a:r>
            <a:r>
              <a:rPr lang="ko-KR" altLang="ko-KR" sz="1600" b="1" dirty="0">
                <a:solidFill>
                  <a:schemeClr val="bg1"/>
                </a:solidFill>
              </a:rPr>
              <a:t> 파이썬 파일을 즉</a:t>
            </a:r>
            <a:r>
              <a:rPr lang="ko-KR" altLang="en-US" sz="1600" b="1" dirty="0">
                <a:solidFill>
                  <a:schemeClr val="bg1"/>
                </a:solidFill>
              </a:rPr>
              <a:t>시</a:t>
            </a:r>
            <a:r>
              <a:rPr lang="ko-KR" altLang="ko-KR" sz="1600" b="1" dirty="0">
                <a:solidFill>
                  <a:schemeClr val="bg1"/>
                </a:solidFill>
              </a:rPr>
              <a:t> 작성</a:t>
            </a:r>
            <a:endParaRPr lang="en-US" altLang="ko-KR" sz="1600" b="1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>
                <a:solidFill>
                  <a:schemeClr val="bg1"/>
                </a:solidFill>
              </a:rPr>
              <a:t>즉 </a:t>
            </a:r>
            <a:r>
              <a:rPr lang="en-US" altLang="ko-KR" sz="1600" dirty="0">
                <a:solidFill>
                  <a:schemeClr val="bg1"/>
                </a:solidFill>
              </a:rPr>
              <a:t>python</a:t>
            </a:r>
            <a:r>
              <a:rPr lang="ko-KR" altLang="en-US" sz="1600" dirty="0">
                <a:solidFill>
                  <a:schemeClr val="bg1"/>
                </a:solidFill>
              </a:rPr>
              <a:t>이나 </a:t>
            </a:r>
            <a:r>
              <a:rPr lang="en-US" altLang="ko-KR" sz="1600" dirty="0" err="1">
                <a:solidFill>
                  <a:schemeClr val="bg1"/>
                </a:solidFill>
              </a:rPr>
              <a:t>javascript</a:t>
            </a:r>
            <a:r>
              <a:rPr lang="en-US" altLang="ko-KR" sz="1600" dirty="0">
                <a:solidFill>
                  <a:schemeClr val="bg1"/>
                </a:solidFill>
              </a:rPr>
              <a:t> </a:t>
            </a:r>
            <a:r>
              <a:rPr lang="ko-KR" altLang="en-US" sz="1600">
                <a:solidFill>
                  <a:schemeClr val="bg1"/>
                </a:solidFill>
              </a:rPr>
              <a:t>같은 </a:t>
            </a:r>
            <a:r>
              <a:rPr lang="ko-KR" altLang="en-US" sz="1600" dirty="0">
                <a:solidFill>
                  <a:schemeClr val="bg1"/>
                </a:solidFill>
              </a:rPr>
              <a:t>코드를 이용해 데이터를 분석하고 답변</a:t>
            </a:r>
            <a:endParaRPr lang="en-US" altLang="ko-KR" sz="1600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826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500" b="1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 기초통계 요청</a:t>
            </a:r>
            <a:endParaRPr lang="en-US" altLang="ko-KR" sz="2500" dirty="0"/>
          </a:p>
        </p:txBody>
      </p:sp>
      <p:sp>
        <p:nvSpPr>
          <p:cNvPr id="5" name="Text 3"/>
          <p:cNvSpPr/>
          <p:nvPr/>
        </p:nvSpPr>
        <p:spPr>
          <a:xfrm>
            <a:off x="822960" y="1335024"/>
            <a:ext cx="1054577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입력창에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붙여넣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</a:t>
            </a:r>
            <a:endParaRPr lang="en-US" altLang="ko-KR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719072"/>
            <a:ext cx="10545775" cy="2565737"/>
          </a:xfrm>
          <a:prstGeom prst="rect">
            <a:avLst/>
          </a:prstGeom>
          <a:solidFill>
            <a:srgbClr val="241F14"/>
          </a:solidFill>
          <a:ln w="12700">
            <a:solidFill>
              <a:srgbClr val="7A6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856233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20" dirty="0">
                <a:solidFill>
                  <a:srgbClr val="FFD7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원문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79" y="2120054"/>
            <a:ext cx="9997135" cy="1866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sensor_readings.csv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파일의 기초 통계를 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이번에는 일부가 아니라 전체 데이터를 대상으로 계산해줘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나한테는 결과 요약만 보여줘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  <a:p>
            <a:pPr>
              <a:lnSpc>
                <a:spcPct val="128000"/>
              </a:lnSpc>
            </a:pPr>
            <a:endParaRPr lang="en-US" altLang="ko-KR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 싶은 것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최대값 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상식적으로 말이 안 되는 이상치 확인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글자 항목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값들이 들어있고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각각 몇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건씩인지</a:t>
            </a: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비어있는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값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</a:t>
            </a:r>
            <a:r>
              <a:rPr lang="ko-KR" altLang="en-US" sz="12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결측치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어느 항목에 얼마나 있는지</a:t>
            </a:r>
          </a:p>
          <a:p>
            <a:pPr>
              <a:lnSpc>
                <a:spcPct val="128000"/>
              </a:lnSpc>
            </a:pPr>
            <a:endParaRPr lang="ko-KR" altLang="en-US" sz="12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>
              <a:lnSpc>
                <a:spcPct val="128000"/>
              </a:lnSpc>
            </a:pP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표로 정리하고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ko-KR" altLang="en-US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이상해 보이는 부분이 있으면 따로 짚어줘</a:t>
            </a:r>
            <a:r>
              <a:rPr lang="en-US" altLang="ko-KR" sz="12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00" dirty="0"/>
          </a:p>
        </p:txBody>
      </p:sp>
      <p:sp>
        <p:nvSpPr>
          <p:cNvPr id="31" name="Text 3">
            <a:extLst>
              <a:ext uri="{FF2B5EF4-FFF2-40B4-BE49-F238E27FC236}">
                <a16:creationId xmlns:a16="http://schemas.microsoft.com/office/drawing/2014/main" id="{19852FAB-2E28-3854-B111-21AFACF8C8DE}"/>
              </a:ext>
            </a:extLst>
          </p:cNvPr>
          <p:cNvSpPr/>
          <p:nvPr/>
        </p:nvSpPr>
        <p:spPr>
          <a:xfrm>
            <a:off x="664836" y="4714578"/>
            <a:ext cx="10545775" cy="17954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rgbClr val="FFDF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기초통계 요청 시 분석가로서 노하우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말이 안 되는 이상치 확인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＂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← 통계 요청에 이상치 점검을 </a:t>
            </a: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끼워넣기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-999,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영하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500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같은 </a:t>
            </a:r>
            <a:r>
              <a:rPr lang="ko-KR" altLang="en-US" sz="1400" dirty="0" err="1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오류값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하나가 평균을 통째로 왜곡함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항목별 이상치 기준을 일일이 주지 않아도 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상식으로 알아서 판단해주는 게 큰 장점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이상해 보이는 부분이 있으면 따로 짚어줘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 ← 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시킨 것만 하지 말고 판단까지 하게 만들기</a:t>
            </a:r>
            <a:r>
              <a:rPr lang="en-US" altLang="ko-KR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AI</a:t>
            </a:r>
            <a:r>
              <a:rPr lang="ko-KR" altLang="en-US" sz="1400" dirty="0">
                <a:solidFill>
                  <a:srgbClr val="ECE7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사람이 놓친 문제를 먼저 발견하는 경우가 많음</a:t>
            </a:r>
            <a:endParaRPr lang="en-US" altLang="ko-KR" sz="1400" dirty="0">
              <a:solidFill>
                <a:srgbClr val="ECE7DC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D7E353-C6E9-59BF-11F0-42139C8B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EF43069-593A-2063-B702-C31070C736C5}"/>
              </a:ext>
            </a:extLst>
          </p:cNvPr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199FE53-CC8C-5525-C74D-B6856AE07F44}"/>
              </a:ext>
            </a:extLst>
          </p:cNvPr>
          <p:cNvSpPr/>
          <p:nvPr/>
        </p:nvSpPr>
        <p:spPr>
          <a:xfrm>
            <a:off x="822960" y="713232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대규모 데이터 기초통계 요청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AB5148D-130B-3289-E762-CEDB27113EDE}"/>
              </a:ext>
            </a:extLst>
          </p:cNvPr>
          <p:cNvSpPr/>
          <p:nvPr/>
        </p:nvSpPr>
        <p:spPr>
          <a:xfrm>
            <a:off x="650207" y="1617133"/>
            <a:ext cx="105457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ECE7D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있는 이상치 및 문제 데이터들 예시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C74CD39-B80E-550B-AA8C-8C5482C63815}"/>
              </a:ext>
            </a:extLst>
          </p:cNvPr>
          <p:cNvSpPr/>
          <p:nvPr/>
        </p:nvSpPr>
        <p:spPr>
          <a:xfrm>
            <a:off x="650207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8695B6A8-B99F-110C-DF28-FB23ADCDC8FE}"/>
              </a:ext>
            </a:extLst>
          </p:cNvPr>
          <p:cNvSpPr/>
          <p:nvPr/>
        </p:nvSpPr>
        <p:spPr>
          <a:xfrm>
            <a:off x="650207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B8E009B-584A-2EDB-E044-3028A318AABF}"/>
              </a:ext>
            </a:extLst>
          </p:cNvPr>
          <p:cNvSpPr/>
          <p:nvPr/>
        </p:nvSpPr>
        <p:spPr>
          <a:xfrm>
            <a:off x="906239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기온 최솟값이 -999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8CAD61F-AB2F-072E-1B24-1FFC85F0BD1E}"/>
              </a:ext>
            </a:extLst>
          </p:cNvPr>
          <p:cNvSpPr/>
          <p:nvPr/>
        </p:nvSpPr>
        <p:spPr>
          <a:xfrm>
            <a:off x="906239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센서가 값을 못 읽었을 때 남기는 오류 코드입니다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825D90C6-4F8E-9DD1-5946-A1AE3E037049}"/>
              </a:ext>
            </a:extLst>
          </p:cNvPr>
          <p:cNvSpPr/>
          <p:nvPr/>
        </p:nvSpPr>
        <p:spPr>
          <a:xfrm>
            <a:off x="4252943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CA7262CB-CD21-077A-61DC-F3C65E7A9DF6}"/>
              </a:ext>
            </a:extLst>
          </p:cNvPr>
          <p:cNvSpPr/>
          <p:nvPr/>
        </p:nvSpPr>
        <p:spPr>
          <a:xfrm>
            <a:off x="4252943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8D6E0B3-051D-DF29-4ABB-752CEF5BD479}"/>
              </a:ext>
            </a:extLst>
          </p:cNvPr>
          <p:cNvSpPr/>
          <p:nvPr/>
        </p:nvSpPr>
        <p:spPr>
          <a:xfrm>
            <a:off x="4508975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습도에 100을 넘는 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2D87B83-5027-2354-608D-367DCB77BEA2}"/>
              </a:ext>
            </a:extLst>
          </p:cNvPr>
          <p:cNvSpPr/>
          <p:nvPr/>
        </p:nvSpPr>
        <p:spPr>
          <a:xfrm>
            <a:off x="4508975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물리적으로 나올 수 없는 값입니다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F15A00DD-A5F3-7D21-79FF-8AC67BC78CCA}"/>
              </a:ext>
            </a:extLst>
          </p:cNvPr>
          <p:cNvSpPr/>
          <p:nvPr/>
        </p:nvSpPr>
        <p:spPr>
          <a:xfrm>
            <a:off x="7855679" y="2035896"/>
            <a:ext cx="3328416" cy="1051560"/>
          </a:xfrm>
          <a:prstGeom prst="rect">
            <a:avLst/>
          </a:prstGeom>
          <a:solidFill>
            <a:srgbClr val="1A1810"/>
          </a:solidFill>
          <a:ln w="12700">
            <a:solidFill>
              <a:srgbClr val="4A4430"/>
            </a:solidFill>
            <a:prstDash val="solid"/>
          </a:ln>
        </p:spPr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DA4FE2B-F823-CB32-4F4A-5849B8737252}"/>
              </a:ext>
            </a:extLst>
          </p:cNvPr>
          <p:cNvSpPr/>
          <p:nvPr/>
        </p:nvSpPr>
        <p:spPr>
          <a:xfrm>
            <a:off x="7855679" y="2035896"/>
            <a:ext cx="3328416" cy="41148"/>
          </a:xfrm>
          <a:prstGeom prst="rect">
            <a:avLst/>
          </a:prstGeom>
          <a:solidFill>
            <a:srgbClr val="FFD733"/>
          </a:solidFill>
          <a:ln w="12700">
            <a:solidFill>
              <a:srgbClr val="FFD733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74610F3F-692F-6435-B8B8-7741A6FC593F}"/>
              </a:ext>
            </a:extLst>
          </p:cNvPr>
          <p:cNvSpPr/>
          <p:nvPr/>
        </p:nvSpPr>
        <p:spPr>
          <a:xfrm>
            <a:off x="8111711" y="2237064"/>
            <a:ext cx="2816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"정상"과 "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OK"가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범주에 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D733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집계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798E49C-A379-664C-AA15-1D258C998E34}"/>
              </a:ext>
            </a:extLst>
          </p:cNvPr>
          <p:cNvSpPr/>
          <p:nvPr/>
        </p:nvSpPr>
        <p:spPr>
          <a:xfrm>
            <a:off x="8111711" y="2584536"/>
            <a:ext cx="2816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C6BFAD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뜻인데 표기가 달라 별개 항목으로 세어집니다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837EEE8-0934-E6A7-439B-5F23FE285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937" y="3429000"/>
            <a:ext cx="4233886" cy="317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5568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D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3291840" y="516636"/>
            <a:ext cx="8076895" cy="0"/>
          </a:xfrm>
          <a:prstGeom prst="line">
            <a:avLst/>
          </a:prstGeom>
          <a:noFill/>
          <a:ln w="12700">
            <a:solidFill>
              <a:srgbClr val="4A443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713231"/>
            <a:ext cx="10545775" cy="8446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답, 어디까지 믿어야 </a:t>
            </a:r>
            <a:r>
              <a:rPr kumimoji="0" lang="en-US" sz="2500" b="1" i="0" u="none" strike="noStrike" kern="1200" cap="none" spc="0" normalizeH="0" baseline="0" noProof="0" dirty="0" err="1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</a:t>
            </a:r>
            <a:r>
              <a:rPr kumimoji="0" 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r>
              <a:rPr kumimoji="0" lang="ko-KR" altLang="en-US" sz="2500" b="1" i="0" u="none" strike="noStrike" kern="1200" cap="none" spc="0" normalizeH="0" baseline="0" noProof="0" dirty="0">
                <a:ln>
                  <a:noFill/>
                </a:ln>
                <a:solidFill>
                  <a:srgbClr val="FFDF57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kumimoji="0" 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632764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80" normalizeH="0" baseline="0" noProof="0" dirty="0">
                <a:ln>
                  <a:noFill/>
                </a:ln>
                <a:solidFill>
                  <a:srgbClr val="6E6A5C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KISTI 실무 교육 · 대용량 연구 데이터 전처리·분석 자동화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529CE7-ED77-6A57-E445-6ED255D36298}"/>
              </a:ext>
            </a:extLst>
          </p:cNvPr>
          <p:cNvSpPr txBox="1"/>
          <p:nvPr/>
        </p:nvSpPr>
        <p:spPr>
          <a:xfrm>
            <a:off x="550333" y="1597185"/>
            <a:ext cx="11421534" cy="37866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DF57"/>
                </a:solidFill>
              </a:rPr>
              <a:t>코드 실행 값 </a:t>
            </a:r>
            <a:r>
              <a:rPr lang="en-US" altLang="ko-KR" dirty="0">
                <a:solidFill>
                  <a:srgbClr val="FFDF57"/>
                </a:solidFill>
              </a:rPr>
              <a:t>= </a:t>
            </a:r>
            <a:r>
              <a:rPr lang="ko-KR" altLang="en-US" dirty="0">
                <a:solidFill>
                  <a:srgbClr val="FFDF57"/>
                </a:solidFill>
              </a:rPr>
              <a:t>높은 확률로 믿고 쓸 수 있는 결과</a:t>
            </a:r>
            <a:r>
              <a:rPr lang="en-US" altLang="ko-KR" dirty="0">
                <a:solidFill>
                  <a:srgbClr val="FFDF57"/>
                </a:solidFill>
              </a:rPr>
              <a:t>,      LLM </a:t>
            </a:r>
            <a:r>
              <a:rPr lang="ko-KR" altLang="en-US" dirty="0">
                <a:solidFill>
                  <a:srgbClr val="FFDF57"/>
                </a:solidFill>
              </a:rPr>
              <a:t>추정 </a:t>
            </a:r>
            <a:r>
              <a:rPr lang="en-US" altLang="ko-KR" dirty="0">
                <a:solidFill>
                  <a:srgbClr val="FFDF57"/>
                </a:solidFill>
              </a:rPr>
              <a:t>= </a:t>
            </a:r>
            <a:r>
              <a:rPr lang="ko-KR" altLang="en-US" dirty="0">
                <a:solidFill>
                  <a:srgbClr val="FFDF57"/>
                </a:solidFill>
              </a:rPr>
              <a:t>감 잡는 참고 결과로 사용</a:t>
            </a:r>
            <a:endParaRPr lang="en-US" altLang="ko-KR" dirty="0">
              <a:solidFill>
                <a:srgbClr val="FFDF57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실습에서 코드로 얻은 값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>
                <a:solidFill>
                  <a:schemeClr val="bg1"/>
                </a:solidFill>
              </a:rPr>
              <a:t>행 수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평균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결측 개수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실습에서 </a:t>
            </a:r>
            <a:r>
              <a:rPr lang="en-US" altLang="ko-KR" dirty="0">
                <a:solidFill>
                  <a:schemeClr val="bg1"/>
                </a:solidFill>
              </a:rPr>
              <a:t>LLM</a:t>
            </a:r>
            <a:r>
              <a:rPr lang="ko-KR" altLang="en-US" dirty="0">
                <a:solidFill>
                  <a:schemeClr val="bg1"/>
                </a:solidFill>
              </a:rPr>
              <a:t>이 판단한 값</a:t>
            </a:r>
            <a:r>
              <a:rPr lang="en-US" altLang="ko-KR" dirty="0">
                <a:solidFill>
                  <a:schemeClr val="bg1"/>
                </a:solidFill>
              </a:rPr>
              <a:t>: </a:t>
            </a:r>
            <a:r>
              <a:rPr lang="ko-KR" altLang="en-US" dirty="0" err="1">
                <a:solidFill>
                  <a:schemeClr val="bg1"/>
                </a:solidFill>
              </a:rPr>
              <a:t>특정컬럼의</a:t>
            </a:r>
            <a:r>
              <a:rPr lang="ko-KR" altLang="en-US" dirty="0">
                <a:solidFill>
                  <a:schemeClr val="bg1"/>
                </a:solidFill>
              </a:rPr>
              <a:t> 의미를 시료 </a:t>
            </a:r>
            <a:r>
              <a:rPr lang="ko-KR" altLang="en-US" dirty="0" err="1">
                <a:solidFill>
                  <a:schemeClr val="bg1"/>
                </a:solidFill>
              </a:rPr>
              <a:t>농도일거라</a:t>
            </a:r>
            <a:r>
              <a:rPr lang="ko-KR" altLang="en-US" dirty="0">
                <a:solidFill>
                  <a:schemeClr val="bg1"/>
                </a:solidFill>
              </a:rPr>
              <a:t> 추측</a:t>
            </a: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>
              <a:solidFill>
                <a:schemeClr val="bg1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FFDF57"/>
                </a:solidFill>
              </a:rPr>
              <a:t>단</a:t>
            </a:r>
            <a:r>
              <a:rPr lang="en-US" altLang="ko-KR" dirty="0">
                <a:solidFill>
                  <a:srgbClr val="FFDF57"/>
                </a:solidFill>
              </a:rPr>
              <a:t>, Claude</a:t>
            </a:r>
            <a:r>
              <a:rPr lang="ko-KR" altLang="en-US" dirty="0">
                <a:solidFill>
                  <a:srgbClr val="FFDF57"/>
                </a:solidFill>
              </a:rPr>
              <a:t>가 사용자</a:t>
            </a:r>
            <a:r>
              <a:rPr lang="en-US" altLang="ko-KR" dirty="0">
                <a:solidFill>
                  <a:srgbClr val="FFDF57"/>
                </a:solidFill>
              </a:rPr>
              <a:t> </a:t>
            </a:r>
            <a:r>
              <a:rPr lang="ko-KR" altLang="en-US" dirty="0">
                <a:solidFill>
                  <a:srgbClr val="FFDF57"/>
                </a:solidFill>
              </a:rPr>
              <a:t>의도를 잘못 이해했거나 코드에 오류가 있으면 결과가 일관되게 틀림</a:t>
            </a:r>
            <a:endParaRPr lang="en-US" altLang="ko-KR" dirty="0">
              <a:solidFill>
                <a:srgbClr val="FFDF57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다만</a:t>
            </a:r>
            <a:r>
              <a:rPr lang="en-US" altLang="ko-KR" dirty="0">
                <a:solidFill>
                  <a:schemeClr val="bg1"/>
                </a:solidFill>
              </a:rPr>
              <a:t> </a:t>
            </a:r>
            <a:r>
              <a:rPr lang="ko-KR" altLang="en-US" dirty="0">
                <a:solidFill>
                  <a:schemeClr val="bg1"/>
                </a:solidFill>
              </a:rPr>
              <a:t>이는 사람 분석가도 동일하게 생기는 이슈라 </a:t>
            </a:r>
            <a:r>
              <a:rPr lang="en-US" altLang="ko-KR" dirty="0">
                <a:solidFill>
                  <a:schemeClr val="bg1"/>
                </a:solidFill>
              </a:rPr>
              <a:t>AI</a:t>
            </a:r>
            <a:r>
              <a:rPr lang="ko-KR" altLang="en-US" dirty="0">
                <a:solidFill>
                  <a:schemeClr val="bg1"/>
                </a:solidFill>
              </a:rPr>
              <a:t>를 안 쓸 이유는 아니며</a:t>
            </a:r>
            <a:r>
              <a:rPr lang="en-US" altLang="ko-KR" dirty="0">
                <a:solidFill>
                  <a:schemeClr val="bg1"/>
                </a:solidFill>
              </a:rPr>
              <a:t>, </a:t>
            </a:r>
            <a:r>
              <a:rPr lang="ko-KR" altLang="en-US" dirty="0">
                <a:solidFill>
                  <a:schemeClr val="bg1"/>
                </a:solidFill>
              </a:rPr>
              <a:t>중요한 데이터일수록 사람의 검증으로 </a:t>
            </a:r>
            <a:r>
              <a:rPr lang="en-US" altLang="ko-KR" dirty="0">
                <a:solidFill>
                  <a:schemeClr val="bg1"/>
                </a:solidFill>
              </a:rPr>
              <a:t>AI </a:t>
            </a:r>
            <a:r>
              <a:rPr lang="ko-KR" altLang="en-US" dirty="0">
                <a:solidFill>
                  <a:schemeClr val="bg1"/>
                </a:solidFill>
              </a:rPr>
              <a:t>보완 </a:t>
            </a:r>
            <a:endParaRPr lang="en-US" altLang="ko-KR" dirty="0">
              <a:solidFill>
                <a:schemeClr val="bg1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chemeClr val="bg1"/>
                </a:solidFill>
              </a:rPr>
              <a:t>계산 결과 안에도 해석이 숨을 수 있음 </a:t>
            </a:r>
            <a:r>
              <a:rPr lang="en-US" altLang="ko-KR" dirty="0">
                <a:solidFill>
                  <a:schemeClr val="bg1"/>
                </a:solidFill>
              </a:rPr>
              <a:t>— </a:t>
            </a:r>
            <a:r>
              <a:rPr lang="ko-KR" altLang="en-US" dirty="0">
                <a:solidFill>
                  <a:schemeClr val="bg1"/>
                </a:solidFill>
              </a:rPr>
              <a:t>평균을 내면서 이상치를 스스로 제외하는 식</a:t>
            </a:r>
            <a:r>
              <a:rPr lang="en-US" altLang="ko-KR" dirty="0">
                <a:solidFill>
                  <a:schemeClr val="bg1"/>
                </a:solidFill>
              </a:rPr>
              <a:t>. </a:t>
            </a:r>
            <a:r>
              <a:rPr lang="ko-KR" altLang="en-US" dirty="0">
                <a:solidFill>
                  <a:schemeClr val="bg1"/>
                </a:solidFill>
              </a:rPr>
              <a:t>가능하다면 코드가 무엇을 했는지 함께 확인 필요</a:t>
            </a:r>
            <a:endParaRPr lang="en-US" altLang="ko-K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2171</Words>
  <Application>Microsoft Office PowerPoint</Application>
  <PresentationFormat>와이드스크린</PresentationFormat>
  <Paragraphs>252</Paragraphs>
  <Slides>21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7" baseType="lpstr">
      <vt:lpstr>맑은 고딕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대용량 연구 데이터 전처리·분석 자동화 — 1교시</dc:title>
  <dc:subject>PptxGenJS Presentation</dc:subject>
  <dc:creator>KISTI</dc:creator>
  <cp:lastModifiedBy>think</cp:lastModifiedBy>
  <cp:revision>1</cp:revision>
  <dcterms:created xsi:type="dcterms:W3CDTF">2026-08-18T16:34:17Z</dcterms:created>
  <dcterms:modified xsi:type="dcterms:W3CDTF">2026-08-22T10:04:31Z</dcterms:modified>
</cp:coreProperties>
</file>