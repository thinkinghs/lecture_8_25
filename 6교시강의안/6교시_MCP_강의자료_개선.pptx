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쉬는 시간 종료 전 미리 띄워두고, 수강생 착석 중 다음 장(환경 점검)을 병행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--version 실패자는 조교 담당으로 분리, 본류 진행은 멈추지 않을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목표를 하나씩 낭독하기보다 '오늘은 연결하는 법과 지켜보는 법 둘'로 압축해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'실습이 30분 넘게 이어지니 개념 구간에서 집중해 달라' 정도의 가벼운 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'오전 내내 다룬 것은 전부 왼쪽 박스 안'임을 손으로 가리키며 상기.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 전공이 다양하므로 '여러분 분야의 60편을 떠올려 보라'는 한마디를 덧붙일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카드가 실습 STEP 1~3(연결) / STEP 4~7(관찰)과 1:1 대응임을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'17분 뒤 실습' 선언으로 집중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'가방 속 충전기가 몇 개인지'로 시작하면 반응이 좋음. 비유는 여기서 한 번만 쓰고 반복하지 않을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숫자만 바꿔 '우리 기관 도구가 100개라면?'으로 확장 질문.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'오늘은 그 수천 개 중 검증된 하나를 골라 연결하는 실습'으로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'오늘 우리가 할 일' 열을 읽어주며 '기억할 것은 서버 하나뿐'으로 부담을 줄일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'오늘 쓸 논문 서버는 tool 중심' 한 줄로 정리하고 빠르게 다음 장 이동.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'실습에서 눈으로 확인할 장면'임을 반복 강조 — 개념과 실습을 잇는 다리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코드에 부담을 느끼는 청중이므로 '읽을 곳은 세 군데'로 시야를 좁혀줄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7교시 복선의 핵심 장. '연구자에게 익숙한 작업'이라는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짧은 확인 질문 가능 — 'tool과 resource의 차이는?'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'검증 기준을 통과한 서버'라는 점을 짚고, 부록 FAQ Q2와 연결됨을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'이제 하나 연결해 보겠습니다'로 다음 장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오타가 잦은 지점은 -- 주변 공백. 프롬프트모음.txt 복사를 유도할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전원 동시 실행 시 다운로드 병목 가능 — 쉬는 시간에 캐시 예열을 마쳤다면 즉시 완료됨을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안에 마무리. 질문이 나오면 부록 치트시트에 명령이 있다고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'AI는 방금 여러분이 본 그 목록을 똑같이 봅니다. 이제 일을 시켜보고 어느 것을 고르는지 지켜보겠습니다.'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'답 먼저 읽지 말고, 지금 화면에 뜬 회색 줄부터 보십시오' — 결과보다 과정에 시선을 고정시키는 화법.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실수로 No 를 누른 수강생이 나올 수 있음 — 문제 해결 표 3행으로 즉시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겁주기가 아니라 습관 만들기가 목적 — '원칙 두 개만 몸에 배면 된다'는 톤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답변이 길게 나오면 '검색 요청이었기 때문' 한 군데로 요점을 고정.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안에 마무리. 개념 ③ 슬라이드를 손으로 되짚는 정도면 충분.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대기 시간이 곧 관찰 시간 — 화면의 호출 로그를 다시 짚어주며 시간을 활용.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부족 시 1순위 생략 구간 — 말로만 언급하고 통과.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부족 시 2순위 생략 — 7교시 도입부로 이월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 키워드 유도가 곧 속도 제한 분산책 — 강사만 인지하면 되는 부분.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중에는 건너뛰고, 문제 발생 시 이 장 번호를 불러 이동하는 용도.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문장을 수강생과 한 번씩 소리 내 읽으면 마무리 밀도가 올라감.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부족하면 통째로 생략 가능. 'MCP가 전부는 아니다'라는 감각만 남기면 충분.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'서버 안쪽은 이미 봤다'로 심리적 문턱을 낮추는 것이 이 장의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발표에서는 건너뛰고 질문이 나올 때 펼치는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는 수강 만족도와 직결되는 질문 — 나오면 이 장으로 정면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인쇄 배포 시 이 장만 단면 1장으로 뽑아 책상에 두게 하면 실습 속도가 올라감.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9816" y="2212848"/>
            <a:ext cx="512064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871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이해하기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외부 도구를 연결하는 표준 규격 — 개념과 구조, 그리고 기성 도구 연결 실습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3950208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8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 ·   6교시   ·   60분   ·   코드 직접 작성 없음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 ·  0–2분  ·  STEP 0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227832" y="448056"/>
            <a:ext cx="830549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 환경 점검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세 가지가 통과되면, 앞 교시를 듣지 않았어도 오늘 실습은 진행 가능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3490874" cy="2615184"/>
          </a:xfrm>
          <a:prstGeom prst="roundRect">
            <a:avLst>
              <a:gd name="adj" fmla="val 1748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53312" y="1883664"/>
            <a:ext cx="2576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 열기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[시작] 버튼 → powershell 입력</a:t>
            </a:r>
            <a:endParaRPr lang="en-US" sz="105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Windows PowerShell 클릭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858768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검은 명령창이 열림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0410" y="1700784"/>
            <a:ext cx="3490874" cy="2615184"/>
          </a:xfrm>
          <a:prstGeom prst="roundRect">
            <a:avLst>
              <a:gd name="adj" fmla="val 1748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8154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45354" y="1883664"/>
            <a:ext cx="2576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확인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88154" y="2322576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줄을 차례로 입력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88154" y="2980944"/>
            <a:ext cx="3015386" cy="713232"/>
          </a:xfrm>
          <a:prstGeom prst="roundRect">
            <a:avLst>
              <a:gd name="adj" fmla="val 5128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2746" y="3035808"/>
            <a:ext cx="26862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1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88154" y="3858768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각각 버전 번호가 한 줄씩 출력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2453" y="1700784"/>
            <a:ext cx="3490874" cy="2615184"/>
          </a:xfrm>
          <a:prstGeom prst="roundRect">
            <a:avLst>
              <a:gd name="adj" fmla="val 1748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0197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37397" y="1883664"/>
            <a:ext cx="2576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폴더로 이동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80197" y="2322576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1교시에 만든 폴더로 이동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80197" y="2980944"/>
            <a:ext cx="3015386" cy="713232"/>
          </a:xfrm>
          <a:prstGeom prst="roundRect">
            <a:avLst>
              <a:gd name="adj" fmla="val 5128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4789" y="3035808"/>
            <a:ext cx="26862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C:\kisti-lab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80197" y="3858768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프롬프트가 PS C:\kisti-lab&gt; 로 변경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626864"/>
            <a:ext cx="10874959" cy="1024128"/>
          </a:xfrm>
          <a:prstGeom prst="roundRect">
            <a:avLst>
              <a:gd name="adj" fmla="val 446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폴더가 없는 경우  ·  미참석자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50840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mkdir C:\kisti-lab   →   cd C:\kisti-lab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경로에 한글과 공백이 없는 폴더를 권장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4791456"/>
            <a:ext cx="50227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확인에서 오류가 나면 손을 들어 주시기 바랍니다.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조교가 1교시 설치 절차로 복구하며, 그동안 본 진행은 계속됩니다.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 ·  2–3분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071116" y="448056"/>
            <a:ext cx="9462211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뒤에는 외부 도구가 연결된 Claude Code 환경과, 도구 호출 과정을 읽는 기준을 갖게 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2567864" cy="2377440"/>
          </a:xfrm>
          <a:prstGeom prst="roundRect">
            <a:avLst>
              <a:gd name="adj" fmla="val 1923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01952"/>
            <a:ext cx="212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77824" y="2249424"/>
            <a:ext cx="2128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무엇이고</a:t>
            </a:r>
            <a:endParaRPr lang="en-US" sz="13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표준이 되었는지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3127248"/>
            <a:ext cx="212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정의와 등장 배경을 자기 말로 설명할 수 있는 수준까지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7400" y="1700784"/>
            <a:ext cx="2567864" cy="2377440"/>
          </a:xfrm>
          <a:prstGeom prst="roundRect">
            <a:avLst>
              <a:gd name="adj" fmla="val 1923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6856" y="1901952"/>
            <a:ext cx="212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46856" y="2249424"/>
            <a:ext cx="2128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호스트·클라이언트·서버</a:t>
            </a:r>
            <a:endParaRPr lang="en-US" sz="13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구조의 구분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46856" y="3127248"/>
            <a:ext cx="212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tool·resource·스키마가 각각 무엇을 맡는지 구분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6432" y="1700784"/>
            <a:ext cx="2567864" cy="2377440"/>
          </a:xfrm>
          <a:prstGeom prst="roundRect">
            <a:avLst>
              <a:gd name="adj" fmla="val 1923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1901952"/>
            <a:ext cx="212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15888" y="2249424"/>
            <a:ext cx="2128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서버를</a:t>
            </a:r>
            <a:endParaRPr lang="en-US" sz="13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연결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15888" y="3127248"/>
            <a:ext cx="212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mcp add 명령으로 등록하고 연결 상태를 확인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5463" y="1700784"/>
            <a:ext cx="2567864" cy="2377440"/>
          </a:xfrm>
          <a:prstGeom prst="roundRect">
            <a:avLst>
              <a:gd name="adj" fmla="val 1923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4919" y="1901952"/>
            <a:ext cx="212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84919" y="2249424"/>
            <a:ext cx="2128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도구 선택을</a:t>
            </a:r>
            <a:endParaRPr lang="en-US" sz="13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화면으로 확인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84919" y="3127248"/>
            <a:ext cx="212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표시와 승인 질문을 근거로 선택 과정을 설명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352544"/>
            <a:ext cx="10874959" cy="1298448"/>
          </a:xfrm>
          <a:prstGeom prst="roundRect">
            <a:avLst>
              <a:gd name="adj" fmla="val 3521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5171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교시의 결과물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2688" y="480974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MCP 도구(arXiv 논문 검색)가 연결된</a:t>
            </a:r>
            <a:endParaRPr lang="en-US" sz="15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환경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688" y="53766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도구 호출 로그를 읽는 기준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16368" y="4754880"/>
            <a:ext cx="37426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 한 줄로 함수가 도구가 되는 원리는</a:t>
            </a:r>
            <a:endParaRPr lang="en-US" sz="105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코드로 훑어보고, 실제 제작은 7교시에서 진행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 ·  3분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860804" y="448056"/>
            <a:ext cx="967252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로드맵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개념에 17분을 배정한 이유는, 실습 화면에서 무엇을 봐야 하는지 먼저 정해두기 위함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307635" cy="457200"/>
          </a:xfrm>
          <a:prstGeom prst="roundRect">
            <a:avLst>
              <a:gd name="adj" fmla="val 8917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28800"/>
            <a:ext cx="307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0867" y="1828800"/>
            <a:ext cx="670133" cy="457200"/>
          </a:xfrm>
          <a:prstGeom prst="roundRect">
            <a:avLst>
              <a:gd name="adj" fmla="val 600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0867" y="1828800"/>
            <a:ext cx="6701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하는가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6547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45864" y="1828800"/>
            <a:ext cx="3026374" cy="457200"/>
          </a:xfrm>
          <a:prstGeom prst="roundRect">
            <a:avLst>
              <a:gd name="adj" fmla="val 6000"/>
            </a:avLst>
          </a:prstGeom>
          <a:solidFill>
            <a:srgbClr val="FFD733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5864" y="1828800"/>
            <a:ext cx="302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브리핑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71544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27102" y="1828800"/>
            <a:ext cx="5745114" cy="457200"/>
          </a:xfrm>
          <a:prstGeom prst="roundRect">
            <a:avLst>
              <a:gd name="adj" fmla="val 6000"/>
            </a:avLst>
          </a:prstGeom>
          <a:solidFill>
            <a:srgbClr val="FFD733"/>
          </a:solidFill>
          <a:ln w="9525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7102" y="1828800"/>
            <a:ext cx="5745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52782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627081" y="1828800"/>
            <a:ext cx="906247" cy="457200"/>
          </a:xfrm>
          <a:prstGeom prst="roundRect">
            <a:avLst>
              <a:gd name="adj" fmla="val 600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27081" y="1828800"/>
            <a:ext cx="906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352761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59007" y="23408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" y="2926080"/>
            <a:ext cx="10874959" cy="493776"/>
          </a:xfrm>
          <a:prstGeom prst="rect">
            <a:avLst/>
          </a:prstGeom>
          <a:solidFill>
            <a:srgbClr val="13120D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292608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환경 점검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35808" y="292608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78808" y="2926080"/>
            <a:ext cx="71259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실습 환경 확인 (STEP 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41985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하는가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35808" y="341985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78808" y="3419856"/>
            <a:ext cx="71259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현장 사례로 필요성 확인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3913632"/>
            <a:ext cx="10874959" cy="493776"/>
          </a:xfrm>
          <a:prstGeom prst="rect">
            <a:avLst/>
          </a:prstGeom>
          <a:solidFill>
            <a:srgbClr val="13120D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391363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브리핑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35808" y="391363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6–23분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78808" y="3913632"/>
            <a:ext cx="71259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 / 구조 / FastMCP 코드 읽기 — 이 교시는 개념 비중이 큼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" y="440740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035808" y="440740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23–55분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78808" y="4407408"/>
            <a:ext cx="71259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연결 → 도구 확인 → 논문 검색·요약 → 호출 과정 관찰 (STEP 1~7)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4901184"/>
            <a:ext cx="10874959" cy="493776"/>
          </a:xfrm>
          <a:prstGeom prst="rect">
            <a:avLst/>
          </a:prstGeom>
          <a:solidFill>
            <a:srgbClr val="13120D"/>
          </a:solidFill>
          <a:ln/>
        </p:spPr>
      </p:sp>
      <p:sp>
        <p:nvSpPr>
          <p:cNvPr id="37" name="Text 35"/>
          <p:cNvSpPr/>
          <p:nvPr/>
        </p:nvSpPr>
        <p:spPr>
          <a:xfrm>
            <a:off x="896112" y="490118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Q&amp;A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035808" y="490118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78808" y="4901184"/>
            <a:ext cx="71259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요약, 7교시 예고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" y="5541264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5778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카드 4장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등록 범위(스코프)    ②  안전 원칙    ③  도구 선택의 원리    ④  서버의 두 형태  —  실습 단계 사이에 1~2분씩 배치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하는가  ·  3–4분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386584" y="448056"/>
            <a:ext cx="914674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AI가 다룰 수 있던 범위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1~5교시에서 다룬 것은 모두 내 컴퓨터 안의 파일 — 정작 연구 재료는 대부분 바깥에 있음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3931920" cy="3401568"/>
          </a:xfrm>
          <a:prstGeom prst="roundRect">
            <a:avLst>
              <a:gd name="adj" fmla="val 1344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385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손이 닿는 범위  ·  1~5교시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23042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29260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폴더 안의 CSV 파일</a:t>
            </a:r>
            <a:endParaRPr lang="en-US" sz="12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직접 작성한 스크립트</a:t>
            </a:r>
            <a:endParaRPr lang="en-US" sz="12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분석 결과 파일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0016" y="3163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6864" y="356616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· 붙여넣기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(사람이 직접)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88736" y="1773936"/>
            <a:ext cx="5644591" cy="987552"/>
          </a:xfrm>
          <a:prstGeom prst="roundRect">
            <a:avLst>
              <a:gd name="adj" fmla="val 4630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2029968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38544" y="1993392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저장소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38544" y="2322576"/>
            <a:ext cx="4638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· PubMed · 학술 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88736" y="2980944"/>
            <a:ext cx="5644591" cy="987552"/>
          </a:xfrm>
          <a:prstGeom prst="roundRect">
            <a:avLst>
              <a:gd name="adj" fmla="val 4630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32369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38544" y="3200400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장비 · 계측 서버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38544" y="3529584"/>
            <a:ext cx="4638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데이터가 쌓이는 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88736" y="4187952"/>
            <a:ext cx="5644591" cy="987552"/>
          </a:xfrm>
          <a:prstGeom prst="roundRect">
            <a:avLst>
              <a:gd name="adj" fmla="val 4630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4443984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38544" y="4407408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과제 시스템 · 사내 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38544" y="4736592"/>
            <a:ext cx="4638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내부망 안의 자료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5504688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412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닿지 않는 곳의 자료는 결국 사람이 옮겨야 함 — 자동화가 마지막에 막히는 지점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하는가  ·  4–5분  ·  연구 현장 사례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753612" y="448056"/>
            <a:ext cx="77797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60편 정리에 걸리던 시간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논문을 준비하던 대학원생의 실제 작업 방식과, 검색 도구를 연결했을 때의 차이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4751680" cy="3200400"/>
          </a:xfrm>
          <a:prstGeom prst="roundRect">
            <a:avLst>
              <a:gd name="adj" fmla="val 1429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75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 ·  사람의 이틀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2322576"/>
            <a:ext cx="420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32688" y="3145536"/>
            <a:ext cx="420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검색  →  초록 복사  →  엑셀에 붙여넣기</a:t>
            </a:r>
            <a:endParaRPr lang="en-US" sz="12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같은 작업을 60번 반복</a:t>
            </a:r>
            <a:endParaRPr lang="en-US" sz="1200" dirty="0"/>
          </a:p>
          <a:p>
            <a:pPr algn="l" indent="0" marL="0">
              <a:lnSpc>
                <a:spcPct val="142000"/>
              </a:lnSpc>
              <a:buNone/>
            </a:pPr>
            <a:endParaRPr lang="en-US" sz="12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검색어를 바꿀 때마다 처음부터 다시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8064" y="309981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781648" y="1773936"/>
            <a:ext cx="4751680" cy="3200400"/>
          </a:xfrm>
          <a:prstGeom prst="roundRect">
            <a:avLst>
              <a:gd name="adj" fmla="val 1429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5968" y="1975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 ·  AI의 몇 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55968" y="2322576"/>
            <a:ext cx="420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몇 번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55968" y="3145536"/>
            <a:ext cx="420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주제 논문 검색해서 표로 정리해줘” 한 문장</a:t>
            </a:r>
            <a:endParaRPr lang="en-US" sz="12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AI가 검색·수집·정리를 도구로 직접 수행</a:t>
            </a:r>
            <a:endParaRPr lang="en-US" sz="1200" dirty="0"/>
          </a:p>
          <a:p>
            <a:pPr algn="l" indent="0" marL="0">
              <a:lnSpc>
                <a:spcPct val="142000"/>
              </a:lnSpc>
              <a:buNone/>
            </a:pPr>
            <a:endParaRPr lang="en-US" sz="12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주제를 바꾸면 문장만 바꿔 다시 요청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5413248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4982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상태를 각자의 PC에서 그대로 재현 — 32분 실습 구간의 목표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하는가  ·  5–6분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386584" y="448056"/>
            <a:ext cx="914674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익히는 것은 두 가지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도구를 명령어 한 줄로 연결하는 방법, 그리고 AI가 그 도구를 고르는 과정을 확인하는 방법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5282032" cy="3127248"/>
          </a:xfrm>
          <a:prstGeom prst="roundRect">
            <a:avLst>
              <a:gd name="adj" fmla="val 1462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87552" y="2743200"/>
            <a:ext cx="462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7552" y="3383280"/>
            <a:ext cx="462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만들어 둔 검증된 MCP 도구를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한 줄로 내 Claude Code에 등록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4389120"/>
            <a:ext cx="462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STEP 1 ~ 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1296" y="1773936"/>
            <a:ext cx="5282032" cy="3127248"/>
          </a:xfrm>
          <a:prstGeom prst="roundRect">
            <a:avLst>
              <a:gd name="adj" fmla="val 1462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0480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80480" y="2743200"/>
            <a:ext cx="462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관찰하기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0480" y="3383280"/>
            <a:ext cx="462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연결한 뒤, AI가 그 도구를 스스로 골라 쓰는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과정을 화면의 호출 표시로 확인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0480" y="4389120"/>
            <a:ext cx="462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STEP 4 ~ 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766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가지가 되면 → 7교시에서는 연구실 전용 도구를 직접 만들어 연결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브리핑  ·  6–23분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596896" y="448056"/>
            <a:ext cx="8936431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개념은 세 걸음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17분 뒤 실습을 시작합니다. 세 걸음을 거치면 실습 화면에서 무엇을 봐야 하는지가 정해집니다.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3490874" cy="3054096"/>
          </a:xfrm>
          <a:prstGeom prst="roundRect">
            <a:avLst>
              <a:gd name="adj" fmla="val 1497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34842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29788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218688"/>
            <a:ext cx="2978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규격의 정의와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등장 배경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078224"/>
            <a:ext cx="297881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규격이 하나로 통일된다는 의미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연결 부담이 줄어드는 구조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2026년 현재의 위치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0410" y="1975104"/>
            <a:ext cx="3490874" cy="3054096"/>
          </a:xfrm>
          <a:prstGeom prst="roundRect">
            <a:avLst>
              <a:gd name="adj" fmla="val 1497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6442" y="21945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26885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6442" y="2670048"/>
            <a:ext cx="29788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606442" y="3218688"/>
            <a:ext cx="2978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· 클라이언트 · 서버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· resource · 스키마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06442" y="4078224"/>
            <a:ext cx="297881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세 요소가 각각 맡는 역할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서버가 제공하는 두 가지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AI가 도구를 고르는 근거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2453" y="1975104"/>
            <a:ext cx="3490874" cy="3054096"/>
          </a:xfrm>
          <a:prstGeom prst="roundRect">
            <a:avLst>
              <a:gd name="adj" fmla="val 1497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8485" y="21945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618927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8485" y="2670048"/>
            <a:ext cx="29788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FastMCP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98485" y="3218688"/>
            <a:ext cx="2978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함수가 도구가 되는 원리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읽기만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98485" y="4078224"/>
            <a:ext cx="297881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@mcp.tool 한 줄의 역할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시그니처와 docstring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7교시 제작의 예고편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①  ·  6–9분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9251899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 무엇인가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외부 도구가 주고받는 방식을 하나로 통일한 개방형 규격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10874959" cy="1133856"/>
          </a:xfrm>
          <a:prstGeom prst="roundRect">
            <a:avLst>
              <a:gd name="adj" fmla="val 4032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50976" y="21396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(Model Context Protocol)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0976" y="25237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도구가 통신하는 방식을 통일한 오픈 표준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24928" y="1993392"/>
            <a:ext cx="38340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말 Anthropic이 공개</a:t>
            </a:r>
            <a:endParaRPr lang="en-US" sz="105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12월 Linux Foundation 산하 재단으로 이관</a:t>
            </a:r>
            <a:endParaRPr lang="en-US" sz="105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회사의 자산이 아닌 중립 표준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108960"/>
            <a:ext cx="5026000" cy="2103120"/>
          </a:xfrm>
          <a:prstGeom prst="roundRect">
            <a:avLst>
              <a:gd name="adj" fmla="val 2174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10년 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3602736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제조사마다 다른 충전 단자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4114800"/>
            <a:ext cx="447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기기마다 충전기가 따로 필요했고,</a:t>
            </a:r>
            <a:endParaRPr lang="en-US" sz="11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제조사도 기기마다 다른 단자를 만들어야 했음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57520" y="397764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07328" y="3108960"/>
            <a:ext cx="5026000" cy="2103120"/>
          </a:xfrm>
          <a:prstGeom prst="roundRect">
            <a:avLst>
              <a:gd name="adj" fmla="val 2174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1648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 ·  USB-C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81648" y="3602736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단자 하나로 통일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81648" y="4114800"/>
            <a:ext cx="447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노트북·휴대폰·이어폰을 같은 케이블로 충전</a:t>
            </a:r>
            <a:endParaRPr lang="en-US" sz="11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달라진 것은 기술이 아니라 규격의 통일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229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제작자는 MCP 규격만 한 번 지키면 되고, AI 쪽은 MCP를 지원하는 것으로 모든 도구와 연결 가능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①  ·  9–11분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386584" y="448056"/>
            <a:ext cx="914674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표준이 필요했나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3종과 도구 10개를 잇는 데 서른 가지 연결 방식이 필요하던 구조를, 열세 가지로 줄이는 것이 핵심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5208880" cy="3291840"/>
          </a:xfrm>
          <a:prstGeom prst="roundRect">
            <a:avLst>
              <a:gd name="adj" fmla="val 1389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연동  ·  N × 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1288" y="2487168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487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61288" y="3054096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540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61288" y="36210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6210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49928" y="2487168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9928" y="2487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49928" y="3054096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9928" y="30540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49928" y="36210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9928" y="36210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75688" y="2688336"/>
            <a:ext cx="2374240" cy="0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5688" y="2688336"/>
            <a:ext cx="2374240" cy="566928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5688" y="2688336"/>
            <a:ext cx="2374240" cy="1133856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075688" y="2688336"/>
            <a:ext cx="2374240" cy="566928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75688" y="3255264"/>
            <a:ext cx="2374240" cy="0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5688" y="3255264"/>
            <a:ext cx="2374240" cy="566928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075688" y="2688336"/>
            <a:ext cx="2374240" cy="1133856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075688" y="3255264"/>
            <a:ext cx="2374240" cy="566928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5688" y="3822192"/>
            <a:ext cx="2374240" cy="0"/>
          </a:xfrm>
          <a:prstGeom prst="line">
            <a:avLst/>
          </a:prstGeom>
          <a:noFill/>
          <a:ln w="9525">
            <a:solidFill>
              <a:srgbClr val="6B6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53542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서비스와 도구를 짝지을 때마다 별도의 연결 코드가 필요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4448" y="1773936"/>
            <a:ext cx="5208880" cy="3291840"/>
          </a:xfrm>
          <a:prstGeom prst="roundRect">
            <a:avLst>
              <a:gd name="adj" fmla="val 1389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8768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경유  ·  N + 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81648" y="2487168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1648" y="2487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96048" y="2688336"/>
            <a:ext cx="775640" cy="566928"/>
          </a:xfrm>
          <a:prstGeom prst="line">
            <a:avLst/>
          </a:prstGeom>
          <a:noFill/>
          <a:ln w="12700">
            <a:solidFill>
              <a:srgbClr val="FFD7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61727" y="2487168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61727" y="2487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V="1">
            <a:off x="9386087" y="2688336"/>
            <a:ext cx="775640" cy="566928"/>
          </a:xfrm>
          <a:prstGeom prst="line">
            <a:avLst/>
          </a:prstGeom>
          <a:noFill/>
          <a:ln w="12700">
            <a:solidFill>
              <a:srgbClr val="FFD7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81648" y="3054096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1648" y="30540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96048" y="3255264"/>
            <a:ext cx="775640" cy="0"/>
          </a:xfrm>
          <a:prstGeom prst="line">
            <a:avLst/>
          </a:prstGeom>
          <a:noFill/>
          <a:ln w="12700">
            <a:solidFill>
              <a:srgbClr val="FFD7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61727" y="3054096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61727" y="30540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86087" y="3255264"/>
            <a:ext cx="775640" cy="0"/>
          </a:xfrm>
          <a:prstGeom prst="line">
            <a:avLst/>
          </a:prstGeom>
          <a:noFill/>
          <a:ln w="12700">
            <a:solidFill>
              <a:srgbClr val="FFD7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1648" y="36210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1648" y="36210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 flipV="1">
            <a:off x="7696048" y="3255264"/>
            <a:ext cx="775640" cy="566928"/>
          </a:xfrm>
          <a:prstGeom prst="line">
            <a:avLst/>
          </a:prstGeom>
          <a:noFill/>
          <a:ln w="12700">
            <a:solidFill>
              <a:srgbClr val="FFD7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61727" y="3621024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61727" y="36210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86087" y="3255264"/>
            <a:ext cx="775640" cy="566928"/>
          </a:xfrm>
          <a:prstGeom prst="line">
            <a:avLst/>
          </a:prstGeom>
          <a:noFill/>
          <a:ln w="12700">
            <a:solidFill>
              <a:srgbClr val="FFD7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71687" y="3054096"/>
            <a:ext cx="914400" cy="402336"/>
          </a:xfrm>
          <a:prstGeom prst="roundRect">
            <a:avLst>
              <a:gd name="adj" fmla="val 11364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71687" y="30540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598768" y="453542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모두 MCP 규격을 한 번만 구현하면 서로 연결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8368" y="5449824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54864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부담이  N × M  에서  N + M  으로 — 도구가 늘어날수록 차이가 커지는 구조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①  ·  11–12분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491740" y="448056"/>
            <a:ext cx="904158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표준으로 자리잡은 과정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2년 만에 주요 AI 회사들이 채택하며, 2026년 현재 사실상의 업계 표준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3350666" cy="2926080"/>
          </a:xfrm>
          <a:prstGeom prst="roundRect">
            <a:avLst>
              <a:gd name="adj" fmla="val 1563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283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말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2838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공개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163824"/>
            <a:ext cx="28386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MCP를 오픈 표준으로 공개.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주요 AI 회사들이 잇따라 채택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7322" y="3163824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20514" y="1975104"/>
            <a:ext cx="3350666" cy="2926080"/>
          </a:xfrm>
          <a:prstGeom prst="roundRect">
            <a:avLst>
              <a:gd name="adj" fmla="val 1563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6546" y="2194560"/>
            <a:ext cx="283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12월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76546" y="2542032"/>
            <a:ext cx="2838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 표준으로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76546" y="3163824"/>
            <a:ext cx="28386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MCP를 Linux Foundation 산하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Foundation에 기증.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특정 회사가 아닌 재단이 관리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89469" y="3163824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82661" y="1975104"/>
            <a:ext cx="3350666" cy="2926080"/>
          </a:xfrm>
          <a:prstGeom prst="roundRect">
            <a:avLst>
              <a:gd name="adj" fmla="val 1563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8693" y="2194560"/>
            <a:ext cx="283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현재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38693" y="2542032"/>
            <a:ext cx="2838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사실상 표준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38693" y="3163824"/>
            <a:ext cx="283860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서버가 수만 개 규모.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대규모 규격 개정으로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환경까지 대상 확대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5358384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9496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함의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배우는 연결 방법 하나로 이 생태계 전체가 선택지가 되고, 특정 회사에 묶이지 않는 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②  ·  12–15분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491740" y="448056"/>
            <a:ext cx="904158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MCP의 구조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품은 프로그램(호스트) 안의 연결 담당 부품(클라이언트)이, 기능을 제공하는 서버와 통신하는 구조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5669280" cy="1371600"/>
          </a:xfrm>
          <a:prstGeom prst="roundRect">
            <a:avLst>
              <a:gd name="adj" fmla="val 3333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20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 ·  HOST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D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모델을 품은 프로그램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58768" y="2121408"/>
            <a:ext cx="2194560" cy="658368"/>
          </a:xfrm>
          <a:prstGeom prst="roundRect">
            <a:avLst>
              <a:gd name="adj" fmla="val 6944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58768" y="2450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· 통신 담당 부품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19088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7648" y="26334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규격으로 통신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24928" y="1737360"/>
            <a:ext cx="4108399" cy="1371600"/>
          </a:xfrm>
          <a:prstGeom prst="roundRect">
            <a:avLst>
              <a:gd name="adj" fmla="val 3333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 ·  SERVER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699248" y="2212848"/>
            <a:ext cx="3559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논문 검색 서버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99248" y="2651760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기능을 제공하는 쪽 — 오늘 연결할 대상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346704"/>
            <a:ext cx="10874959" cy="365760"/>
          </a:xfrm>
          <a:prstGeom prst="rect">
            <a:avLst/>
          </a:prstGeom>
          <a:solidFill>
            <a:srgbClr val="1A1810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346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93008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73568" y="3346704"/>
            <a:ext cx="3559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우리가 할 일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37124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(Host)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93008" y="37124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모델을 품고 사용자와 대화하는 프로그램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73568" y="3712464"/>
            <a:ext cx="3559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— 그대로 사용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4261104"/>
            <a:ext cx="10874959" cy="548640"/>
          </a:xfrm>
          <a:prstGeom prst="rect">
            <a:avLst/>
          </a:prstGeom>
          <a:solidFill>
            <a:srgbClr val="13120D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42611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(Client)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93008" y="42611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안에서 서버와의 연결·통신을 담당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73568" y="4261104"/>
            <a:ext cx="3559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처리 — 존재만 알면 됨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6112" y="48097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(Server)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93008" y="48097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검색 등 실제 기능을 제공하는 쪽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73568" y="4809744"/>
            <a:ext cx="3559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하나를 연결해 볼 것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6656" y="554126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여기서 '서버'는 전산실 장비가 아니라, 내 PC 안에서 조용히 실행되는 작은 프로그램을 가리킴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②  ·  15–16분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491740" y="448056"/>
            <a:ext cx="904158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제공하는 두 가지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실행하는 기능(tool)과, AI가 읽어 들이는 데이터(resource)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254600" cy="3291840"/>
          </a:xfrm>
          <a:prstGeom prst="roundRect">
            <a:avLst>
              <a:gd name="adj" fmla="val 1389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실습의 중심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50976" y="2340864"/>
            <a:ext cx="466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0976" y="2871216"/>
            <a:ext cx="466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실행하는 기능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0976" y="3291840"/>
            <a:ext cx="466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0976" y="3584448"/>
            <a:ext cx="4669384" cy="1188720"/>
          </a:xfrm>
          <a:prstGeom prst="roundRect">
            <a:avLst>
              <a:gd name="adj" fmla="val 3077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639312"/>
            <a:ext cx="434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search_papers()   논문을 검색한다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download_paper()  논문을 내려받는다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1810512"/>
            <a:ext cx="5254600" cy="3291840"/>
          </a:xfrm>
          <a:prstGeom prst="roundRect">
            <a:avLst>
              <a:gd name="adj" fmla="val 1389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1336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참고만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71336" y="2340864"/>
            <a:ext cx="466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71336" y="2871216"/>
            <a:ext cx="466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읽어 들이는 데이터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71336" y="3291840"/>
            <a:ext cx="466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71336" y="3621024"/>
            <a:ext cx="466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파일, 문서처럼 읽어서 참고하는 자료.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실행되는 것이 아니라 내용이 전달되는 쪽.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5230368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669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 기준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“실행” 하면 tool,  AI가 “읽기만” 하면 resource  —  오늘 연결할 논문 서버는 tool 중심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" y="59436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서버는 prompt(미리 준비된 명령문)도 제공할 수 있으며, Claude Code 에서 /mcp__서버명__프롬프트명 형태로 실행됩니다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②  ·  16–18분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491740" y="448056"/>
            <a:ext cx="904158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— AI가 도구를 고르는 근거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tool에는 무엇을 받아 무엇을 돌려주는지 적힌 설명서가 함께 붙어 있음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5029200" cy="3017520"/>
          </a:xfrm>
          <a:prstGeom prst="roundRect">
            <a:avLst>
              <a:gd name="adj" fmla="val 1515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975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설명서  ·  스키마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50976" y="226771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0976" y="2688336"/>
            <a:ext cx="4443984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743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29968" y="274320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검색한다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3236976"/>
            <a:ext cx="4443984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2918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9968" y="329184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검색어(문자열)  ·  최대 개수(숫자)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0976" y="3785616"/>
            <a:ext cx="4443984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8404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29968" y="384048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목록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4462272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도구에도 같은 형식의 설명서가 각각 붙어 있음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42432" y="305409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37376" y="1773936"/>
            <a:ext cx="5095951" cy="3017520"/>
          </a:xfrm>
          <a:prstGeom prst="roundRect">
            <a:avLst>
              <a:gd name="adj" fmla="val 1515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975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설명서를 보는 방식  ·  2026년 기준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29984" y="2267712"/>
            <a:ext cx="4510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이름만, 필요할 때 불러옴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729984" y="2743200"/>
            <a:ext cx="4510735" cy="384048"/>
          </a:xfrm>
          <a:prstGeom prst="roundRect">
            <a:avLst>
              <a:gd name="adj" fmla="val 9524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2743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743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시작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68512" y="2743200"/>
            <a:ext cx="25722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이름과 서버 소개문만 올려둠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9984" y="3200400"/>
            <a:ext cx="4510735" cy="384048"/>
          </a:xfrm>
          <a:prstGeom prst="roundRect">
            <a:avLst>
              <a:gd name="adj" fmla="val 9524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32004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도착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68512" y="3200400"/>
            <a:ext cx="25722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관련된 도구를 검색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9984" y="3657600"/>
            <a:ext cx="4510735" cy="384048"/>
          </a:xfrm>
          <a:prstGeom prst="roundRect">
            <a:avLst>
              <a:gd name="adj" fmla="val 9524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 로드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68512" y="3657600"/>
            <a:ext cx="25722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도구의 설명서만 읽어 들임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9984" y="4114800"/>
            <a:ext cx="4510735" cy="384048"/>
          </a:xfrm>
          <a:prstGeom prst="roundRect">
            <a:avLst>
              <a:gd name="adj" fmla="val 9524"/>
            </a:avLst>
          </a:prstGeom>
          <a:solidFill>
            <a:srgbClr val="1A1810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68512" y="4114800"/>
            <a:ext cx="25722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맞는 도구를 골라 실행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" y="5029200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065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“이 도구를 써” 라고 지정하는 것이 아니라, AI가 설명서와 요청 문장을 대조해 스스로 선택하는 구조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" y="572414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2026년 1월부터 Claude Code 는 도구 설명서를 미리 다 올리지 않고 필요할 때 검색해 불러옵니다(도구 검색). 덕분에 서버를 여러 개 붙여도 부담이 적습니다.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③  ·  18–20분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491740" y="448056"/>
            <a:ext cx="904158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FastMCP 코드 살펴보기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함수 위에 @mcp.tool 한 줄을 붙이면, 그 함수가 MCP 도구로 등록됨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10874959" cy="402336"/>
          </a:xfrm>
          <a:prstGeom prst="roundRect">
            <a:avLst>
              <a:gd name="adj" fmla="val 11364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00784"/>
            <a:ext cx="103263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읽기만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따라 입력하지 않아도 됩니다. 직접 제작은 7교시에서 진행합니다.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67712"/>
            <a:ext cx="6858000" cy="2889504"/>
          </a:xfrm>
          <a:prstGeom prst="roundRect">
            <a:avLst>
              <a:gd name="adj" fmla="val 1266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652881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fastmcp import FastMCP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= FastMCP("내 연구 도우미")      # 서버에 이름 붙이기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                          # ①  이 한 줄이 도구로 등록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count_rows(csv_path: str) -&gt; int:      # ②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"""CSV 파일의 데이터 행 수를 센다."""    # ③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                          # (실제 계산 코드 자리)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mcp.run()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08976" y="2267712"/>
            <a:ext cx="37243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곳은 세 군데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08976" y="2560320"/>
            <a:ext cx="3724351" cy="804672"/>
          </a:xfrm>
          <a:prstGeom prst="roundRect">
            <a:avLst>
              <a:gd name="adj" fmla="val 5682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61518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2752" y="2615184"/>
            <a:ext cx="3065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02752" y="2907792"/>
            <a:ext cx="30659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함수를 AI가 쓸 수 있는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도구로 등록하는 표시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08976" y="3456432"/>
            <a:ext cx="3724351" cy="804672"/>
          </a:xfrm>
          <a:prstGeom prst="roundRect">
            <a:avLst>
              <a:gd name="adj" fmla="val 5682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73568" y="35112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2752" y="3511296"/>
            <a:ext cx="3065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(csv_path: str) -&gt; int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02752" y="3803904"/>
            <a:ext cx="30659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받아 무엇을 돌려주는지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적힌 부분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08976" y="4352544"/>
            <a:ext cx="3724351" cy="804672"/>
          </a:xfrm>
          <a:prstGeom prst="roundRect">
            <a:avLst>
              <a:gd name="adj" fmla="val 5682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3568" y="44074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02752" y="4407408"/>
            <a:ext cx="3065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"""docstring"""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02752" y="4700016"/>
            <a:ext cx="30659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하는 일을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적은 설명문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5376672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41324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군데가 어떻게 앞에서 본 '설명서'로 바뀌는지 살펴봅니다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" y="599846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예제를 검색할 때 주의 — 위 fastmcp 는 독립 패키지입니다. 공식 SDK(mcp)는 2026년 7월 2.0부터 같은 역할의 클래스 이름이 MCPServer 로 바뀌었습니다.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③  ·  20–22분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491740" y="448056"/>
            <a:ext cx="904158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설명서가 만들어지는 원리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함수의 시그니처는 입출력 규격이 되고, docstring은 도구 설명문이 됨 — 사람이 따로 쓰지 않아도 자동 생성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490874" cy="2743200"/>
          </a:xfrm>
          <a:prstGeom prst="roundRect">
            <a:avLst>
              <a:gd name="adj" fmla="val 1667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데코레이터 한 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304288"/>
            <a:ext cx="29788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962656"/>
            <a:ext cx="2978810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54096"/>
            <a:ext cx="2978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등록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456432"/>
            <a:ext cx="29788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함수를 AI가 쓸 수 있는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목록에 올림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0410" y="1810512"/>
            <a:ext cx="3490874" cy="2743200"/>
          </a:xfrm>
          <a:prstGeom prst="roundRect">
            <a:avLst>
              <a:gd name="adj" fmla="val 1667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6442" y="2011680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06442" y="2304288"/>
            <a:ext cx="29788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(csv_path: str) -&gt; int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06442" y="2962656"/>
            <a:ext cx="2978810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6442" y="3054096"/>
            <a:ext cx="2978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입출력 규격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06442" y="3456432"/>
            <a:ext cx="29788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하나를 받아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정수를 돌려준다는 정보가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규격표로 자동 변환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2453" y="1810512"/>
            <a:ext cx="3490874" cy="2743200"/>
          </a:xfrm>
          <a:prstGeom prst="roundRect">
            <a:avLst>
              <a:gd name="adj" fmla="val 1667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8485" y="2011680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docstring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98485" y="2304288"/>
            <a:ext cx="29788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"""CSV 파일의 데이터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행 수를 센다."""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98485" y="2962656"/>
            <a:ext cx="2978810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8485" y="3054096"/>
            <a:ext cx="29788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용도 설명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98485" y="3456432"/>
            <a:ext cx="29788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무슨 일을 하는지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전달되는 문장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882896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19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 코딩 실력보다, 내 도구가 무슨 일을 하는지 명확한 문장으로 쓰는 능력 — 연구자에게 익숙한 작업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" y="56327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설명문이 모호하면 AI도 그 도구를 언제 써야 할지 판단하기 어려워짐  →  7교시에서 가장 공들일 부분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 ·  22–23분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9251899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정리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· 구조 · 제작 — 이 세 가지만 남으면 오늘 개념은 충분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3490874" cy="3108960"/>
          </a:xfrm>
          <a:prstGeom prst="roundRect">
            <a:avLst>
              <a:gd name="adj" fmla="val 1471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2140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2450592"/>
            <a:ext cx="29422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32688" y="3035808"/>
            <a:ext cx="2942234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1868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도구를 연결하는 표준 규격.</a:t>
            </a:r>
            <a:endParaRPr lang="en-US" sz="1200" dirty="0"/>
          </a:p>
          <a:p>
            <a:pPr algn="l" indent="0" marL="0">
              <a:lnSpc>
                <a:spcPct val="146000"/>
              </a:lnSpc>
              <a:buNone/>
            </a:pPr>
            <a:endParaRPr lang="en-US" sz="12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부담이 N×M 에서 N+M 으로 줄어드는 것이 핵심.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0410" y="1883664"/>
            <a:ext cx="3490874" cy="3108960"/>
          </a:xfrm>
          <a:prstGeom prst="roundRect">
            <a:avLst>
              <a:gd name="adj" fmla="val 1471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4730" y="212140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24730" y="2450592"/>
            <a:ext cx="29422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· 서버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24730" y="3035808"/>
            <a:ext cx="2942234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4730" y="321868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호스트(Claude Code) 안의 클라이언트가 서버와 통신.</a:t>
            </a:r>
            <a:endParaRPr lang="en-US" sz="1200" dirty="0"/>
          </a:p>
          <a:p>
            <a:pPr algn="l" indent="0" marL="0">
              <a:lnSpc>
                <a:spcPct val="146000"/>
              </a:lnSpc>
              <a:buNone/>
            </a:pPr>
            <a:endParaRPr lang="en-US" sz="12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tool은 실행, resource는 읽기, 스키마는 설명서.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2453" y="1883664"/>
            <a:ext cx="3490874" cy="3108960"/>
          </a:xfrm>
          <a:prstGeom prst="roundRect">
            <a:avLst>
              <a:gd name="adj" fmla="val 1471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6773" y="212140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16773" y="2450592"/>
            <a:ext cx="29422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316773" y="3035808"/>
            <a:ext cx="2942234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6773" y="321868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데코레이터 + 시그니처 + docstring 으로</a:t>
            </a:r>
            <a:endParaRPr lang="en-US" sz="12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설명서가 자동 생성.</a:t>
            </a:r>
            <a:endParaRPr lang="en-US" sz="1200" dirty="0"/>
          </a:p>
          <a:p>
            <a:pPr algn="l" indent="0" marL="0">
              <a:lnSpc>
                <a:spcPct val="146000"/>
              </a:lnSpc>
              <a:buNone/>
            </a:pPr>
            <a:endParaRPr lang="en-US" sz="12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제작은 7교시.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285232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218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23분부터 32분간 실습 — 검증된 서버를 연결하고, 위 개념이 화면에서 어떻게 나타나는지 확인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23–25분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9251899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arXiv 논문 검색 서버 연결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 32분. 검증된 서버를 연결하고, AI가 그 도구를 고르는 과정을 화면으로 확인합니다.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271408" cy="786384"/>
          </a:xfrm>
          <a:prstGeom prst="roundRect">
            <a:avLst>
              <a:gd name="adj" fmla="val 581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28800"/>
            <a:ext cx="127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2139696"/>
            <a:ext cx="119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 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9776" y="2011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8960" y="1755648"/>
            <a:ext cx="1271408" cy="786384"/>
          </a:xfrm>
          <a:prstGeom prst="roundRect">
            <a:avLst>
              <a:gd name="adj" fmla="val 581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960" y="1828800"/>
            <a:ext cx="127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95536" y="2139696"/>
            <a:ext cx="119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0368" y="2011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59552" y="1755648"/>
            <a:ext cx="1271408" cy="786384"/>
          </a:xfrm>
          <a:prstGeom prst="roundRect">
            <a:avLst>
              <a:gd name="adj" fmla="val 581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9552" y="1828800"/>
            <a:ext cx="127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96128" y="2139696"/>
            <a:ext cx="119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30960" y="2011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60144" y="1755648"/>
            <a:ext cx="1271408" cy="786384"/>
          </a:xfrm>
          <a:prstGeom prst="roundRect">
            <a:avLst>
              <a:gd name="adj" fmla="val 581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0144" y="1828800"/>
            <a:ext cx="127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96720" y="2139696"/>
            <a:ext cx="119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+ 관찰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31552" y="2011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60736" y="1755648"/>
            <a:ext cx="1271408" cy="786384"/>
          </a:xfrm>
          <a:prstGeom prst="roundRect">
            <a:avLst>
              <a:gd name="adj" fmla="val 581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0736" y="1828800"/>
            <a:ext cx="127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97312" y="2139696"/>
            <a:ext cx="119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이유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32143" y="2011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61327" y="1755648"/>
            <a:ext cx="1271408" cy="786384"/>
          </a:xfrm>
          <a:prstGeom prst="roundRect">
            <a:avLst>
              <a:gd name="adj" fmla="val 581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1327" y="1828800"/>
            <a:ext cx="127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97903" y="2139696"/>
            <a:ext cx="119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다운로드·요약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932735" y="2011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61919" y="1755648"/>
            <a:ext cx="1271408" cy="786384"/>
          </a:xfrm>
          <a:prstGeom prst="roundRect">
            <a:avLst>
              <a:gd name="adj" fmla="val 5814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61919" y="1828800"/>
            <a:ext cx="127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98495" y="2139696"/>
            <a:ext cx="119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검색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" y="2962656"/>
            <a:ext cx="5282032" cy="2286000"/>
          </a:xfrm>
          <a:prstGeom prst="roundRect">
            <a:avLst>
              <a:gd name="adj" fmla="val 2000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163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연결할 서버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2688" y="3456432"/>
            <a:ext cx="473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arxiv-mcp-server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32688" y="4041648"/>
            <a:ext cx="473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PyPI 정식 배포  ·  Apache-2.0 라이선스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32688" y="4407408"/>
            <a:ext cx="473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API 키 불필요 — 발급 절차 없이 즉시 사용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32688" y="4773168"/>
            <a:ext cx="473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uv 만 있으면 실행 — 강의 환경과 일치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51296" y="2962656"/>
            <a:ext cx="5282032" cy="2286000"/>
          </a:xfrm>
          <a:prstGeom prst="roundRect">
            <a:avLst>
              <a:gd name="adj" fmla="val 2000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5616" y="3163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25616" y="3639312"/>
            <a:ext cx="47333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강사 화면과 함께 한 단계씩 진행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각 STEP의 확인 지점에서 손을 들어 완료 확인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단계 사이에 보충 카드 4장을 1~2분씩 배치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" y="5504688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5412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서버나 연결하는 것이 아니라, 배포 이력과 권한 범위를 확인한 서버를 고른 것 — 기준은 26쪽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25–27분  ·  STEP 1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438144" y="448056"/>
            <a:ext cx="809518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 상태 확인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전의 빈 목록을 먼저 확인해야, 연결 후의 변화가 눈에 들어옵니다.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1051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입력  ·  Claude Code 진입 전 PowerShell 에서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84832"/>
            <a:ext cx="6766560" cy="603504"/>
          </a:xfrm>
          <a:prstGeom prst="roundRect">
            <a:avLst>
              <a:gd name="adj" fmla="val 6061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39696"/>
            <a:ext cx="6437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list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6151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등록된 MCP 서버가 없다는 취지의 출력 — 목록이 비어 있음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3127248"/>
            <a:ext cx="6766560" cy="2157984"/>
          </a:xfrm>
          <a:prstGeom prst="roundRect">
            <a:avLst>
              <a:gd name="adj" fmla="val 2119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291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상태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36027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아무 서버도 연결되지 않은 Claude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41148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쓸 수 있는 외부 도구가 하나도 없는 상태.</a:t>
            </a:r>
            <a:endParaRPr lang="en-US" sz="11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상태에서 논문을 검색해 달라고 해도 도구를 쓸 수 없음.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17536" y="1810512"/>
            <a:ext cx="3815791" cy="3474720"/>
          </a:xfrm>
          <a:prstGeom prst="roundRect">
            <a:avLst>
              <a:gd name="adj" fmla="val 1316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91856" y="1975104"/>
            <a:ext cx="32671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단계의 목적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91856" y="2359152"/>
            <a:ext cx="326715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단계에서 arxiv 라는 항목이 새로 나타납니다.</a:t>
            </a: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변화를 알아보려면, 지금의 빈 목록을 한 번 눈으로 확인해 두는 편이 좋습니다.</a:t>
            </a: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연결이 되었는지 아닌지를 스스로 판단하는 기준이 이 화면입니다.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27–29분  ·  STEP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438144" y="448056"/>
            <a:ext cx="809518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 를 기준으로, 왼쪽은 Claude Code 에 하는 등록 요청이고 오른쪽은 그 서버를 실행하는 방법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입력  ·  --  앞뒤 공백까지 정확히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10874959" cy="694944"/>
          </a:xfrm>
          <a:prstGeom prst="roundRect">
            <a:avLst>
              <a:gd name="adj" fmla="val 5263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66544"/>
            <a:ext cx="10545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arxiv -- uvx arxiv-mcp-server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3017520"/>
            <a:ext cx="4114800" cy="1700784"/>
          </a:xfrm>
          <a:prstGeom prst="roundRect">
            <a:avLst>
              <a:gd name="adj" fmla="val 2688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23697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arxiv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3712464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“arxiv 라는 이름으로</a:t>
            </a:r>
            <a:endParaRPr lang="en-US" sz="1100" dirty="0"/>
          </a:p>
          <a:p>
            <a:pPr algn="ctr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서버를 등록해 달라”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74336" y="3017520"/>
            <a:ext cx="1371600" cy="1700784"/>
          </a:xfrm>
          <a:prstGeom prst="roundRect">
            <a:avLst>
              <a:gd name="adj" fmla="val 3333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23697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3712464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말과 오른쪽 말의</a:t>
            </a:r>
            <a:endParaRPr lang="en-US" sz="1100" dirty="0"/>
          </a:p>
          <a:p>
            <a:pPr algn="ctr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47104" y="3017520"/>
            <a:ext cx="4986223" cy="1700784"/>
          </a:xfrm>
          <a:prstGeom prst="roundRect">
            <a:avLst>
              <a:gd name="adj" fmla="val 2688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236976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uvx arxiv-mcp-server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408" y="3712464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 서버는 uvx 로 패키지를</a:t>
            </a:r>
            <a:endParaRPr lang="en-US" sz="1100" dirty="0"/>
          </a:p>
          <a:p>
            <a:pPr algn="ctr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실행하면 시작된다”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956048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Added stdio MCP server arxiv ... 취지의 성공 메시지가 출력됨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5394960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3153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오타가 잦은 곳은 --  주변의 공백 — 배포한 6교시_프롬프트모음.txt 에서 복사해 붙여넣기를 권장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29–31분  ·  STEP 2 확인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753612" y="448056"/>
            <a:ext cx="77797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상태 점검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arxiv 와 ✓ Connected 가 함께 표시되면 연결 완료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739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입력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48256"/>
            <a:ext cx="6766560" cy="621792"/>
          </a:xfrm>
          <a:prstGeom prst="roundRect">
            <a:avLst>
              <a:gd name="adj" fmla="val 5882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6437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list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76148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3035808"/>
            <a:ext cx="6766560" cy="786384"/>
          </a:xfrm>
          <a:prstGeom prst="roundRect">
            <a:avLst>
              <a:gd name="adj" fmla="val 4651"/>
            </a:avLst>
          </a:prstGeom>
          <a:solidFill>
            <a:srgbClr val="16150F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03580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    uvx arxiv-mcp-server    </a:t>
            </a:r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Connected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9502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목록에 arxiv 표시 + 상태 점검 결과 ✓ Connected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17536" y="1773936"/>
            <a:ext cx="3815791" cy="2468880"/>
          </a:xfrm>
          <a:prstGeom prst="roundRect">
            <a:avLst>
              <a:gd name="adj" fmla="val 1852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1938528"/>
            <a:ext cx="32671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상태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91856" y="2249424"/>
            <a:ext cx="32671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하나가 연결된</a:t>
            </a:r>
            <a:endParaRPr lang="en-US" sz="17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91856" y="3108960"/>
            <a:ext cx="32671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AI가 논문 검색 기능을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골라 쓸 수 있는 상태가 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517136"/>
            <a:ext cx="10874959" cy="1005840"/>
          </a:xfrm>
          <a:prstGeom prst="roundRect">
            <a:avLst>
              <a:gd name="adj" fmla="val 4545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663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실행은 수십 초 걸릴 수 있음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2688" y="4974336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uvx 가 패키지를 내려받는 중입니다. 잠시 기다렸다가 같은 명령을 한 번 더 실행해 주십시오.</a:t>
            </a:r>
            <a:endParaRPr lang="en-US" sz="11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실패하면 문제 해결 표(33쪽 2행)를 참조하시기 바랍니다.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 ·  31–32분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773399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범위(스코프)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등록에는 적용 범위가 있습니다. 기본값은 현재 폴더이고, 필요하면 넓힐 수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61727" y="31089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161727" y="310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잠깐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10874959" cy="384048"/>
          </a:xfrm>
          <a:prstGeom prst="rect">
            <a:avLst/>
          </a:prstGeom>
          <a:solidFill>
            <a:srgbClr val="1A181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58768" y="1920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범위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5008" y="1920240"/>
            <a:ext cx="3468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쓰이는 경우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304288"/>
            <a:ext cx="10874959" cy="877824"/>
          </a:xfrm>
          <a:prstGeom prst="rect">
            <a:avLst/>
          </a:prstGeom>
          <a:solidFill>
            <a:srgbClr val="13120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04288"/>
            <a:ext cx="2834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
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· 오늘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58768" y="2304288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폴더(C:\kisti-lab)에서 실행한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에서만 사용 가능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65008" y="2304288"/>
            <a:ext cx="3468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실습 · 프로젝트별 관리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182112"/>
            <a:ext cx="2834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
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--scope user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58768" y="3182112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계정의 모든 프로젝트에서 항상 사용 가능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65008" y="3182112"/>
            <a:ext cx="3468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쓰는 개인 도구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4059936"/>
            <a:ext cx="2834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
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--scope project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58768" y="4059936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폴더에 설정 파일이 생성되어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으로 팀과 공유 가능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65008" y="4059936"/>
            <a:ext cx="3468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동료와 프로젝트 단위 공유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5102352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3892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범위에만 등록하는 편이 관리에 유리합니다. 오늘은 기본값 그대로 두면 충분합니다.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32–36분  ·  STEP 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438144" y="448056"/>
            <a:ext cx="809518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도구 목록 확인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/mcp 화면에서 이 서버가 제공하는 도구와 설명문을 확인 — AI도 같은 목록을 근거로 판단합니다.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5943600" cy="969264"/>
          </a:xfrm>
          <a:prstGeom prst="roundRect">
            <a:avLst>
              <a:gd name="adj" fmla="val 4717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10312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1031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07008" y="2432304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432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06624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화면이 열림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108960"/>
            <a:ext cx="5943600" cy="969264"/>
          </a:xfrm>
          <a:prstGeom prst="roundRect">
            <a:avLst>
              <a:gd name="adj" fmla="val 4717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20040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32004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대화창에 슬래시 명령 입력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07008" y="3529584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5295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06624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화면에 arxiv 가 connected 로 표시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206240"/>
            <a:ext cx="5943600" cy="969264"/>
          </a:xfrm>
          <a:prstGeom prst="roundRect">
            <a:avLst>
              <a:gd name="adj" fmla="val 4717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2976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429768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방향키·Enter 로 arxiv 선택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07008" y="466344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도구(tools) 목록이 열림 → 확인 후 Esc 로 복귀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12864" y="1737360"/>
            <a:ext cx="4620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서버의 주요 도구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12864" y="2011680"/>
            <a:ext cx="4620463" cy="713232"/>
          </a:xfrm>
          <a:prstGeom prst="roundRect">
            <a:avLst>
              <a:gd name="adj" fmla="val 6410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2066544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50608" y="237744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검색한다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12864" y="2834640"/>
            <a:ext cx="4620463" cy="713232"/>
          </a:xfrm>
          <a:prstGeom prst="roundRect">
            <a:avLst>
              <a:gd name="adj" fmla="val 64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2889504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download_paper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0608" y="320040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내려받는다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12864" y="3657600"/>
            <a:ext cx="4620463" cy="713232"/>
          </a:xfrm>
          <a:prstGeom prst="roundRect">
            <a:avLst>
              <a:gd name="adj" fmla="val 64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3712464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list_papers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50608" y="402336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내려받은 논문 목록을 보여준다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12864" y="4480560"/>
            <a:ext cx="4620463" cy="713232"/>
          </a:xfrm>
          <a:prstGeom prst="roundRect">
            <a:avLst>
              <a:gd name="adj" fmla="val 64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4535424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read_paper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50608" y="484632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전문을 읽는다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5230368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2669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연결점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도구에 붙어 있는 이 설명문이, 앞서 개념에서 본 스키마 그 자체입니다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" y="59436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서버 버전에 따라 도구가 더 많이 보일 수 있습니다(의미 기반 검색, 인용 관계 등). 화면에 실제로 뜬 목록을 기준으로 보시기 바랍니다.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36–38분  ·  STEP 4  ·  프롬프트 ①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94860" y="448056"/>
            <a:ext cx="693846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검색 요청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지정하지 않아도 됩니다. 요청만 전달하면 AI가 네 개 중 맞는 도구를 선택합니다.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922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입력  ·  Claude Code 대화창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66544"/>
            <a:ext cx="10874959" cy="1371600"/>
          </a:xfrm>
          <a:prstGeom prst="roundRect">
            <a:avLst>
              <a:gd name="adj" fmla="val 2667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21408"/>
            <a:ext cx="10545775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 MCP 도구를 사용해서 "딥러닝 기반 센서 데이터 이상치 탐지"에 대한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최신 논문을 5편 검색해줘. 각 논문의 제목, 저자(첫 저자만), 게재일,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줄 핵심 내용을 표로 정리해줘. 답변은 한국어로.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749040"/>
            <a:ext cx="5282032" cy="1737360"/>
          </a:xfrm>
          <a:prstGeom prst="roundRect">
            <a:avLst>
              <a:gd name="adj" fmla="val 2632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93192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가능한 부분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4297680"/>
            <a:ext cx="473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따옴표 안의 주제는 자기 연구 주제로 바꿔도 됩니다.</a:t>
            </a:r>
            <a:endParaRPr lang="en-US" sz="11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처음 한 번은 예시 그대로 입력해 화면을 맞춰 보시기 바랍니다.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1296" y="3749040"/>
            <a:ext cx="5282032" cy="1737360"/>
          </a:xfrm>
          <a:prstGeom prst="roundRect">
            <a:avLst>
              <a:gd name="adj" fmla="val 2632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5616" y="393192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후 볼 곳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25616" y="4297680"/>
            <a:ext cx="473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나오기 전에 화면에 먼저 표시되는 줄이 있습니다.</a:t>
            </a:r>
            <a:endParaRPr lang="en-US" sz="11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결과보다 그 줄을 먼저 보시기 바랍니다 — 다음 장에서 설명합니다.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38–42분  ·  STEP 4 관찰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753612" y="448056"/>
            <a:ext cx="77797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읽어야 할 두 곳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 호출 줄은 AI가 도구를 선택했다는 표시이고, 승인 질문은 실행 권한이 사용자에게 있다는 표시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6675120" cy="3895344"/>
          </a:xfrm>
          <a:prstGeom prst="roundRect">
            <a:avLst>
              <a:gd name="adj" fmla="val 1174"/>
            </a:avLst>
          </a:prstGeom>
          <a:solidFill>
            <a:srgbClr val="16150F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83664"/>
            <a:ext cx="6199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— 화면 예시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96112" y="2157984"/>
            <a:ext cx="619963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249424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5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ToolSearch("논문 검색")
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arxiv 도구 설명서를 불러옴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277977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arxiv - search_papers (MCP)
</a:t>
            </a:r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query: "딥러닝 기반 센서 데이터 이상치 탐지"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max_results: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21424" y="2798064"/>
            <a:ext cx="292608" cy="292608"/>
          </a:xfrm>
          <a:prstGeom prst="ellipse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6821424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3712464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 실행을 허용할까요?
</a:t>
            </a:r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Yes     Yes (이 세션 동안)     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21424" y="3730752"/>
            <a:ext cx="292608" cy="292608"/>
          </a:xfrm>
          <a:prstGeom prst="ellipse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6821424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" y="4626864"/>
            <a:ext cx="619963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5488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 잠시 후 논문 5편이 표로 출력  …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5157216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실제 화면 캡처로 교체 권장 — 문구는 달라도 역할은 동일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44384" y="1773936"/>
            <a:ext cx="3888943" cy="1865376"/>
          </a:xfrm>
          <a:prstGeom prst="roundRect">
            <a:avLst>
              <a:gd name="adj" fmla="val 2451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19385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1938528"/>
            <a:ext cx="3065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표시줄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82128" y="2340864"/>
            <a:ext cx="3413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 서버의 도구 중 search_papers 를 골랐다는 표시.</a:t>
            </a:r>
            <a:endParaRPr lang="en-US" sz="10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줄에는 AI가 넣은 입력값(검색어·개수)이 함께 나타남.</a:t>
            </a:r>
            <a:endParaRPr lang="en-US" sz="10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위의 흐린 ToolSearch 줄은 설명서를 불러온 단계.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44384" y="3785616"/>
            <a:ext cx="3888943" cy="1865376"/>
          </a:xfrm>
          <a:prstGeom prst="roundRect">
            <a:avLst>
              <a:gd name="adj" fmla="val 2451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39502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950208"/>
            <a:ext cx="3065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승인 질문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82128" y="4352544"/>
            <a:ext cx="3413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도구를 쓸 때 나타납니다. Yes 를 선택하면 진행됩니다.</a:t>
            </a:r>
            <a:endParaRPr lang="en-US" sz="10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 세션 동안'을 골라도 오늘 실습에는 문제가 없습니다.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5815584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승인 후 잠시 기다리면 논문 5편이 표로 정리되어 출력됨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 ·  42–44분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773399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쓰기 위한 두 가지 원칙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도구를 연결하는 이상, 무엇을 연결하고 무엇을 승인하는지 확인하는 습관이 필요합니다.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61727" y="31089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161727" y="310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잠깐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5282032" cy="1700784"/>
          </a:xfrm>
          <a:prstGeom prst="roundRect">
            <a:avLst>
              <a:gd name="adj" fmla="val 2688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75104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2688" y="226771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서버만 연결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473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디렉터리(claude.ai/directory)나 공식 MCP 레지스트리에</a:t>
            </a:r>
            <a:endParaRPr lang="en-US" sz="11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등재되어 있는지, 최근까지 관리되고 있는지 확인 후 연결합니다.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1296" y="1792224"/>
            <a:ext cx="5282032" cy="1700784"/>
          </a:xfrm>
          <a:prstGeom prst="roundRect">
            <a:avLst>
              <a:gd name="adj" fmla="val 2688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5616" y="1975104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25616" y="226771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이상한 요약은 일단 의심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25616" y="2743200"/>
            <a:ext cx="473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문서를 읽은 뒤 “이 명령을 실행하라”, “이 주소로 접속하라”</a:t>
            </a:r>
            <a:endParaRPr lang="en-US" sz="110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내용을 내놓으면 그대로 따르지 않고 확인합니다.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712464"/>
            <a:ext cx="5282032" cy="1517904"/>
          </a:xfrm>
          <a:prstGeom prst="roundRect">
            <a:avLst>
              <a:gd name="adj" fmla="val 3012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877056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질문의 의미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4206240"/>
            <a:ext cx="4733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가 도구를 실행하기 전에 허락을 구하는 절차입니다.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실행될지 확인하고 멈출 수 있는 지점이 여기라는 뜻입니다.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1296" y="3712464"/>
            <a:ext cx="5282032" cy="1517904"/>
          </a:xfrm>
          <a:prstGeom prst="roundRect">
            <a:avLst>
              <a:gd name="adj" fmla="val 3012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5616" y="3877056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본문도 외부 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25616" y="4206240"/>
            <a:ext cx="473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로 들어오는 논문 본문도 외부에서 온 텍스트입니다. 조작된 문서가 AI에</a:t>
            </a:r>
            <a:endParaRPr lang="en-US" sz="10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심으려 시도할 수 있어(프롬프트 주입), arXiv 서버 공식 문서도 논문</a:t>
            </a:r>
            <a:endParaRPr lang="en-US" sz="105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신뢰할 수 없는 입력으로 다루라고 명시하고 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5303520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34009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겁을 주려는 것이 아니라, 원칙 두 가지를 습관으로 만들자는 것 — 오늘 서버는 이 기준으로 사전 검증한 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" y="598017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레지스트리 등재는 “누가 배포했는지” 를 확인해 줄 뿐, 코드 내용까지 검증하지는 않습니다. 등재 여부는 출발점이지 보증이 아닙니다.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44–47분  ·  STEP 5  ·  프롬프트 ②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94860" y="448056"/>
            <a:ext cx="693846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이유 확인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 도구를 골랐는지 물어보면, 선택 근거가 요청 문장과 설명서의 대조였음이 드러납니다.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922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입력  ·  Claude Code 대화창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66544"/>
            <a:ext cx="10874959" cy="1298448"/>
          </a:xfrm>
          <a:prstGeom prst="roundRect">
            <a:avLst>
              <a:gd name="adj" fmla="val 2817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21408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방금 논문을 검색할 때 어떤 MCP 도구를 골랐고, 그 도구에 어떤 입력값을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넣었는지 설명해줘. 그리고 왜 다른 도구(download_paper 등)가 아니라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도구를 선택했는지도 알려줘.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49300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AI가 search_papers 를 고른 이유(검색 요청이었으므로)와 입력값(query, max_results)을 설명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3986784"/>
            <a:ext cx="5282032" cy="1609344"/>
          </a:xfrm>
          <a:prstGeom prst="roundRect">
            <a:avLst>
              <a:gd name="adj" fmla="val 2841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169664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밑줄 칠 곳은 한 군데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4535424"/>
            <a:ext cx="473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길게 나오더라도 핵심은 “검색 요청이었기 때문” 한 문장입니다.</a:t>
            </a:r>
            <a:endParaRPr lang="en-US" sz="11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그 근거를 풀어 쓴 부분입니다.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1296" y="3986784"/>
            <a:ext cx="5282032" cy="1609344"/>
          </a:xfrm>
          <a:prstGeom prst="roundRect">
            <a:avLst>
              <a:gd name="adj" fmla="val 2841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5616" y="4169664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7교시로 이어지는 지점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25616" y="4535424"/>
            <a:ext cx="473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선택의 근거가 설명문이라면,</a:t>
            </a:r>
            <a:endParaRPr lang="en-US" sz="115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도구의 설명문도 그만큼 중요해집니다.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 ·  47–48분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773399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선택은 대조 작업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문장과 각 도구의 설명문을 맞춰 본 결과가 도구 선택입니다.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61727" y="31089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161727" y="310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잠깐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3200400" cy="1133856"/>
          </a:xfrm>
          <a:prstGeom prst="roundRect">
            <a:avLst>
              <a:gd name="adj" fmla="val 4032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706624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“… 검색해줘”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50208" y="26151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67328" y="29809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설명문과 대조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64608" y="1792224"/>
            <a:ext cx="6668719" cy="658368"/>
          </a:xfrm>
          <a:prstGeom prst="roundRect">
            <a:avLst>
              <a:gd name="adj" fmla="val 6944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17922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16368" y="1792224"/>
            <a:ext cx="3011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검색한다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99471" y="179222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 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64608" y="2560320"/>
            <a:ext cx="6668719" cy="658368"/>
          </a:xfrm>
          <a:prstGeom prst="roundRect">
            <a:avLst>
              <a:gd name="adj" fmla="val 6944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560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download_paper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16368" y="2560320"/>
            <a:ext cx="3011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내려받는다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99471" y="25603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3328416"/>
            <a:ext cx="6668719" cy="658368"/>
          </a:xfrm>
          <a:prstGeom prst="roundRect">
            <a:avLst>
              <a:gd name="adj" fmla="val 6944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33284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read_paper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16368" y="3328416"/>
            <a:ext cx="3011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전문을 읽는다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99471" y="33284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64608" y="4096512"/>
            <a:ext cx="6668719" cy="658368"/>
          </a:xfrm>
          <a:prstGeom prst="roundRect">
            <a:avLst>
              <a:gd name="adj" fmla="val 6944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40965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list_papers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16368" y="4096512"/>
            <a:ext cx="30111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내려받은 목록을 보여준다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99471" y="409651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3602736"/>
            <a:ext cx="3200400" cy="1188720"/>
          </a:xfrm>
          <a:prstGeom prst="roundRect">
            <a:avLst>
              <a:gd name="adj" fmla="val 3846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749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뒤집어 보면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" y="405993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설명문이 모호한 도구는</a:t>
            </a:r>
            <a:endParaRPr lang="en-US" sz="11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AI도 언제 써야 할지 판단하기 어려움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" y="5193792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23036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예고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FastMCP 에서는 docstring 이 그대로 이 설명문이 됩니다. 다음 교시에서 가장 공들일 부분이 그 한 줄입니다.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48–52분  ·  STEP 6  ·  프롬프트 ③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94860" y="448056"/>
            <a:ext cx="6938467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다운로드와 요약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호출 줄이 두 번 이상 나타납니다. AI가 다운로드 후 읽기 순서를 스스로 정해 도구를 연달아 호출합니다.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입력  ·  Claude Code 대화창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10874959" cy="1298448"/>
          </a:xfrm>
          <a:prstGeom prst="roundRect">
            <a:avLst>
              <a:gd name="adj" fmla="val 2817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66544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방금 표에서 내 주제와 가장 관련 있어 보이는 논문 1편을 골라서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다운로드한 다음 전문을 읽고, (1) 연구 질문 (2) 방법 (3) 핵심 결과를</a:t>
            </a:r>
            <a:endParaRPr lang="en-US" sz="13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30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각각 3문장 이내의 한국어로 요약해줘. 논문 선택 이유도 한 줄로.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456432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나타나는 순서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3785616"/>
            <a:ext cx="2471852" cy="969264"/>
          </a:xfrm>
          <a:prstGeom prst="roundRect">
            <a:avLst>
              <a:gd name="adj" fmla="val 4717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968496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" y="4315968"/>
            <a:ext cx="225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보낸 문장 하나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30220" y="41330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59404" y="3785616"/>
            <a:ext cx="2471852" cy="969264"/>
          </a:xfrm>
          <a:prstGeom prst="roundRect">
            <a:avLst>
              <a:gd name="adj" fmla="val 4717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5708" y="3968496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download_paper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9132" y="4315968"/>
            <a:ext cx="225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파일을 내려받음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31256" y="41330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0440" y="3785616"/>
            <a:ext cx="2471852" cy="969264"/>
          </a:xfrm>
          <a:prstGeom prst="roundRect">
            <a:avLst>
              <a:gd name="adj" fmla="val 4717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6744" y="3968496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read_paper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0168" y="4315968"/>
            <a:ext cx="225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내려받은 전문을 읽음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32291" y="41330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61475" y="3785616"/>
            <a:ext cx="2471852" cy="969264"/>
          </a:xfrm>
          <a:prstGeom prst="roundRect">
            <a:avLst>
              <a:gd name="adj" fmla="val 4717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7779" y="3968496"/>
            <a:ext cx="217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3항목 요약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71203" y="4315968"/>
            <a:ext cx="225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질문 · 방법 · 결과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937760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다운로드 → 읽기 순서를 AI가 스스로 계획해 연달아 호출하고, 마지막에 3항목 요약을 출력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5340096"/>
            <a:ext cx="10874959" cy="512064"/>
          </a:xfrm>
          <a:prstGeom prst="roundRect">
            <a:avLst>
              <a:gd name="adj" fmla="val 8929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376672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시간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분량에 따라 1~2분 걸릴 수 있습니다. 기다리는 동안 화면의 호출 줄을 다시 읽어 보시기 바랍니다.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52–53분  ·  STEP 6-3 (선택)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174236" y="448056"/>
            <a:ext cx="7359091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파일 확인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작업은 대화창에서 끝나지 않고, 내 PC의 파일로 남습니다.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1051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입력 (시간 여유가 있을 때)  ·  대화창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2084832"/>
            <a:ext cx="6766560" cy="969264"/>
          </a:xfrm>
          <a:prstGeom prst="roundRect">
            <a:avLst>
              <a:gd name="adj" fmla="val 3774"/>
            </a:avLst>
          </a:prstGeom>
          <a:solidFill>
            <a:srgbClr val="16150F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39696"/>
            <a:ext cx="64373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지금까지 다운로드한 논문 목록을 보여주고, 파일이 내 컴퓨터의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어느 폴더에 저장되어 있는지 알려줘.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3200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list_papers 호출과 함께 저장 경로를 안내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3712464"/>
            <a:ext cx="6766560" cy="1426464"/>
          </a:xfrm>
          <a:prstGeom prst="roundRect">
            <a:avLst>
              <a:gd name="adj" fmla="val 3205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895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42245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C:\Users\&lt;사용자&gt;\.arxiv-mcp-server\papers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4663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내려받은 논문이 markdown 파일로 저장됩니다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17536" y="1810512"/>
            <a:ext cx="3815791" cy="3328416"/>
          </a:xfrm>
          <a:prstGeom prst="roundRect">
            <a:avLst>
              <a:gd name="adj" fmla="val 1374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91856" y="1975104"/>
            <a:ext cx="32671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해볼 것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91856" y="2340864"/>
            <a:ext cx="326715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탐색기로 위 폴더를 직접 열어 보시기 바랍니다.</a:t>
            </a: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markdown 파일이 실제로 들어 있는 것을 확인하면,</a:t>
            </a: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작업이 대화 기록이 아니라 내 PC의 파일로</a:t>
            </a: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남는다는 점이 분명해집니다.</a:t>
            </a: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endParaRPr lang="en-US" sz="1200" dirty="0"/>
          </a:p>
          <a:p>
            <a:pPr algn="l" indent="0" marL="0">
              <a:lnSpc>
                <a:spcPct val="144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이후 교시에서 그대로 다시 쓸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 ·  53–54분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773399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서버의 두 가지 형태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PC에서 실행되는 것과 인터넷 너머에 있는 것 — 오늘 연결한 것은 앞쪽입니다.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61727" y="310896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161727" y="310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잠깐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5282032" cy="2962656"/>
          </a:xfrm>
          <a:prstGeom prst="roundRect">
            <a:avLst>
              <a:gd name="adj" fmla="val 1543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84832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연결한 방식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2688" y="2377440"/>
            <a:ext cx="473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PC형  ·  stdio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32688" y="2907792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9809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21408" y="2980944"/>
            <a:ext cx="354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안 — uvx 가 실행한 작은 프로그램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" y="3493008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방식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21408" y="3566160"/>
            <a:ext cx="354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내부 통로로 주고받음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2688" y="4078224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1513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21408" y="4151376"/>
            <a:ext cx="354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필요하지만 오늘은 uvx 가 자동 처리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51296" y="1883664"/>
            <a:ext cx="5282032" cy="2962656"/>
          </a:xfrm>
          <a:prstGeom prst="roundRect">
            <a:avLst>
              <a:gd name="adj" fmla="val 1543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5616" y="2084832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더 흔한 방식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25616" y="2377440"/>
            <a:ext cx="473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인터넷형  ·  HTTP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525616" y="2907792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5616" y="29809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14336" y="2980944"/>
            <a:ext cx="354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인터넷에 올려 둔 서버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25616" y="3493008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5616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방식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14336" y="3566160"/>
            <a:ext cx="354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주소(URL)로 접속 — --transport http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25616" y="4078224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5616" y="41513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14336" y="4151376"/>
            <a:ext cx="354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불필요, 대신 대개 로그인(OAuth) 절차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" y="4992624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예전에 쓰이던 SSE 접속 방식은 2026년 7월 규격에서 공식 폐기 대상이 되었습니다(약 1년의 유예). 새로 연결할 때는 HTTP 를 쓰십시오.</a:t>
            </a:r>
            <a:endParaRPr lang="en-US" sz="10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같은 개정에서 원격 서버가 접속 상태를 유지하지 않아도 되도록 바뀌어, 기관 규모의 운영이 쉬워졌습니다.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5632704"/>
            <a:ext cx="10874959" cy="512064"/>
          </a:xfrm>
          <a:prstGeom prst="roundRect">
            <a:avLst>
              <a:gd name="adj" fmla="val 8929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66928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 PC형과 인터넷형이 있고, 기관 업무에서는 인터넷형이 더 흔하다” 정도면 오늘은 충분합니다.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54–55분  ·  STEP 7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438144" y="448056"/>
            <a:ext cx="809518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각자의 주제로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①→③을 자기 연구 주제로 반복하며, 호출 로그를 읽는 데 익숙해지는 단계입니다.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5282032" cy="2487168"/>
          </a:xfrm>
          <a:prstGeom prst="roundRect">
            <a:avLst>
              <a:gd name="adj" fmla="val 1838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0312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2560320"/>
            <a:ext cx="47333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자기 연구 주제로 프롬프트 ①(검색)을 실행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이어서 프롬프트 ③(다운로드·요약)까지 반복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강사와 조교가 순회하며 호출 표시를 함께 읽습니다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1296" y="1883664"/>
            <a:ext cx="5282032" cy="2487168"/>
          </a:xfrm>
          <a:prstGeom prst="roundRect">
            <a:avLst>
              <a:gd name="adj" fmla="val 1838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5616" y="210312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25616" y="2560320"/>
            <a:ext cx="47333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전원이 같은 예시 검색어를 쓰면 arXiv 쪽 속도 제한에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걸리기 쉽습니다.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자기 키워드로 바꿔서 입력해 주시기 바랍니다.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검색어가 흩어지면 대기 시간도 함께 줄어듭니다.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791456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2803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부족하면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과제로 전환 — “다음 쉬는 시간에 자기 주제로 한 번 검색해 보기” 로 안내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·  상시 참조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176272" y="448056"/>
            <a:ext cx="935705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증상부터 찾으면 대처가 빠릅니다.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10874959" cy="365760"/>
          </a:xfrm>
          <a:prstGeom prst="rect">
            <a:avLst/>
          </a:prstGeom>
          <a:solidFill>
            <a:srgbClr val="1A181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24528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67728" y="1737360"/>
            <a:ext cx="4565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103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'uvx' 용어가 인식되지 않습니다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24528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미설치, 또는 설치 후 터미널을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열지 않아 PATH 미반영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67728" y="2103120"/>
            <a:ext cx="4565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PowerShell 을 완전히 닫고 새로 연 뒤 uv --version 확인.</a:t>
            </a:r>
            <a:endParaRPr lang="en-US" sz="105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안 되면 1교시 uv 설치 절차 재실행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926080"/>
            <a:ext cx="10874959" cy="822960"/>
          </a:xfrm>
          <a:prstGeom prst="rect">
            <a:avLst/>
          </a:prstGeom>
          <a:solidFill>
            <a:srgbClr val="13120D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 ✗ Failed to connect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24528" y="2926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 시 패키지 다운로드 지연,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기관 네트워크·프록시 차단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67728" y="2926080"/>
            <a:ext cx="4565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후 재실행. 계속 실패하면 uvx arxiv-mcp-server --help 를</a:t>
            </a:r>
            <a:endParaRPr lang="en-US" sz="105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실행해 서버 동작을 분리 확인. 프록시 환경은 조교 지원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7824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실수로 No 를 눌러 “도구 사용 불가” 응답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24528" y="37490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미승인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67728" y="3749040"/>
            <a:ext cx="4565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요청을 다시 입력하면 승인 질문이 다시 나타남 —</a:t>
            </a:r>
            <a:endParaRPr lang="en-US" sz="105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Yes 선택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572000"/>
            <a:ext cx="10874959" cy="822960"/>
          </a:xfrm>
          <a:prstGeom prst="rect">
            <a:avLst/>
          </a:prstGeom>
          <a:solidFill>
            <a:srgbClr val="13120D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572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already exists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24528" y="4572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리허설·재시도로 같은 이름의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이미 등록된 상태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67728" y="4572000"/>
            <a:ext cx="4565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mcp remove arxiv 실행 후 STEP 2 부터 다시 진행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" y="5394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무응답 / rate limit 언급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24528" y="5394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 쪽 요청 속도 제한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 간 3초, 초과 시 일시 차단)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67728" y="5394960"/>
            <a:ext cx="4565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 후 재시도. 같은 검색어를 동시에 보내지 않도록 검색어 분산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 ·  55–58분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9251899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세 문장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가지가 남으면 6교시의 목표는 달성된 것입니다.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92224"/>
            <a:ext cx="10874959" cy="1060704"/>
          </a:xfrm>
          <a:prstGeom prst="roundRect">
            <a:avLst>
              <a:gd name="adj" fmla="val 4310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214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47088" y="2029968"/>
            <a:ext cx="93204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AI에 도구를 연결하는 표준 규격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47088" y="2505456"/>
            <a:ext cx="93204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하나로 공개된 수천 개의 도구가 앞으로의 선택지가 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035808"/>
            <a:ext cx="10874959" cy="1060704"/>
          </a:xfrm>
          <a:prstGeom prst="roundRect">
            <a:avLst>
              <a:gd name="adj" fmla="val 43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364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47088" y="3273552"/>
            <a:ext cx="93204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연결은 claude mcp add 한 줄 — 단, 검증된 서버만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47088" y="3749040"/>
            <a:ext cx="93204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전에 배포 이력과 요구 권한을 확인하는 습관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4279392"/>
            <a:ext cx="10874959" cy="1060704"/>
          </a:xfrm>
          <a:prstGeom prst="roundRect">
            <a:avLst>
              <a:gd name="adj" fmla="val 43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6085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47088" y="4517136"/>
            <a:ext cx="93204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선택은 AI가, 실행 승인과 감독은 사람이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847088" y="4992624"/>
            <a:ext cx="93204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호출 표시와 승인 질문이 그 감독 지점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5504688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412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Claude Code 에는 이제 외부 논문 검색 도구가 하나 연결되어 있습니다.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 ·  참고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860804" y="448056"/>
            <a:ext cx="9672523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확장 방법의 한 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현재 AI 도구를 확장하는 방법은 여러 층으로 나뉘며, MCP는 그중 “연결” 을 담당합니다.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490874" cy="2121408"/>
          </a:xfrm>
          <a:prstGeom prst="roundRect">
            <a:avLst>
              <a:gd name="adj" fmla="val 2155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38528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249424"/>
            <a:ext cx="297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798064"/>
            <a:ext cx="2978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시스템에 닿는 통로.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DB, 사내 시스템, 실험 장비.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511296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50410" y="1737360"/>
            <a:ext cx="3490874" cy="2121408"/>
          </a:xfrm>
          <a:prstGeom prst="roundRect">
            <a:avLst>
              <a:gd name="adj" fmla="val 2155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6442" y="1938528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06442" y="2249424"/>
            <a:ext cx="297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06442" y="2798064"/>
            <a:ext cx="2978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방법과 판단 기준을 적어 둔 문서.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“언제 · 어떻게” 를 담당.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06442" y="3511296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공개된 별도 표준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2453" y="1737360"/>
            <a:ext cx="3490874" cy="2121408"/>
          </a:xfrm>
          <a:prstGeom prst="roundRect">
            <a:avLst>
              <a:gd name="adj" fmla="val 2155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8485" y="1938528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단위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98485" y="2249424"/>
            <a:ext cx="297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98485" y="2798064"/>
            <a:ext cx="2978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둘을 묶어 한 번에 설치하는 포장 단위.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98485" y="3511296"/>
            <a:ext cx="297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쓴 arXiv 서버도 제공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041648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2026년에 달라진 점  ·  참고만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4315968"/>
            <a:ext cx="3490874" cy="1060704"/>
          </a:xfrm>
          <a:prstGeom prst="roundRect">
            <a:avLst>
              <a:gd name="adj" fmla="val 43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443984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검색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6112" y="4773168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설명서를 미리 다 올리지 않고 필요할 때 불러오는 방식이 기본이 되어,</a:t>
            </a:r>
            <a:endParaRPr lang="en-US" sz="10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여러 개 붙여도 부담이 적음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0410" y="4315968"/>
            <a:ext cx="3490874" cy="1060704"/>
          </a:xfrm>
          <a:prstGeom prst="roundRect">
            <a:avLst>
              <a:gd name="adj" fmla="val 43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8154" y="4443984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돌려주는 도구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88154" y="4773168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글 대신 조작 가능한 화면을 돌려줄 수 있게 됨</a:t>
            </a:r>
            <a:endParaRPr lang="en-US" sz="10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(MCP Apps)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2453" y="4315968"/>
            <a:ext cx="3490874" cy="1060704"/>
          </a:xfrm>
          <a:prstGeom prst="roundRect">
            <a:avLst>
              <a:gd name="adj" fmla="val 4310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80197" y="4443984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규모 운영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80197" y="4773168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서버가 접속 상태를 유지하지 않아도 되도록 규격이 개정되어</a:t>
            </a:r>
            <a:endParaRPr lang="en-US" sz="10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운영이 쉬워짐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55961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가지는 경쟁 관계가 아니라 층입니다. 연결은 MCP, 판단 기준은 Skill, 배포는 Plugin 이 맡습니다.  (2026년 8월 기준)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 ·  58–60분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281428" y="448056"/>
            <a:ext cx="9251899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예고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남이 만든 도구를 연결했고, 다음 교시에는 @mcp.tool 한 줄로 연구실 전용 도구를 직접 만듭니다.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5117440" cy="3072384"/>
          </a:xfrm>
          <a:prstGeom prst="roundRect">
            <a:avLst>
              <a:gd name="adj" fmla="val 1488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048256"/>
            <a:ext cx="453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 ·  완료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50976" y="2377440"/>
            <a:ext cx="4532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연결하고</a:t>
            </a:r>
            <a:endParaRPr lang="en-US" sz="21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2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관찰하기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0976" y="3346704"/>
            <a:ext cx="453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검증된 arXiv 서버를 한 줄로 연결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호출 표시와 승인 질문을 읽는 기준 확보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서버 안쪽 코드도 이미 한 번 살펴봄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94096" y="316382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15888" y="1828800"/>
            <a:ext cx="5117440" cy="3072384"/>
          </a:xfrm>
          <a:prstGeom prst="roundRect">
            <a:avLst>
              <a:gd name="adj" fmla="val 1488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48256"/>
            <a:ext cx="453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 ·  예고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08496" y="2377440"/>
            <a:ext cx="45322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직접</a:t>
            </a:r>
            <a:endParaRPr lang="en-US" sz="21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21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연결하기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08496" y="3346704"/>
            <a:ext cx="453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내 연구 데이터를 다루는 전용 MCP 도구 제작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@mcp.tool + docstring 으로 설명서 작성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공식 제작 플러그인(mcp-server-dev)으로 골격 생성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5266944"/>
            <a:ext cx="10874959" cy="566928"/>
          </a:xfrm>
          <a:prstGeom prst="roundRect">
            <a:avLst>
              <a:gd name="adj" fmla="val 8065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0352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오늘과 동일한 환경이면 충분합니다. 제작 골격은 Claude Code 의 공식 플러그인이 만들어 줍니다.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 ·  자주 나오는 질문 ①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807208" y="448056"/>
            <a:ext cx="8726119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안전에 관한 질문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자주 나오는 두 가지 — 내 데이터가 나가는지, 아무 서버나 연결해도 되는지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10874959" cy="1792224"/>
          </a:xfrm>
          <a:prstGeom prst="roundRect">
            <a:avLst>
              <a:gd name="adj" fmla="val 2551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56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1956816"/>
            <a:ext cx="9777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서버를 연결하면 내 컴퓨터의 데이터가 외부로 나가는지?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2340864"/>
            <a:ext cx="10326319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487168"/>
            <a:ext cx="1032631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서버마다 다릅니다. 오늘 연결한 arXiv 서버가 밖으로 보내는 것은 요청한 검색어뿐이고(공개 API),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 오는 것은 공개된 논문입니다. 내 파일을 읽어서 보내는 기능 자체가 없습니다.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파일이나 데이터베이스에 접근하는 서버라면 어떤 권한을 주는지 반드시 확인해야 합니다.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승인 절차가 있는 것도 그 때문입니다.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785616"/>
            <a:ext cx="10874959" cy="1792224"/>
          </a:xfrm>
          <a:prstGeom prst="roundRect">
            <a:avLst>
              <a:gd name="adj" fmla="val 2551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931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3931920"/>
            <a:ext cx="9777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MCP 서버나 검색해서 연결해도 안전한지?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4315968"/>
            <a:ext cx="10326319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462272"/>
            <a:ext cx="1032631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그렇지 않습니다. 누구나 만들어 올릴 수 있어 품질과 안전성의 편차가 큽니다. 판단 기준은 세 가지입니다.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공식 디렉터리나 검증된 카탈로그에 등재되어 있는지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정식 패키지 저장소에 배포되어 있고 최근까지 관리되고 있는지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요구하는 권한이 그 도구의 목적에 비해 과하지 않은지 — 오늘 서버는 이 기준으로 사전 검증했습니다.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 ·  자주 나오는 질문 ②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2807208" y="448056"/>
            <a:ext cx="8726119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범위에 관한 질문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분야 데이터베이스는 어떻게 하는지, 웹 검색으로도 되지 않는지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92224"/>
            <a:ext cx="10874959" cy="1572768"/>
          </a:xfrm>
          <a:prstGeom prst="roundRect">
            <a:avLst>
              <a:gd name="adj" fmla="val 2907"/>
            </a:avLst>
          </a:prstGeom>
          <a:solidFill>
            <a:srgbClr val="13120D"/>
          </a:solidFill>
          <a:ln w="9525">
            <a:solidFill>
              <a:srgbClr val="332F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385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1938528"/>
            <a:ext cx="9777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의생명 분야라 arXiv 보다 PubMed 가 필요한 경우는?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2322576"/>
            <a:ext cx="10326319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468880"/>
            <a:ext cx="103263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PubMed 계열 MCP 서버도 여럿 있습니다(예: BioMCP). 다만 상당수가 NCBI API 키 발급을 요구하기 때문에,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키가 필요 없는 arXiv 로 원리를 익힌 것입니다. 연결 절차는 claude mcp add 한 줄로 동일하므로,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키만 발급받으면 같은 방식으로 적용할 수 있습니다.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566160"/>
            <a:ext cx="10874959" cy="1572768"/>
          </a:xfrm>
          <a:prstGeom prst="roundRect">
            <a:avLst>
              <a:gd name="adj" fmla="val 2907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7124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3712464"/>
            <a:ext cx="9777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의 웹 검색으로도 논문을 찾을 수 있는데 MCP 가 왜 필요한지?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4096512"/>
            <a:ext cx="10326319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242816"/>
            <a:ext cx="103263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웹 검색은 검색 결과 페이지를 읽는 수준입니다. MCP 도구는 arXiv API 에 분야·기간 같은 조건을 붙인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질의를 보내고, 논문 전문을 내 PC에 파일로 받아 읽습니다. 더 중요한 차이는 확장성입니다 —</a:t>
            </a:r>
            <a:endParaRPr lang="en-US" sz="1100" dirty="0"/>
          </a:p>
          <a:p>
            <a:pPr algn="l" indent="0" marL="0">
              <a:lnSpc>
                <a:spcPct val="146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 없는 것(사내 데이터베이스, 실험 장비, 내부 문서)도 MCP 로는 연결할 수 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5468112"/>
            <a:ext cx="10874959" cy="512064"/>
          </a:xfrm>
          <a:prstGeom prst="roundRect">
            <a:avLst>
              <a:gd name="adj" fmla="val 8929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04688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운영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는 수강 만족도와 직결되는 질문 — 나오면 이 장으로 정면 대응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9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 ·  명령어 · 프롬프트 치트시트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227832" y="448056"/>
            <a:ext cx="830549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8521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입력한 것 전부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장이면 혼자서도 처음부터 다시 재현할 수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5282032" cy="3346704"/>
          </a:xfrm>
          <a:prstGeom prst="roundRect">
            <a:avLst>
              <a:gd name="adj" fmla="val 1366"/>
            </a:avLst>
          </a:prstGeom>
          <a:solidFill>
            <a:srgbClr val="1A181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2024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 ·  PowerShell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2286000"/>
            <a:ext cx="157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설치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--version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87368" y="2633472"/>
            <a:ext cx="157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설치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C:\kisti-lab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87368" y="2980944"/>
            <a:ext cx="157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실습 폴더로 이동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list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87368" y="3328416"/>
            <a:ext cx="157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등록된 서버와 상태 확인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arxiv --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87368" y="3675888"/>
            <a:ext cx="157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서버 연결 (다음 줄과 이어짐)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uvx arxiv-mcp-server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remove arxiv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87368" y="4370832"/>
            <a:ext cx="157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등록 해제 (초기화)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4718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87368" y="4718304"/>
            <a:ext cx="157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Claude Code 실행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1296" y="1773936"/>
            <a:ext cx="5282032" cy="3346704"/>
          </a:xfrm>
          <a:prstGeom prst="roundRect">
            <a:avLst>
              <a:gd name="adj" fmla="val 1366"/>
            </a:avLst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5616" y="192024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안에서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25616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D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14336" y="2286000"/>
            <a:ext cx="354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서버·도구 목록 관리 화면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25616" y="2724912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5616" y="28895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①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14336" y="2889504"/>
            <a:ext cx="354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검색 — 제목·저자·게재일·핵심 내용을 표로 정리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25616" y="3401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②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14336" y="3401568"/>
            <a:ext cx="354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이유 확인 — 어떤 도구를 왜 골랐는지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25616" y="39136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③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14336" y="3913632"/>
            <a:ext cx="354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→ 전문 읽기 → 3항목 요약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25616" y="44256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14336" y="4425696"/>
            <a:ext cx="354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폴더 확인 — list_papers 호출과 경로 안내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25616" y="4974336"/>
            <a:ext cx="4733392" cy="0"/>
          </a:xfrm>
          <a:prstGeom prst="line">
            <a:avLst/>
          </a:prstGeom>
          <a:noFill/>
          <a:ln w="9525">
            <a:solidFill>
              <a:srgbClr val="332F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5285232"/>
            <a:ext cx="10874959" cy="841248"/>
          </a:xfrm>
          <a:prstGeom prst="roundRect">
            <a:avLst>
              <a:gd name="adj" fmla="val 5435"/>
            </a:avLst>
          </a:prstGeom>
          <a:solidFill>
            <a:srgbClr val="13120D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5358384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저장 위치</a:t>
            </a:r>
            <a:pPr algn="l" indent="0" marL="0">
              <a:buNone/>
            </a:pPr>
            <a:r>
              <a:rPr lang="en-US" sz="1200" dirty="0">
                <a:solidFill>
                  <a:srgbClr val="ECE7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C:\Users\&lt;사용자&gt;\.arxiv-mcp-server\papers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" y="5705856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전문</a:t>
            </a:r>
            <a:pPr algn="l" indent="0" marL="0"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배포 파일  6교시_프롬프트모음.txt  에서 복사해 사용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대용량 연구 데이터 전처리·분석 자동화  ·  6교시 MCP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92847" y="6345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spc="60" kern="0" dirty="0">
                <a:solidFill>
                  <a:srgbClr val="5A56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pPr algn="r" indent="0" marL="0">
              <a:buNone/>
            </a:pPr>
            <a:r>
              <a:rPr lang="en-US" sz="900" dirty="0">
                <a:solidFill>
                  <a:srgbClr val="2A2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r" indent="0" marL="0">
              <a:buNone/>
            </a:pPr>
            <a:r>
              <a:rPr lang="en-US" sz="900" b="1" spc="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84687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6교시 — MCP 이해하기</dc:title>
  <dc:subject>PptxGenJS Presentation</dc:subject>
  <dc:creator>KISTI 교육</dc:creator>
  <cp:lastModifiedBy>KISTI 교육</cp:lastModifiedBy>
  <cp:revision>1</cp:revision>
  <dcterms:created xsi:type="dcterms:W3CDTF">2026-08-18T16:23:53Z</dcterms:created>
  <dcterms:modified xsi:type="dcterms:W3CDTF">2026-08-18T16:23:53Z</dcterms:modified>
</cp:coreProperties>
</file>