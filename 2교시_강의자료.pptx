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9" r:id="rId3"/>
    <p:sldId id="259" r:id="rId4"/>
    <p:sldId id="260" r:id="rId5"/>
    <p:sldId id="261" r:id="rId6"/>
    <p:sldId id="262" r:id="rId7"/>
    <p:sldId id="263" r:id="rId8"/>
    <p:sldId id="265" r:id="rId9"/>
    <p:sldId id="267" r:id="rId10"/>
    <p:sldId id="270" r:id="rId11"/>
    <p:sldId id="290" r:id="rId12"/>
    <p:sldId id="271" r:id="rId13"/>
    <p:sldId id="273" r:id="rId14"/>
    <p:sldId id="274" r:id="rId15"/>
    <p:sldId id="275" r:id="rId16"/>
    <p:sldId id="276" r:id="rId17"/>
    <p:sldId id="277" r:id="rId18"/>
    <p:sldId id="291" r:id="rId19"/>
    <p:sldId id="278" r:id="rId20"/>
    <p:sldId id="280" r:id="rId21"/>
    <p:sldId id="28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55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1교시에서 환경 세팅과 데이터 확인을 마쳤다. 이번 교시는 정제와 검증. 화면 가운데 문장이 오늘 60분의 결론이며, 끝날 때 이 문장이 왜 맞는지 직접 확인하게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61B2-472B-9513-F01F-E4647D0AF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F505C-BA62-DBBC-407F-BAB195CD0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C3A0B-A52E-5B9A-4AF6-69FEADB45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지금부터 실습. 세 단계이며 각 단계의 프롬프트는 화면 문장을 복사해 사용한다.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C8453-5F53-8EE8-CB97-0A990DEDB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9238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결측 표기 혼재, 장비 오류 코드(-999), 날짜 형식 혼재를 화면의 표에서 짚는다. 엑셀 수작업은 며칠이 걸리고 실수가 누적된다. 오늘은 이것을 문장 몇 개로 처리하되, 먼저 결과를 신뢰할 기준부터 정의한다.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코드를 한 줄씩 읽는 검토는 파이썬 지식과 시간이 필요하고, 읽어서 맞아 보여도 실행 결과까지 보장하지 못한다. 결과 검증(행 수 대조·통계 교차확인·샘플 검산)은 코드 지식 없이 수행 가능하고, 그 검증 자체도 AI에게 시킬 수 있다. 오늘의 핵심 문장을 여기서 처음 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결측 표기는 기록자마다 달라(빈칸·NA·-) 통일이 필요하고, -999 같은 오류 코드는 숫자로 인식되어 평균을 왜곡한다. 이상치는 삭제 대상이 아니라 판단 대상이라는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셋 중 무엇을 고르느냐는 연구 설계의 문제라 AI가 대신 정할 수 없다. 오늘 반복될 구조 — 기준은 연구자, 실행은 AI. 오늘 기본값은 가장 보수적인 표시만 하기이고, 이후 문장 하나로 전환 가능함을 실습에서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IQR 1.5배 규칙은 상자그림 수염과 동일한 기준. 핵심은 마지막 줄 — 통계에 걸려도 물리적으로 가능한 값은 발견일 수 있으므로 삭제하지 않고 표시만 한다. STEP 9에서 이 문장을 그대로 AI에게 지시한다.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지금부터 실습. 세 단계이며 각 단계의 프롬프트는 화면 문장을 복사해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1교시와 같은 Claude Desktop 환경에서 시작한다. 폴더 열기로 kisti-lab을 선택하면 준비 끝. 권한 모드 변경을 짚는다 — 8월 14일부터 auto mode가 기본값이라 대부분 묻지 않고 실행되며, 분류기가 실행 전에 검토한다. 실제 연구 데이터에서는 모드 선택기로 수동 승인이나 plan mode 사용을 권장한다.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"데이터 정리해줘"는 기준을 AI가 임의로 정하게 만든다. 처리 규칙·저장 방식·보고 형식 세 가지를 지정하는 순간 결과가 재현 가능해진다.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2801-1C39-D5E6-68A4-C1840BFA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A01F1-B62D-9C5D-7C1A-1402CDC5F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20C19-8106-DEC8-E737-A9284EF96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붙여 넣고 실행. 코드가 지나가도 읽지 않아도 된다 — 신뢰는 Part B의 검증으로 만든다. 규칙 5의 '풍속 음수 불가'는 통계가 아니라 측정 장비에 대한 지식에서 나온 판단이라는 점을 강조한다.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4F9C9-C358-7CF9-F496-18B61BFB9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2802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붙여 넣고 실행. 코드가 지나가도 읽지 않아도 된다 — 신뢰는 Part B의 검증으로 만든다. 규칙 5의 '풍속 음수 불가'는 통계가 아니라 측정 장비에 대한 지식에서 나온 판단이라는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개념에서 본 세 가지 확인을 하나씩 실행한다. 각각 프롬프트 한 개이며, 끝나면 기록을 파일로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결측은 표시만 했으므로 행이 줄어드는 이유는 중복 제거 하나뿐. 총량이 설명되는지가 검증의 첫 단계. 불일치가 나온 화면은 실패가 아니라 검증이 작동한 사례로 활용한다.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조건 두 개 — 도구 분리(DuckDB)와 컨텍스트 분리(서브에이전트). 같은 대화에서 재계산하면 앞의 답을 따라갈 수 있다. 비교표에서 볼 것은 temperature_c 범위와 humidity 최댓값 — 100을 넘는 값이 남아 있고 STEP 9에서 처리한다.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같은 코드 재실행은 재현이지 검증이 아니다 — 계산 규칙이 틀렸다면 같은 오류가 반복된다. 도구와 컨텍스트를 모두 분리하는 이유를 여기서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총량과 통계가 맞아도 개별 값 처리는 틀릴 수 있다. X가 나온 화면은 동의를 받아 공유하고 원인 조사 → 수정 → 재검산 순환을 전체 시연한다. 이 순환이 실무에서 가장 자주 반복된다.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D281D-861D-40C2-09AA-82DF5C111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F808C-54BB-5011-BC20-C4166E603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010D8-7D78-C646-FE03-1942BBFFC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총량과 통계가 맞아도 개별 값 처리는 틀릴 수 있다. X가 나온 화면은 동의를 받아 공유하고 원인 조사 → 수정 → 재검산 순환을 전체 시연한다. 이 순환이 실무에서 가장 자주 반복된다.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BB4DB-A331-77DE-26E3-732022644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5503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파일이 오늘의 핵심 결과물. 전처리를 어떻게 했는가라는 질문에 이 파일 하나로 답할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결과를 옆자리와 비교하면 서로 다르다. 틀린 사람이 있는 것이 아니라 기준을 주지 않아 AI가 각자 정한 것. 논문 방법론에 쓸 수 없는 수준의 지시는 AI에게도 부족한 지시다.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오늘 가져갈 습관 — 검증을 나중에 따로 시키지 않고 처음 요청 문장에 함께 넣는다. 이 습관이 들면 검증 누락이 없어진다.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212848"/>
            <a:ext cx="548640" cy="45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908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36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lang="en-US" sz="3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</a:t>
            </a:r>
            <a:r>
              <a:rPr lang="en-US" sz="36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3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6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r>
              <a:rPr lang="ko-KR" altLang="en-US" sz="3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화와</a:t>
            </a:r>
            <a:endParaRPr lang="en-US" sz="3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검증 시키기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2DF94-4A98-214C-2F39-3AE1CCCA7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71100D-06B8-5CF7-FB4A-AAAC00B84C50}"/>
              </a:ext>
            </a:extLst>
          </p:cNvPr>
          <p:cNvSpPr/>
          <p:nvPr/>
        </p:nvSpPr>
        <p:spPr>
          <a:xfrm>
            <a:off x="5824728" y="2331720"/>
            <a:ext cx="548640" cy="45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2026D5-C7F8-B1E6-AB9B-A908DC8242C1}"/>
              </a:ext>
            </a:extLst>
          </p:cNvPr>
          <p:cNvSpPr/>
          <p:nvPr/>
        </p:nvSpPr>
        <p:spPr>
          <a:xfrm>
            <a:off x="640080" y="2999231"/>
            <a:ext cx="10908792" cy="1056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</a:rPr>
              <a:t>오늘 사용할 데이터와 </a:t>
            </a:r>
            <a:endParaRPr lang="en-US" altLang="ko-KR" sz="3000" b="1" dirty="0">
              <a:solidFill>
                <a:srgbClr val="FFDF5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</a:rPr>
              <a:t>전처리</a:t>
            </a:r>
            <a:r>
              <a:rPr lang="ko-KR" alt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</a:rPr>
              <a:t> 방법 간략 설명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28F634-9D71-604B-5D7C-D12E77BFDCF0}"/>
              </a:ext>
            </a:extLst>
          </p:cNvPr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0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359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데이터는 그대로 분석할 수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–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필요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사용할 data/sensor_readings.csv · 200,004행 × 14열 · 1</a:t>
            </a:r>
            <a:r>
              <a:rPr lang="en-US" sz="140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교시에서 </a:t>
            </a:r>
            <a:r>
              <a:rPr lang="ko-KR" altLang="en-US" sz="140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lang="en-US" sz="140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sz="14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했던</a:t>
            </a: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sensor_readings.csv  (발췌)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04288"/>
          <a:ext cx="5577835" cy="1737360"/>
        </p:xfrm>
        <a:graphic>
          <a:graphicData uri="http://schemas.openxmlformats.org/drawingml/2006/table">
            <a:tbl>
              <a:tblPr/>
              <a:tblGrid>
                <a:gridCol w="1729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4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10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measured_at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10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temperature_c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10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humidity_pct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0" spc="100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1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20624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노란색 = 그대로 계산하면 결과가 틀어지는 값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83680" y="2011680"/>
            <a:ext cx="4782312" cy="78638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803136" y="21031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 제각각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03136" y="23591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열에 날짜 표기가 세 가지. 상태는 정상·OK·normal 등 아홉 가지, 풍향은 한글·영문 혼재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83680" y="2907792"/>
            <a:ext cx="4782312" cy="78638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803136" y="29992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결측과 오류 코드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03136" y="32552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개 열에 빈칸 결측이 2만 건 이상. 장비 오류 코드 -999는 숫자로 인식되어 평균을 왜곡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803904"/>
            <a:ext cx="4782312" cy="78638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803136" y="38953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수작업으로는 한계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03136" y="41513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20만 행을 엑셀에서 고치면 며칠 소요. 손을 댈수록 실수가 누적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정확한지 자연어로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방법으로 진행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</a:t>
            </a: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정확하게 만들어졌는지 사람이 확인하는 것이 아니라</a:t>
            </a:r>
            <a:r>
              <a:rPr lang="en-US" altLang="ko-KR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</a:t>
            </a:r>
            <a:r>
              <a:rPr lang="en-US" sz="14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ko-KR" alt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</a:t>
            </a: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검증으로</a:t>
            </a: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완성도 확인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148072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42416" y="2468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읽어 확인하는 방식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276148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대상: 코드 전체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2416" y="307238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지식과 검토 시간 필요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0704" y="35478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43584" y="3438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검토한다고 </a:t>
            </a:r>
            <a:r>
              <a:rPr lang="en-US" sz="115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결과까지</a:t>
            </a: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보장되지 않음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60704" y="3858768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43584" y="3749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소요 </a:t>
            </a:r>
            <a:r>
              <a:rPr lang="en-US" sz="115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</a:t>
            </a: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 양에 비례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60704" y="416966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43584" y="4059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어차피 </a:t>
            </a:r>
            <a:r>
              <a:rPr lang="ko-KR" altLang="en-US" sz="115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lang="ko-KR" alt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 </a:t>
            </a:r>
            <a:r>
              <a:rPr lang="en-US" sz="115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때마다 재검토 필요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5148072" cy="2377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514807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37376" y="2468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검증하는 방식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37376" y="276148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대상: 실행 결과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7376" y="307238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아래와 같이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기준만 있으면 수행 가능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55664" y="3547872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638544" y="3438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전후 행 수 대조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55664" y="3858768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638544" y="37490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도구로 통계 교차확인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55664" y="4169664"/>
            <a:ext cx="64008" cy="6400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638544" y="4059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샘플 검산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지저분한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가지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유형을 구분해야 처리 방법을 지정할 수 있음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148072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42416" y="21579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2139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2416" y="250545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없는 상태. 빈칸과 장비 오류 코드가 섞여 있는 </a:t>
            </a:r>
            <a:r>
              <a:rPr lang="en-US" sz="11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</a:t>
            </a: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42416" y="3108960"/>
            <a:ext cx="4709160" cy="402336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 ·  -999 (장비 오류 코드)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148072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37376" y="21579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0" y="2139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7376" y="250545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상식적인 범위를 벗어난 값. 측정 오류일 수도, 실제 발견일 수도 있음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37376" y="3108960"/>
            <a:ext cx="4709160" cy="402336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83680" y="310896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temperature_c = -999    humidity_pct = 137.0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931920"/>
            <a:ext cx="5148072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42416" y="40782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4059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불일치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42416" y="442569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정보를 서로 다르게 표기. </a:t>
            </a:r>
            <a:r>
              <a:rPr lang="en-US" sz="11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</a:t>
            </a: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동일하게 인지하지만</a:t>
            </a: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컴퓨터는 다른 값으로 처리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42416" y="5029200"/>
            <a:ext cx="4709160" cy="402336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188720" y="50292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3형식   정상 = OK = normal   남동 = 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931920"/>
            <a:ext cx="5148072" cy="16916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37376" y="40782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0" y="4059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행에 데이터 </a:t>
            </a:r>
            <a:r>
              <a:rPr lang="en-US" sz="15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</a:t>
            </a: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기재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37376" y="442569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행이 두 번 이상 기록된 상태. 눈으로는 찾기 어려움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37376" y="5029200"/>
            <a:ext cx="4709160" cy="402336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83680" y="502920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 여부부터 진단으로 확인 — 이번 데이터는 0건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소개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처리할</a:t>
            </a:r>
            <a:r>
              <a:rPr lang="en-US" sz="14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지는</a:t>
            </a: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분석 목적에 </a:t>
            </a:r>
            <a:r>
              <a:rPr lang="en-US" sz="14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</a:t>
            </a: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52827"/>
            <a:ext cx="3456432" cy="3475905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7" name="Text 5"/>
          <p:cNvSpPr/>
          <p:nvPr/>
        </p:nvSpPr>
        <p:spPr>
          <a:xfrm>
            <a:off x="1042416" y="22128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데이터 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삭제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416" y="25054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결측이 있는 행을 제거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2416" y="32908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42416" y="35285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결측이 극소수이고, 삭제해도 표본이 한쪽으로 치우치지 않을 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2416" y="4283795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주의할 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42416" y="4521539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</a:t>
            </a: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</a:t>
            </a: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결측이</a:t>
            </a: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특정 조건에 </a:t>
            </a:r>
            <a:r>
              <a:rPr lang="en-US" sz="12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몰려</a:t>
            </a: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있으면</a:t>
            </a: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카테고리 데이터들 통째로 삭제되어</a:t>
            </a: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편향 발생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53712" y="2052827"/>
            <a:ext cx="3456432" cy="3475905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4" name="Text 12"/>
          <p:cNvSpPr/>
          <p:nvPr/>
        </p:nvSpPr>
        <p:spPr>
          <a:xfrm>
            <a:off x="4773168" y="22128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대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</a:t>
            </a: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변경</a:t>
            </a: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73168" y="25054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</a:t>
            </a:r>
            <a:r>
              <a:rPr lang="en-US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200" dirty="0" err="1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중앙값</a:t>
            </a:r>
            <a:r>
              <a:rPr lang="en-US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 err="1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최빈값처럼</a:t>
            </a:r>
            <a:r>
              <a:rPr lang="ko-KR" altLang="en-US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통계 값을 이용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2908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35285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수를 유지해야 하는 분석이 필요할 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3168" y="4283795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주의할 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4521539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 낸 값이라는 기록 필수. 분산이 줄고 편향이 생길 수 있음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84464" y="2052827"/>
            <a:ext cx="3456432" cy="3475905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1" name="Shape 19"/>
          <p:cNvSpPr/>
          <p:nvPr/>
        </p:nvSpPr>
        <p:spPr>
          <a:xfrm>
            <a:off x="8284464" y="2011680"/>
            <a:ext cx="3456432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2" name="Text 20"/>
          <p:cNvSpPr/>
          <p:nvPr/>
        </p:nvSpPr>
        <p:spPr>
          <a:xfrm>
            <a:off x="8503920" y="215798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방법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r>
              <a:rPr lang="en-US" altLang="ko-KR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없이 </a:t>
            </a:r>
            <a:r>
              <a:rPr lang="en-US" sz="1600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표시만</a:t>
            </a: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3920" y="2724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값은 채우지 않고</a:t>
            </a:r>
            <a:r>
              <a:rPr lang="en-US" altLang="ko-KR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 err="1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결측임을</a:t>
            </a:r>
            <a:r>
              <a:rPr lang="ko-KR" altLang="en-US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표준 형식</a:t>
            </a:r>
            <a:r>
              <a:rPr lang="en-US" altLang="ko-KR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dirty="0" err="1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</a:t>
            </a:r>
            <a:r>
              <a:rPr lang="en-US" altLang="ko-KR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통일해 기록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32908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3528568"/>
            <a:ext cx="3017520" cy="662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2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목적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미확정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등의 이유로 지금 결정하지 않아도 되는 모든 단계</a:t>
            </a:r>
            <a:endParaRPr lang="en-US" altLang="ko-KR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indent="-171450">
              <a:lnSpc>
                <a:spcPct val="122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결측치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 처리를 모델이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직접하는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 경우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4283795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주의할 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521539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" name="Text 17">
            <a:extLst>
              <a:ext uri="{FF2B5EF4-FFF2-40B4-BE49-F238E27FC236}">
                <a16:creationId xmlns:a16="http://schemas.microsoft.com/office/drawing/2014/main" id="{CF1C29C2-ED7C-F9C5-6839-C753F6B8AD8C}"/>
              </a:ext>
            </a:extLst>
          </p:cNvPr>
          <p:cNvSpPr/>
          <p:nvPr/>
        </p:nvSpPr>
        <p:spPr>
          <a:xfrm>
            <a:off x="8503920" y="4503251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ko-KR" alt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변환하는 것을 잊어버리고 방치하면 추후 분석할 때 문제 발생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675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결과가 다르면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통계적으로는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튀지만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물리적으로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삭제하지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않고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표시만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431627"/>
            <a:ext cx="5989320" cy="159105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7" name="Text 5"/>
          <p:cNvSpPr/>
          <p:nvPr/>
        </p:nvSpPr>
        <p:spPr>
          <a:xfrm>
            <a:off x="1042416" y="2596219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1 · 도메인 지식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42416" y="2888827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물리적으로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불가능한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3342470"/>
            <a:ext cx="5532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예시로 들면</a:t>
            </a: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실험실 온도가 200도</a:t>
            </a:r>
            <a:r>
              <a:rPr lang="ko-KR" alt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나올 수 없는 값이 나오는 경우</a:t>
            </a:r>
            <a:r>
              <a:rPr lang="en-US" altLang="ko-KR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연구자가 가장 잘 </a:t>
            </a:r>
            <a:r>
              <a:rPr lang="en-US" sz="12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아는</a:t>
            </a: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영역이</a:t>
            </a:r>
            <a:r>
              <a:rPr lang="ko-KR" alt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</a:t>
            </a:r>
            <a:r>
              <a:rPr lang="en-US" altLang="ko-KR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통계적 방법 외에 직접 만든 기준 등으로 분류해야 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253990"/>
            <a:ext cx="5989320" cy="1839297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1" name="Text 9"/>
          <p:cNvSpPr/>
          <p:nvPr/>
        </p:nvSpPr>
        <p:spPr>
          <a:xfrm>
            <a:off x="1042416" y="4418583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2 · IQR </a:t>
            </a:r>
            <a:r>
              <a:rPr lang="ko-KR" alt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이용한 </a:t>
            </a:r>
            <a:r>
              <a:rPr lang="en-US" sz="100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r>
              <a:rPr lang="en-US" sz="10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규칙 (IQR 1.5배)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42416" y="4711191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Q1−1.5×IQR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미만</a:t>
            </a:r>
            <a:r>
              <a:rPr lang="en-US" altLang="ko-KR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Q3+1.5×IQR 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초과를 의심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5113528"/>
            <a:ext cx="5532120" cy="782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절반이 모여 있는 가운데 구간에서 그 폭의 </a:t>
            </a:r>
            <a:r>
              <a:rPr lang="en-US" altLang="ko-KR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</a:t>
            </a:r>
            <a:r>
              <a:rPr lang="ko-KR" alt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 넘게 떨어져 있으면 같은 집단에서 나왔다고 보기 어려워 이상치로 의심</a:t>
            </a:r>
            <a:r>
              <a:rPr lang="en-US" altLang="ko-KR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기계적으로 계산될 뿐</a:t>
            </a:r>
            <a:r>
              <a:rPr lang="en-US" altLang="ko-KR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잘못된 값인지는 사람이 직접 판단 필요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86600" y="2463123"/>
            <a:ext cx="4279392" cy="2743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15" name="Text 13"/>
          <p:cNvSpPr/>
          <p:nvPr/>
        </p:nvSpPr>
        <p:spPr>
          <a:xfrm>
            <a:off x="7306056" y="2596219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IQR 1.5</a:t>
            </a:r>
            <a:r>
              <a:rPr lang="ko-KR" altLang="en-US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배를 넘어가는 값들을 이상치로 간주 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35240" y="3730075"/>
            <a:ext cx="3246120" cy="0"/>
          </a:xfrm>
          <a:prstGeom prst="line">
            <a:avLst/>
          </a:prstGeom>
          <a:noFill/>
          <a:ln w="1905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17" name="Shape 15"/>
          <p:cNvSpPr/>
          <p:nvPr/>
        </p:nvSpPr>
        <p:spPr>
          <a:xfrm>
            <a:off x="7635240" y="3583771"/>
            <a:ext cx="0" cy="292608"/>
          </a:xfrm>
          <a:prstGeom prst="line">
            <a:avLst/>
          </a:prstGeom>
          <a:noFill/>
          <a:ln w="1905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18" name="Shape 16"/>
          <p:cNvSpPr/>
          <p:nvPr/>
        </p:nvSpPr>
        <p:spPr>
          <a:xfrm>
            <a:off x="10881360" y="3583771"/>
            <a:ext cx="0" cy="292608"/>
          </a:xfrm>
          <a:prstGeom prst="line">
            <a:avLst/>
          </a:prstGeom>
          <a:noFill/>
          <a:ln w="1905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19" name="Shape 17"/>
          <p:cNvSpPr/>
          <p:nvPr/>
        </p:nvSpPr>
        <p:spPr>
          <a:xfrm>
            <a:off x="8549640" y="3437467"/>
            <a:ext cx="1417320" cy="585216"/>
          </a:xfrm>
          <a:prstGeom prst="rect">
            <a:avLst/>
          </a:prstGeom>
          <a:solidFill>
            <a:srgbClr val="2A2416"/>
          </a:solidFill>
          <a:ln w="15875">
            <a:solidFill>
              <a:srgbClr val="FFD733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20" name="Shape 18"/>
          <p:cNvSpPr/>
          <p:nvPr/>
        </p:nvSpPr>
        <p:spPr>
          <a:xfrm>
            <a:off x="9189720" y="3437467"/>
            <a:ext cx="0" cy="585216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21" name="Shape 19"/>
          <p:cNvSpPr/>
          <p:nvPr/>
        </p:nvSpPr>
        <p:spPr>
          <a:xfrm>
            <a:off x="7333488" y="3679783"/>
            <a:ext cx="100584" cy="100584"/>
          </a:xfrm>
          <a:prstGeom prst="ellipse">
            <a:avLst/>
          </a:prstGeom>
          <a:solidFill>
            <a:srgbClr val="FFDF57"/>
          </a:solidFill>
          <a:ln w="12700">
            <a:solidFill>
              <a:srgbClr val="FFDF57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22" name="Shape 20"/>
          <p:cNvSpPr/>
          <p:nvPr/>
        </p:nvSpPr>
        <p:spPr>
          <a:xfrm>
            <a:off x="7479792" y="3679783"/>
            <a:ext cx="100584" cy="100584"/>
          </a:xfrm>
          <a:prstGeom prst="ellipse">
            <a:avLst/>
          </a:prstGeom>
          <a:solidFill>
            <a:srgbClr val="FFDF57"/>
          </a:solidFill>
          <a:ln w="12700">
            <a:solidFill>
              <a:srgbClr val="FFDF57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23" name="Shape 21"/>
          <p:cNvSpPr/>
          <p:nvPr/>
        </p:nvSpPr>
        <p:spPr>
          <a:xfrm>
            <a:off x="11064240" y="3679783"/>
            <a:ext cx="100584" cy="100584"/>
          </a:xfrm>
          <a:prstGeom prst="ellipse">
            <a:avLst/>
          </a:prstGeom>
          <a:solidFill>
            <a:srgbClr val="FFDF57"/>
          </a:solidFill>
          <a:ln w="12700">
            <a:solidFill>
              <a:srgbClr val="FFDF57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24" name="Text 22"/>
          <p:cNvSpPr/>
          <p:nvPr/>
        </p:nvSpPr>
        <p:spPr>
          <a:xfrm>
            <a:off x="8549640" y="4095835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50%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14BAC1E7-B138-D561-2318-24C637944F26}"/>
              </a:ext>
            </a:extLst>
          </p:cNvPr>
          <p:cNvSpPr/>
          <p:nvPr/>
        </p:nvSpPr>
        <p:spPr>
          <a:xfrm>
            <a:off x="7121144" y="4557606"/>
            <a:ext cx="4244848" cy="494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</a:t>
            </a:r>
            <a:r>
              <a:rPr lang="en-US" altLang="ko-KR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</a:t>
            </a:r>
          </a:p>
          <a:p>
            <a:pPr marL="0" indent="0">
              <a:buNone/>
            </a:pPr>
            <a:r>
              <a:rPr lang="en-US" altLang="ko-KR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Q1 − 1.5×IQR </a:t>
            </a:r>
            <a:r>
              <a:rPr lang="ko-KR" altLang="en-US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미만 또는 </a:t>
            </a:r>
            <a:r>
              <a:rPr lang="en-US" altLang="ko-KR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+ 1.5×IQR </a:t>
            </a:r>
            <a:r>
              <a:rPr lang="ko-KR" altLang="en-US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331720"/>
            <a:ext cx="548640" cy="45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999232"/>
            <a:ext cx="10908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진단, 규칙 지정, 스크립트 생성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1교시와 같은 환경에서 시작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Desktop에서 kisti-lab 폴더를 열면 준비 완료 · 이후는 전부 한국어 문장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10543032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42416" y="2185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36192" y="2185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실행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724912"/>
            <a:ext cx="10543032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42416" y="2898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36192" y="2898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폴더 열기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2862072"/>
            <a:ext cx="2331720" cy="347472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069080" y="28620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폴더 열기 → kisti-lab 선택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438144"/>
            <a:ext cx="10543032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42416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6192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파일 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31920" y="3465576"/>
            <a:ext cx="2331720" cy="566928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069080" y="34655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폴더에 sensor_readings.csv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4151376"/>
            <a:ext cx="10543032" cy="621792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042416" y="43251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36192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확인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31920" y="4288536"/>
            <a:ext cx="2331720" cy="347472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069080" y="42885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정확하고 전문적인 처리 결과를 희망할수록 구체적인 통계 지시 필수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구체적으로 </a:t>
            </a:r>
            <a:r>
              <a:rPr lang="en-US" sz="14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지정하지</a:t>
            </a: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않은 기준은 </a:t>
            </a:r>
            <a:r>
              <a:rPr lang="en-US" sz="14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실행할</a:t>
            </a:r>
            <a:r>
              <a:rPr 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</a:t>
            </a:r>
            <a:r>
              <a:rPr lang="ko-KR" altLang="en-US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마다 결과 달라질 수 있음</a:t>
            </a:r>
            <a:r>
              <a:rPr lang="en-US" altLang="ko-KR" sz="14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4846320" cy="27432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42416" y="217627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지시가 부족한 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42416" y="2487168"/>
            <a:ext cx="4407408" cy="475488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225296" y="24871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정리해줘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60704" y="3255264"/>
            <a:ext cx="64008" cy="64008"/>
          </a:xfrm>
          <a:prstGeom prst="rect">
            <a:avLst/>
          </a:prstGeom>
          <a:solidFill>
            <a:srgbClr val="A8A090"/>
          </a:solidFill>
          <a:ln w="12700">
            <a:solidFill>
              <a:srgbClr val="A8A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43584" y="31455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정리의 기준을 AI가 전부 임의로 결정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60704" y="3730752"/>
            <a:ext cx="64008" cy="64008"/>
          </a:xfrm>
          <a:prstGeom prst="rect">
            <a:avLst/>
          </a:prstGeom>
          <a:solidFill>
            <a:srgbClr val="A8A090"/>
          </a:solidFill>
          <a:ln w="12700">
            <a:solidFill>
              <a:srgbClr val="A8A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43584" y="36210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실행할</a:t>
            </a: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때마다</a:t>
            </a: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lang="en-US" sz="11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9904" y="2011680"/>
            <a:ext cx="5276088" cy="8412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17" name="Text 15"/>
          <p:cNvSpPr/>
          <p:nvPr/>
        </p:nvSpPr>
        <p:spPr>
          <a:xfrm>
            <a:off x="6309360" y="21396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처리 규칙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4323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결측·이상치·형식·중복을 각각 어떻게 처리할지 지정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9904" y="2962656"/>
            <a:ext cx="5276088" cy="8412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0" name="Text 18"/>
          <p:cNvSpPr/>
          <p:nvPr/>
        </p:nvSpPr>
        <p:spPr>
          <a:xfrm>
            <a:off x="6309360" y="30906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저장 방식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383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예를 들어 처리 과정이 여러 개이고 길 경우 중간 결과물을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저장하도록 지정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9904" y="3913632"/>
            <a:ext cx="5276088" cy="1088136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2000"/>
          </a:p>
        </p:txBody>
      </p:sp>
      <p:sp>
        <p:nvSpPr>
          <p:cNvPr id="23" name="Text 21"/>
          <p:cNvSpPr/>
          <p:nvPr/>
        </p:nvSpPr>
        <p:spPr>
          <a:xfrm>
            <a:off x="6309360" y="40416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alt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보고</a:t>
            </a:r>
            <a:r>
              <a:rPr lang="en-US" sz="14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형식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59" y="4334255"/>
            <a:ext cx="4959773" cy="52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내가 확인하고 싶은 포맷으로 요청하면 내가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후보정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안하니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업무 효율성 올라감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15531-41A7-2081-A549-FB64E7261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94D01D72-A461-49DB-BAF3-2506245C897F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데이터를 설명하고 이상 데이터 스캔 요청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8DC18D-3F70-5D66-7621-3E55210BBBB7}"/>
              </a:ext>
            </a:extLst>
          </p:cNvPr>
          <p:cNvSpPr/>
          <p:nvPr/>
        </p:nvSpPr>
        <p:spPr>
          <a:xfrm>
            <a:off x="824484" y="1408177"/>
            <a:ext cx="105430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데이터의 직접 확인은 시간 소모가 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스캔은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위임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데이터를 가장 잘 알고 있는 사용자가 목적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컬럼의 의미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범위 등을 설명하면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사용자의 기준으로 이상치를 판단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스캔 결과는 출발점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이를 참고해서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분석가의 직관과 도메인 지식으로 데이터 추가 확인 후 최종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기준을 확정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8EDC42-2B7A-17BE-DBF6-F89F36E06CCA}"/>
              </a:ext>
            </a:extLst>
          </p:cNvPr>
          <p:cNvSpPr/>
          <p:nvPr/>
        </p:nvSpPr>
        <p:spPr>
          <a:xfrm>
            <a:off x="822959" y="2514600"/>
            <a:ext cx="10166773" cy="3785616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F54D083-37C6-4B2E-4E27-CA1DEC9748B8}"/>
              </a:ext>
            </a:extLst>
          </p:cNvPr>
          <p:cNvSpPr/>
          <p:nvPr/>
        </p:nvSpPr>
        <p:spPr>
          <a:xfrm>
            <a:off x="822959" y="2514600"/>
            <a:ext cx="45719" cy="378561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1B6659A-C87F-3F9A-7F37-789D708ED59C}"/>
              </a:ext>
            </a:extLst>
          </p:cNvPr>
          <p:cNvSpPr/>
          <p:nvPr/>
        </p:nvSpPr>
        <p:spPr>
          <a:xfrm>
            <a:off x="1078991" y="2660904"/>
            <a:ext cx="94704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025B89-FBBF-1F8E-40E8-150AEBC8CAD3}"/>
              </a:ext>
            </a:extLst>
          </p:cNvPr>
          <p:cNvSpPr/>
          <p:nvPr/>
        </p:nvSpPr>
        <p:spPr>
          <a:xfrm>
            <a:off x="1078991" y="2971800"/>
            <a:ext cx="9442565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32000"/>
              </a:lnSpc>
              <a:defRPr/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폴더의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sensor_readings.csv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내가 운영하는 충남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대전권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기상 관측망에서 약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년간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(2025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수집한 데이터야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 설명은 아래와 같아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>
              <a:lnSpc>
                <a:spcPct val="132000"/>
              </a:lnSpc>
              <a:defRPr/>
            </a:pPr>
            <a:endParaRPr lang="en-US" altLang="ko-KR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>
              <a:lnSpc>
                <a:spcPct val="132000"/>
              </a:lnSpc>
              <a:defRPr/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station: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관측소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ID(ST-01~ST-12). 12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관측소가 섞여 있음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measured_at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시각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관측소마다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간격으로 기록됨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temperature_c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(°C).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지역 기후상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-25~45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도를 벗어날 수 없음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wind_speed_ms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풍속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(m/s).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특성상 음수가 나올 수 없음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wind_direction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풍향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8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방위로 기록</a:t>
            </a:r>
          </a:p>
          <a:p>
            <a:pPr lvl="0">
              <a:lnSpc>
                <a:spcPct val="132000"/>
              </a:lnSpc>
              <a:defRPr/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status: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상태 코드</a:t>
            </a:r>
          </a:p>
          <a:p>
            <a:pPr lvl="0">
              <a:lnSpc>
                <a:spcPct val="132000"/>
              </a:lnSpc>
              <a:defRPr/>
            </a:pPr>
            <a:endParaRPr lang="ko-KR" altLang="en-US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>
              <a:lnSpc>
                <a:spcPct val="132000"/>
              </a:lnSpc>
              <a:defRPr/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정보를 참고해서 데이터 전체를 스캔하고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전에 확인해야 할 이상한 부분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설명과 어긋나는 값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불일치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등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찾아서 보고해줘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>
              <a:lnSpc>
                <a:spcPct val="132000"/>
              </a:lnSpc>
              <a:defRPr/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설명하지 않은 특이점이 보이면 그것도 알려줘</a:t>
            </a:r>
            <a:r>
              <a:rPr lang="en-US" altLang="ko-KR" sz="120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단계에서는 데이터를 수정하지 말고 보고만 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3F6E114-7AB3-FE41-7790-33245F0BC8B4}"/>
              </a:ext>
            </a:extLst>
          </p:cNvPr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0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704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기준 여섯 개를 자연어로 전달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4484" y="1408177"/>
            <a:ext cx="1054303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보고까지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번에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풍속이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음수일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통계가 아니라 도메인 지식에서 나온 기준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도메인 지식도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상식선에서 일정부분 처리하지만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연구자가 구체적으로 기준 정해줄수록 정확한 결과 도출 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59" y="2514600"/>
            <a:ext cx="10166773" cy="3785616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8" name="Shape 6"/>
          <p:cNvSpPr/>
          <p:nvPr/>
        </p:nvSpPr>
        <p:spPr>
          <a:xfrm>
            <a:off x="822959" y="2514600"/>
            <a:ext cx="45719" cy="378561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9" name="Text 7"/>
          <p:cNvSpPr/>
          <p:nvPr/>
        </p:nvSpPr>
        <p:spPr>
          <a:xfrm>
            <a:off x="1078991" y="2660904"/>
            <a:ext cx="94704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</a:t>
            </a:r>
            <a:r>
              <a:rPr lang="en-US" sz="120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r>
              <a:rPr lang="en-US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lang="en-US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lang="ko-KR" altLang="en-US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 예시</a:t>
            </a:r>
            <a:r>
              <a:rPr lang="en-US" altLang="ko-KR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1" y="2971800"/>
            <a:ext cx="9442565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폴더의 sensor_readings.csv를 아래 규칙대로 정제하는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스크립트를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clean_data.py 라는 이름으로 만들어서 실행까지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해줘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실행은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환경 사용, 규칙은 번호 순서대로 적용해줘.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[정제 규칙]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원본 파일은 절대 수정하지 말고,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data/sensor_readings_cleaned.csv 로 새로 저장해.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빈칸 결측은 지우거나 채우지 말고 그대로 둬. 온도(temperature_c)의 -999는 장비 오류 코드이므로 결측 처리하고 몇 건인지 세어줘.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날짜 열(measured_at)은 YYYY-MM-DD HH:MM:SS 형식으로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통일해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status는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정상·점검·오류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범주로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통일하고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=OK=normal 등),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wind_direction의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한글 방위는 영문(N, NE, …)으로 통일해.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풍속(wind_speed_ms)이 음수면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물리적으로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불가능한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오류로 보고 결측 처리하고, 몇 건인지 세어줘.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완전히 똑같은 중복 행은 첫 번째 것만 남기고 지워.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[보고 규칙]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실행이 끝나면 다음을 표로 보고해: 처리 전 행 수,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 행 수, 규칙 2~6 각각의 처리 건수.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331720"/>
            <a:ext cx="548640" cy="45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2999231"/>
            <a:ext cx="10908792" cy="1047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정제 작업이 잘 되었는지</a:t>
            </a:r>
            <a:endParaRPr lang="en-US" altLang="ko-KR" sz="3000" b="1" dirty="0">
              <a:solidFill>
                <a:srgbClr val="FFDF5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30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</a:t>
            </a:r>
            <a:r>
              <a:rPr 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AI에게 시키기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검증실습 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1 -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전후의 행 수 대조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97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삭제 금지를 지시했어도 여러 조건의 정제 작업 중 명령이 섞여 삭제 가능성 있음 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조건에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중복행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제거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조건이 있는데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길어지고 명령 섞이면 </a:t>
            </a: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결측치가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제거될 가능성 발생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전후 행 수가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않으면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통계는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없으므로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행 수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첫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번째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24483" y="2700613"/>
            <a:ext cx="10539999" cy="233172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8" name="Shape 6"/>
          <p:cNvSpPr/>
          <p:nvPr/>
        </p:nvSpPr>
        <p:spPr>
          <a:xfrm>
            <a:off x="824484" y="2700613"/>
            <a:ext cx="54864" cy="2331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9" name="Text 7"/>
          <p:cNvSpPr/>
          <p:nvPr/>
        </p:nvSpPr>
        <p:spPr>
          <a:xfrm>
            <a:off x="1080516" y="2846917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80516" y="3157813"/>
            <a:ext cx="10283966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정제 결과를 검증하자. data/sensor_readings.csv(원본)와 data/sensor_readings_cleaned.csv(처리본)의 행 수를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세어줘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"원본 행 수 - 중복 제거 건수 = 처리본 행 수"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산식이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정확히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맞는지 확인하고, 맞으면 산식을 숫자로 보여줘.</a:t>
            </a:r>
            <a:endParaRPr lang="en-US" sz="14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그 밖에 사라지거나 늘어난 행이 있다면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행인지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예시를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보여주고 원인을 설명해줘.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4484" y="5242645"/>
            <a:ext cx="10543032" cy="9601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3" name="Shape 21"/>
          <p:cNvSpPr/>
          <p:nvPr/>
        </p:nvSpPr>
        <p:spPr>
          <a:xfrm>
            <a:off x="824484" y="5242645"/>
            <a:ext cx="54864" cy="9601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4" name="Text 22"/>
          <p:cNvSpPr/>
          <p:nvPr/>
        </p:nvSpPr>
        <p:spPr>
          <a:xfrm>
            <a:off x="1098804" y="5370661"/>
            <a:ext cx="748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불일치가 </a:t>
            </a:r>
            <a:r>
              <a:rPr lang="en-US" sz="105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나온</a:t>
            </a: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경우</a:t>
            </a:r>
            <a:r>
              <a:rPr 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실습은 데이터 규모도 작고 정제 규칙도 간단해  무난히 통과했을 것</a:t>
            </a:r>
            <a:r>
              <a:rPr lang="en-US" altLang="ko-KR" sz="105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8804" y="5644981"/>
            <a:ext cx="99943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이어서 입력:  왜 차이가 나는지 원인을 조사하고, 어떤 행이 사라졌는지 예시를 보여줘.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검증이 작동한 것이므로, 원인을 확인한 뒤 규칙을 고쳐 다시 실행.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검증실습 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2 -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통계를 이용한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59" y="1463037"/>
            <a:ext cx="11106573" cy="205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제대로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않았다면 최대값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최소값에 이상치가 잡히고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평균이 왜곡되는 등 이상한 값이 통계에 드러날 것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연구자 둘 다 통계 값 보며 정제가 잘 되었는지 확인 필요 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측정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에이전트를 별도로 만들고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규칙 적용 여부 판정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기존 맥락을 알고 있는 메인에서 담당 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프롬프트를 돌리고 자세한 내용은 뒷장에서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1624" y="3786801"/>
            <a:ext cx="10357443" cy="2514093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01625" y="3786802"/>
            <a:ext cx="45719" cy="251409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57657" y="393310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프롬프트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7656" y="4244002"/>
            <a:ext cx="9619653" cy="1902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32000"/>
              </a:lnSpc>
              <a:defRPr/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sensor_readings.csv와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처리본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sensor_readings_cleaned.csv를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아래 순서로 검증해줘: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lvl="0">
              <a:lnSpc>
                <a:spcPct val="132000"/>
              </a:lnSpc>
              <a:defRPr/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lvl="0">
              <a:lnSpc>
                <a:spcPct val="132000"/>
              </a:lnSpc>
              <a:defRPr/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[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서브에이전트를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띄워서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참고하지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파일만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계산하게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열별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표준편차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최솟값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최댓값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유효값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개수를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전후로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나란히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보여줘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lvl="0">
              <a:lnSpc>
                <a:spcPct val="132000"/>
              </a:lnSpc>
              <a:defRPr/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[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적용 여부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너는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받아서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열마다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변화를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1~6과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각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때문인지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없음"으로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명시해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lvl="0">
              <a:lnSpc>
                <a:spcPct val="132000"/>
              </a:lnSpc>
              <a:defRPr/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규칙으로도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설명되지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있거나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규칙대로라면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바뀌었어야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하는데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그대로인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있으면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검증실습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–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통계를 이용한 검증 시 에이전트 역할 분리하는 이유</a:t>
            </a:r>
            <a:endParaRPr lang="en-US" altLang="ko-KR" sz="2500" dirty="0">
              <a:solidFill>
                <a:prstClr val="black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97467" y="1536192"/>
            <a:ext cx="10468525" cy="4241544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97467" y="1560156"/>
            <a:ext cx="10468526" cy="54355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90601" y="1780641"/>
            <a:ext cx="9101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측정</a:t>
            </a:r>
            <a:r>
              <a:rPr lang="en-US" altLang="ko-KR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r>
              <a:rPr lang="ko-KR" altLang="en-US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en-US" altLang="ko-KR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규칙 적용 여부 판정</a:t>
            </a:r>
            <a:r>
              <a:rPr lang="en-US" altLang="ko-KR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r>
              <a:rPr lang="ko-KR" altLang="en-US" sz="16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별도 에이전트가 담당하는 이유</a:t>
            </a:r>
            <a:endParaRPr lang="en-US" altLang="ko-KR" sz="1500" dirty="0">
              <a:solidFill>
                <a:prstClr val="black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349A7-80DA-6DD8-0AFD-C536A46942AE}"/>
              </a:ext>
            </a:extLst>
          </p:cNvPr>
          <p:cNvSpPr txBox="1"/>
          <p:nvPr/>
        </p:nvSpPr>
        <p:spPr>
          <a:xfrm>
            <a:off x="897466" y="2140732"/>
            <a:ext cx="10468524" cy="296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컨텍스트 안에서 통계를 측정하면</a:t>
            </a:r>
            <a:r>
              <a:rPr lang="en-US" altLang="ko-KR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이전 컨텍스트에 </a:t>
            </a:r>
            <a:r>
              <a:rPr lang="ko-KR" altLang="en-US" sz="14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앵커링되어</a:t>
            </a:r>
            <a:r>
              <a:rPr lang="ko-KR" alt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 편향이 생김</a:t>
            </a:r>
            <a:r>
              <a:rPr lang="en-US" altLang="ko-KR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</a:t>
            </a:r>
            <a:r>
              <a:rPr lang="en-US" altLang="ko-KR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작업 반복</a:t>
            </a:r>
            <a:r>
              <a:rPr lang="en-US" altLang="ko-KR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기존 정제 코드에 숫자 처리하는 부분에 버그가 있었는데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통계 산출하는 코드가 정제 코드를 참고하면 동일한 버그가 재현됨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서브에이전트로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대화 맥락을 끊고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계산을 전혀 모르는 상태에서 파일만 보고 처음부터 재계산하게 해야 독립 검증이 성립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컨텍스트에서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반대로 맥락이 필요한 작업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사용자와의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맥락을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아는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담당해야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</a:t>
            </a:r>
            <a:endParaRPr lang="en-US" altLang="ko-KR" sz="14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</a:rPr>
              <a:t>서브에이전트가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</a:rPr>
              <a:t> 전달해준 통계 결과를 보고 정제 규칙이 제대로 적용되었는지 여부를 판정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실습 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–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무작위 표본 행을 처리 전후로 대조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38"/>
            <a:ext cx="10543032" cy="2918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통계에서 확인 못하는 부분들은 정제</a:t>
            </a:r>
            <a:r>
              <a:rPr lang="en-US" altLang="ko-KR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제대로 적용되었는지 각 행마다 확인 필요</a:t>
            </a:r>
            <a:endParaRPr lang="en-US" altLang="ko-KR" sz="1400" dirty="0">
              <a:solidFill>
                <a:srgbClr val="FFDF5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예를 들어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열(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measured_at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포맷이 </a:t>
            </a:r>
            <a:r>
              <a:rPr lang="ko-KR" alt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원칙대로 바뀌었는지는 통계로 확인 불가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검증과 별개로 개별 행에서 직접 대조해야 규칙이 실제로 적용됐는지 확인 가능한 부분들 있음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맥락을 모르는 별도 컨텍스트에서 검증 코드가 만들어지도록 </a:t>
            </a:r>
            <a:r>
              <a:rPr lang="ko-KR" altLang="en-US" sz="1400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서브에이전트로</a:t>
            </a: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</a:t>
            </a:r>
            <a:endParaRPr lang="en-US" altLang="ko-KR" sz="1400" dirty="0">
              <a:solidFill>
                <a:srgbClr val="FFDF5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이전 실습에서 만든 데이터 정제 스크립트인 </a:t>
            </a:r>
            <a:r>
              <a:rPr lang="en-US" altLang="ko-KR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clean_data.py</a:t>
            </a: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참고해서 검증 스크립트를 만들면</a:t>
            </a:r>
            <a:r>
              <a:rPr lang="en-US" altLang="ko-KR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안됨</a:t>
            </a:r>
            <a:r>
              <a:rPr lang="en-US" altLang="ko-KR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코드가 제대로 처리하지 못한 부분을 검증해야 하기 때문</a:t>
            </a:r>
            <a:r>
              <a:rPr lang="en-US" altLang="ko-KR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altLang="en-US" sz="1400" dirty="0">
              <a:solidFill>
                <a:srgbClr val="FFDF5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판정을 정제 규칙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1~6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O/X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답변 포맷을 강제해서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모호한 서술형으로 답변하는 것 방지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시간이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7~8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가량 소요되어 결과는 나중에 개인적으로 확인</a:t>
            </a:r>
          </a:p>
        </p:txBody>
      </p:sp>
      <p:sp>
        <p:nvSpPr>
          <p:cNvPr id="7" name="Shape 5"/>
          <p:cNvSpPr/>
          <p:nvPr/>
        </p:nvSpPr>
        <p:spPr>
          <a:xfrm>
            <a:off x="822960" y="4495800"/>
            <a:ext cx="11030374" cy="1883664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22960" y="4495800"/>
            <a:ext cx="45719" cy="1868424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78992" y="4642104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4953000"/>
            <a:ext cx="10244648" cy="116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data/sensor_readings.csv에서 무작위로 10행을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뽑아서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행이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sensor_readings_cleaned.csv에서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바뀌었는지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"원본 값 → 처리 후 값" 형태로 나란히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보여주는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스크립트를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verify_sample.py 로 만들어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실행해줘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만든 데이터 정제 스크립트인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clean_data.py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참고하지 않도록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서브에이전트를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통해 실행해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행에 대해 정제 규칙 1~6이 지켜졌는지 항목별로 O/X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판정을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붙여줘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중복으로 제거된 행이 뽑히면 "중복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제거됨"이라고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표시하면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돼.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CA623-A725-A7D7-9B67-4A676C508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82AB8734-2CDA-7468-5660-EE5B9281CABF}"/>
              </a:ext>
            </a:extLst>
          </p:cNvPr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실습 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–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무작위 표본 행을 처리 전후로 대조</a:t>
            </a:r>
            <a:endParaRPr lang="en-US" altLang="ko-KR" sz="2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05DC9AB-227F-1287-F5DD-1854EB35DA2B}"/>
              </a:ext>
            </a:extLst>
          </p:cNvPr>
          <p:cNvSpPr/>
          <p:nvPr/>
        </p:nvSpPr>
        <p:spPr>
          <a:xfrm>
            <a:off x="822960" y="1463038"/>
            <a:ext cx="10543032" cy="303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맥락을 모르는 별도 컨텍스트에서 검증 코드가 만들어지도록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실습에서 만든 데이터 정제 스크립트인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clean_data.py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참고해서 검증 스크립트를 만들면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안됨</a:t>
            </a:r>
            <a:endParaRPr lang="en-US" altLang="ko-KR" sz="1400" dirty="0">
              <a:solidFill>
                <a:srgbClr val="FFDF5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clean_data.py </a:t>
            </a: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정제 규칙을 담고 있기 때문</a:t>
            </a:r>
            <a:r>
              <a:rPr lang="en-US" altLang="ko-KR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정제가 잘 되었는지 검증해야 하는 지금은 이전 코드가 제대로 처리하지 못한 부분을 검증해야 하므로 격리된 컨텍스트에서 검증 코드 개발 작업 지시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판정을 정제 규칙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1~6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O/X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답변 포맷을 강제해서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모호한 서술형으로 답변하는 것 방지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시간이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7~8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가량 소요됨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 에이전트가 뜨고 어떤 작업을 하는지 과정만 살펴보고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결과는 나중에 개인적으로 확인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2A792DC-B7E0-5F4D-431B-426E5710AAF5}"/>
              </a:ext>
            </a:extLst>
          </p:cNvPr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10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6506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실습 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4 -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 규칙과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결과를 파일로 저장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정제 규칙과 검증 결과를 기록하지 않으면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나중에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‘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어떻게 정제 했는지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왜 이렇게 했는지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‘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잊어버림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논문과 보고서에 기재해야 하는 목적도 있음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기존에 사람이 일일이 기록하던 것을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AI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</a:rPr>
              <a:t>에게 맡기기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59" y="2574036"/>
            <a:ext cx="9455573" cy="233172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8" name="Shape 6"/>
          <p:cNvSpPr/>
          <p:nvPr/>
        </p:nvSpPr>
        <p:spPr>
          <a:xfrm>
            <a:off x="822960" y="2574036"/>
            <a:ext cx="54864" cy="233172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 sz="3200"/>
          </a:p>
        </p:txBody>
      </p:sp>
      <p:sp>
        <p:nvSpPr>
          <p:cNvPr id="9" name="Text 7"/>
          <p:cNvSpPr/>
          <p:nvPr/>
        </p:nvSpPr>
        <p:spPr>
          <a:xfrm>
            <a:off x="1078992" y="272034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예시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1" y="3031236"/>
            <a:ext cx="8782025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지금까지의 진단·정제·검증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outputs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validation_report.txt 파일로 저장해줘.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포함할 것: (1) 원본 데이터 진단 요약 (2) 적용한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정제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목록과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규칙별 처리 </a:t>
            </a:r>
            <a:r>
              <a:rPr 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</a:t>
            </a: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(3) 아직 처리하지 않았거나 주의가 필요한 항목.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날짜와 사용한 파일명도 기록해줘.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실습 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5 -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상황에 맞는 명확한 정상치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업데이트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39"/>
            <a:ext cx="10543032" cy="160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습도처럼 정상 범주가 </a:t>
            </a:r>
            <a:r>
              <a:rPr lang="en-US" altLang="ko-KR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0~100% </a:t>
            </a:r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로 명확한 경우에는 </a:t>
            </a:r>
            <a:r>
              <a:rPr lang="en-US" altLang="ko-KR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AI</a:t>
            </a:r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가 과학적 상식 선에서 어느정도 이상치 처리를 일관되게 </a:t>
            </a:r>
            <a:r>
              <a:rPr lang="ko-KR" altLang="en-US" sz="1400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해줌</a:t>
            </a: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그러나 실험실에서 상시 유지되어야 하는 습도 범위가 존재하는 경우는 연구자가 명시적으로 이상치 범주 지정해야 함</a:t>
            </a: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그리고</a:t>
            </a:r>
            <a:r>
              <a:rPr lang="en-US" altLang="ko-KR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풍속처럼 지역마다 이상치 기준이 다른 곳은 연구자가 명확히 이상치를 지정해주지 않으면 처리 결과가 매번 달라짐</a:t>
            </a: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DF5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연구 상황에 맞도록 정제 코드인 </a:t>
            </a:r>
            <a:r>
              <a:rPr lang="en-US" altLang="ko-KR" sz="1400" dirty="0">
                <a:solidFill>
                  <a:srgbClr val="FFDF5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clean_data.py </a:t>
            </a:r>
            <a:r>
              <a:rPr lang="ko-KR" altLang="en-US" sz="1400" dirty="0">
                <a:solidFill>
                  <a:srgbClr val="FFDF5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Malgun Gothic" pitchFamily="34" charset="-120"/>
              </a:rPr>
              <a:t>업데이트 요청</a:t>
            </a:r>
            <a:endParaRPr lang="en-US" altLang="ko-KR" sz="1400" dirty="0">
              <a:solidFill>
                <a:srgbClr val="FFDF57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Malgun Gothic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315208"/>
            <a:ext cx="10433304" cy="1097280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22960" y="3315208"/>
            <a:ext cx="54864" cy="1097280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78992" y="346151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</a:t>
            </a:r>
            <a:r>
              <a:rPr lang="en-US" altLang="ko-KR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</a:t>
            </a: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kern="0" spc="20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이렇게만</a:t>
            </a: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3772408"/>
            <a:ext cx="94696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ko-KR" alt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풍속값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이상한 값 정리해줘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C1DC65E0-D977-3B9B-0309-3759162BE457}"/>
              </a:ext>
            </a:extLst>
          </p:cNvPr>
          <p:cNvSpPr/>
          <p:nvPr/>
        </p:nvSpPr>
        <p:spPr>
          <a:xfrm>
            <a:off x="822960" y="4846321"/>
            <a:ext cx="10433304" cy="1368212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9BA11341-3886-C58A-8038-4AD65702F4F2}"/>
              </a:ext>
            </a:extLst>
          </p:cNvPr>
          <p:cNvSpPr/>
          <p:nvPr/>
        </p:nvSpPr>
        <p:spPr>
          <a:xfrm>
            <a:off x="822960" y="4846321"/>
            <a:ext cx="54864" cy="1368212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430B6440-3689-FE50-7FD3-3491C8F75394}"/>
              </a:ext>
            </a:extLst>
          </p:cNvPr>
          <p:cNvSpPr/>
          <p:nvPr/>
        </p:nvSpPr>
        <p:spPr>
          <a:xfrm>
            <a:off x="1078992" y="4992625"/>
            <a:ext cx="5956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명확하게</a:t>
            </a:r>
            <a:r>
              <a:rPr 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정상치와 이상치 기준 알려주고 정제 스크립트 업데이트 요청</a:t>
            </a:r>
            <a:endParaRPr lang="en-US" sz="11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A9CA5DB6-6462-AA50-869F-BE4A35861B51}"/>
              </a:ext>
            </a:extLst>
          </p:cNvPr>
          <p:cNvSpPr/>
          <p:nvPr/>
        </p:nvSpPr>
        <p:spPr>
          <a:xfrm>
            <a:off x="1078992" y="5303521"/>
            <a:ext cx="9970008" cy="83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지역 풍속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wind_speed_ms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정상 범위는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이하야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이 기준으로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clean_data.py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업데이트하고 범주를 넘어가는 데이터는 나에게 표로 정리해서 알려주도록 기능을 만들어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실습 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–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정제 코드 업데이트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때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검증을 포함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463039"/>
            <a:ext cx="10543032" cy="941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정제 코드 업데이트할 때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코드 검증 요청도 함께 포함하면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한번에 작업을 맡기고 다른 업무를 할 수 있으니 효율적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업데이트하려는 조건이 기존 정제 조건과 충돌하는 부분이 있는지 반드시 확인 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2815" y="2431283"/>
            <a:ext cx="11323321" cy="2369317"/>
          </a:xfrm>
          <a:prstGeom prst="rect">
            <a:avLst/>
          </a:prstGeom>
          <a:solidFill>
            <a:srgbClr val="141210"/>
          </a:solidFill>
          <a:ln w="12700">
            <a:solidFill>
              <a:srgbClr val="4A44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32816" y="2431284"/>
            <a:ext cx="45719" cy="2369316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8848" y="2577588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그대로 입력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8847" y="2888484"/>
            <a:ext cx="10898634" cy="1670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clean_data.py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아래 요구대로 업데이트해줘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2000"/>
              </a:lnSpc>
            </a:pP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고치기 전에 기존 정제 규칙과 충돌하거나 중복되는 부분이 있는지 먼저 점검해서 알려줘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충돌이 있으면 네가 임의로 정하지 말고 </a:t>
            </a:r>
            <a:r>
              <a:rPr lang="ko-KR" altLang="en-US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나한테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물어봐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2000"/>
              </a:lnSpc>
            </a:pPr>
            <a:endParaRPr lang="en-US" altLang="ko-KR" sz="11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32000"/>
              </a:lnSpc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요구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</a:p>
          <a:p>
            <a:pPr>
              <a:lnSpc>
                <a:spcPct val="132000"/>
              </a:lnSpc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지역 풍속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wind_speed_ms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정상 범위는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이하야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범위를 벗어나면 이상치로 본다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2000"/>
              </a:lnSpc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이상치는 고치지도 지우지도 결측 처리하지도 말고 그대로 둬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건수와 목록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시각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ID,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표로 알려줘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32000"/>
              </a:lnSpc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-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코드가 제대로 업데이트 되었는지 검증도 해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clean_data.py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나온 풍속 값 결과를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 별도 </a:t>
            </a:r>
            <a:r>
              <a:rPr lang="ko-KR" altLang="en-US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서브에이전트를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 이용해 이번에 업데이트한 조건이 잘 적용되었는지 확인해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· 대용량 연구 데이터 전처리·분석 자동화 · 2교시</a:t>
            </a:r>
            <a:endParaRPr lang="en-US" sz="9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86A4D-EDFD-D641-5BA9-B39734E9A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4584962"/>
            <a:ext cx="4910668" cy="20515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3368</Words>
  <Application>Microsoft Office PowerPoint</Application>
  <PresentationFormat>와이드스크린</PresentationFormat>
  <Paragraphs>297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나눔고딕</vt:lpstr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KISTI 2교시 · 전처리·분석 자동 생성과 AI 검증</dc:title>
  <dc:subject>PptxGenJS Presentation</dc:subject>
  <dc:creator>KISTI</dc:creator>
  <cp:lastModifiedBy>think</cp:lastModifiedBy>
  <cp:revision>1</cp:revision>
  <dcterms:created xsi:type="dcterms:W3CDTF">2026-08-18T16:11:04Z</dcterms:created>
  <dcterms:modified xsi:type="dcterms:W3CDTF">2026-08-22T07:16:05Z</dcterms:modified>
</cp:coreProperties>
</file>