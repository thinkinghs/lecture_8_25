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300" r:id="rId2"/>
    <p:sldId id="301" r:id="rId3"/>
    <p:sldId id="302" r:id="rId4"/>
    <p:sldId id="303" r:id="rId5"/>
    <p:sldId id="314" r:id="rId6"/>
    <p:sldId id="315" r:id="rId7"/>
    <p:sldId id="304" r:id="rId8"/>
    <p:sldId id="316" r:id="rId9"/>
    <p:sldId id="305" r:id="rId10"/>
    <p:sldId id="256" r:id="rId11"/>
    <p:sldId id="317" r:id="rId12"/>
    <p:sldId id="307" r:id="rId13"/>
    <p:sldId id="308" r:id="rId14"/>
    <p:sldId id="309" r:id="rId15"/>
    <p:sldId id="310" r:id="rId16"/>
    <p:sldId id="311" r:id="rId17"/>
    <p:sldId id="318" r:id="rId18"/>
    <p:sldId id="320" r:id="rId19"/>
    <p:sldId id="319" r:id="rId20"/>
    <p:sldId id="312" r:id="rId2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7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6D684B-DA10-4684-B218-28EB2A52AA7C}" type="datetimeFigureOut">
              <a:rPr lang="ko-KR" altLang="en-US" smtClean="0"/>
              <a:t>2026-08-23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42AD28-0CD4-4A28-B2A3-EF338D8995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10703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4607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8190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33288" y="2121408"/>
            <a:ext cx="731520" cy="0"/>
          </a:xfrm>
          <a:prstGeom prst="line">
            <a:avLst/>
          </a:prstGeom>
          <a:noFill/>
          <a:ln w="28575">
            <a:solidFill>
              <a:srgbClr val="FFD7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0" y="2514600"/>
            <a:ext cx="94484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5교시. MCP 기본 개념과 첫 서버 연결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1371600" y="3246120"/>
            <a:ext cx="9448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Claude에 외부 도구를 연결하는 표준 규격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D6464F-047E-1AC3-98A3-16CC6669E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2A23E793-6AAD-7384-F62D-DD33D1E5217A}"/>
              </a:ext>
            </a:extLst>
          </p:cNvPr>
          <p:cNvSpPr/>
          <p:nvPr/>
        </p:nvSpPr>
        <p:spPr>
          <a:xfrm>
            <a:off x="822960" y="713232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</a:t>
            </a:r>
            <a:r>
              <a:rPr kumimoji="0" lang="en-US" altLang="ko-KR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흐름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96A5170-FAEE-56DB-D773-683086BC828E}"/>
              </a:ext>
            </a:extLst>
          </p:cNvPr>
          <p:cNvSpPr/>
          <p:nvPr/>
        </p:nvSpPr>
        <p:spPr>
          <a:xfrm>
            <a:off x="822960" y="1371599"/>
            <a:ext cx="11288358" cy="4849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lvl="0" indent="-171450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왜 — Claude 단독으로 안 되는 일 확인</a:t>
            </a:r>
          </a:p>
          <a:p>
            <a:pPr marL="171450" lvl="0" indent="-171450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altLang="ko-KR" b="1" dirty="0">
              <a:solidFill>
                <a:srgbClr val="FFD733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171450" lvl="0" indent="-171450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개념 — </a:t>
            </a:r>
            <a:r>
              <a:rPr lang="en-US" altLang="ko-KR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</a:t>
            </a:r>
            <a:r>
              <a:rPr lang="ko-KR" altLang="en-US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구성 요소와 개념</a:t>
            </a:r>
          </a:p>
          <a:p>
            <a:pPr marL="628650" lvl="1" indent="-171450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altLang="ko-KR" sz="1600" dirty="0" err="1">
              <a:solidFill>
                <a:prstClr val="white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171450" lvl="0" indent="-171450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실습 — </a:t>
            </a:r>
            <a:r>
              <a:rPr lang="ko-KR" altLang="en-US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arxiv-mcp-server</a:t>
            </a:r>
            <a:r>
              <a:rPr lang="ko-KR" altLang="en-US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연결</a:t>
            </a:r>
          </a:p>
        </p:txBody>
      </p:sp>
    </p:spTree>
    <p:extLst>
      <p:ext uri="{BB962C8B-B14F-4D97-AF65-F5344CB8AC3E}">
        <p14:creationId xmlns:p14="http://schemas.microsoft.com/office/powerpoint/2010/main" val="3333960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D6464F-047E-1AC3-98A3-16CC6669E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2A23E793-6AAD-7384-F62D-DD33D1E5217A}"/>
              </a:ext>
            </a:extLst>
          </p:cNvPr>
          <p:cNvSpPr/>
          <p:nvPr/>
        </p:nvSpPr>
        <p:spPr>
          <a:xfrm>
            <a:off x="822960" y="713232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기능 </a:t>
            </a:r>
            <a:r>
              <a:rPr kumimoji="0" lang="en-US" altLang="ko-KR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단독으로는</a:t>
            </a:r>
            <a:r>
              <a:rPr kumimoji="0" lang="en-US" altLang="ko-KR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작업이 어려운 부분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96A5170-FAEE-56DB-D773-683086BC828E}"/>
              </a:ext>
            </a:extLst>
          </p:cNvPr>
          <p:cNvSpPr/>
          <p:nvPr/>
        </p:nvSpPr>
        <p:spPr>
          <a:xfrm>
            <a:off x="822960" y="1371599"/>
            <a:ext cx="11288358" cy="4849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lvl="0" indent="-171450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학습 이후에 새로 올라온 </a:t>
            </a:r>
            <a:r>
              <a:rPr lang="en-US" altLang="ko-KR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arXiv</a:t>
            </a:r>
            <a:r>
              <a:rPr lang="en-US" altLang="ko-KR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논문의</a:t>
            </a:r>
            <a:r>
              <a:rPr lang="en-US" altLang="ko-KR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체계적 수집은 안 됨</a:t>
            </a:r>
            <a:endParaRPr lang="en-US" altLang="ko-KR" sz="1600" dirty="0">
              <a:solidFill>
                <a:prstClr val="white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628650" lvl="1" indent="-171450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600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어제 올라온 </a:t>
            </a:r>
            <a:r>
              <a:rPr lang="en-US" altLang="ko-KR" sz="1600" dirty="0" err="1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arXiv</a:t>
            </a:r>
            <a:r>
              <a:rPr lang="en-US" altLang="ko-KR" sz="1600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600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논문은 학습 데이터에 없지만</a:t>
            </a:r>
            <a:r>
              <a:rPr lang="en-US" altLang="ko-KR" sz="1600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600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 검색으로 일부 보완 가능</a:t>
            </a:r>
            <a:endParaRPr lang="en-US" altLang="ko-KR" sz="1600" dirty="0">
              <a:solidFill>
                <a:prstClr val="white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628650" lvl="1" indent="-171450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600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</a:t>
            </a:r>
            <a:r>
              <a:rPr lang="en-US" altLang="ko-KR" sz="1600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600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조건에 맞는 논문을 누락 없이 열거하는 건 어려움</a:t>
            </a:r>
            <a:endParaRPr lang="en-US" altLang="ko-KR" sz="1600" dirty="0">
              <a:solidFill>
                <a:prstClr val="white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628650" lvl="1" indent="-171450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600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인용 그래프 추적</a:t>
            </a:r>
            <a:r>
              <a:rPr lang="en-US" altLang="ko-KR" sz="1600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600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논문 알림</a:t>
            </a:r>
            <a:r>
              <a:rPr lang="en-US" altLang="ko-KR" sz="1600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600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 </a:t>
            </a:r>
            <a:r>
              <a:rPr lang="ko-KR" altLang="en-US" sz="1600" dirty="0" err="1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시맨틱</a:t>
            </a:r>
            <a:r>
              <a:rPr lang="ko-KR" altLang="en-US" sz="1600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검색은 </a:t>
            </a:r>
            <a:r>
              <a:rPr lang="en-US" altLang="ko-KR" sz="1600" dirty="0" err="1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</a:t>
            </a:r>
            <a:r>
              <a:rPr lang="en-US" altLang="ko-KR" sz="1600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600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채팅만으로 한계</a:t>
            </a:r>
            <a:endParaRPr lang="en-US" altLang="ko-KR" sz="1600" dirty="0">
              <a:solidFill>
                <a:prstClr val="white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171450" lvl="0" indent="-171450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altLang="ko-KR" b="1" dirty="0">
              <a:solidFill>
                <a:srgbClr val="FFD733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171450" lvl="0" indent="-171450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컴퓨터와 연구실 시스템 연동</a:t>
            </a:r>
          </a:p>
          <a:p>
            <a:pPr marL="628650" lvl="1" indent="-171450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600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폴더의 대용량 CSV, 연구실 DB, 장비 로그 등은 채팅만으로는 접근 경로 없어서 별도로 연결해줘야 함</a:t>
            </a:r>
            <a:endParaRPr lang="en-US" altLang="ko-KR" sz="1600" dirty="0">
              <a:solidFill>
                <a:prstClr val="white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171450" lvl="0" indent="-171450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altLang="ko-KR" b="1" dirty="0">
              <a:solidFill>
                <a:srgbClr val="FFD733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171450" lvl="0" indent="-171450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도구마다 제각각인 연동 방식</a:t>
            </a:r>
          </a:p>
          <a:p>
            <a:pPr marL="628650" lvl="1" indent="-171450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600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M개 × 도구 N개 = M×N개의 개별 연동 개발</a:t>
            </a:r>
            <a:endParaRPr lang="en-US" altLang="ko-KR" sz="1600" dirty="0">
              <a:solidFill>
                <a:prstClr val="white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1085850" lvl="2" indent="-171450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600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사용하는 </a:t>
            </a:r>
            <a:r>
              <a:rPr lang="en-US" altLang="ko-KR" sz="1600" dirty="0" err="1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</a:t>
            </a:r>
            <a:r>
              <a:rPr lang="ko-KR" altLang="en-US" sz="1600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 도구가</a:t>
            </a:r>
            <a:r>
              <a:rPr lang="en-US" altLang="ko-KR" sz="1600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바뀌면</a:t>
            </a:r>
            <a:r>
              <a:rPr lang="en-US" altLang="ko-KR" sz="1600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600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모델과 도구 간의 연결을</a:t>
            </a:r>
            <a:r>
              <a:rPr lang="en-US" altLang="ko-KR" sz="1600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재작업</a:t>
            </a:r>
            <a:r>
              <a:rPr lang="ko-KR" altLang="en-US" sz="1600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해야 함</a:t>
            </a:r>
            <a:endParaRPr lang="en-US" altLang="ko-KR" sz="1600" dirty="0">
              <a:solidFill>
                <a:prstClr val="white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33960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22960" y="713232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— Model Context Protocol 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필요성 대두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1371599"/>
            <a:ext cx="10545775" cy="2886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lvl="0" indent="-285750" latinLnBrk="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모델과</a:t>
            </a:r>
            <a:r>
              <a:rPr lang="en-US" altLang="ko-KR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</a:t>
            </a:r>
            <a:r>
              <a:rPr lang="en-US" altLang="ko-KR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</a:t>
            </a:r>
            <a:r>
              <a:rPr lang="en-US" altLang="ko-KR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사이의</a:t>
            </a:r>
            <a:r>
              <a:rPr lang="en-US" altLang="ko-KR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</a:t>
            </a:r>
            <a:r>
              <a:rPr lang="en-US" altLang="ko-KR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b="1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규격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2024년 11월 Anthropic 공개, 2025년 12월 Linux Foundation 이관된 공개 표준</a:t>
            </a:r>
            <a:endParaRPr kumimoji="0" lang="en-US" altLang="ko-KR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USB-C처럼 연결 규격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하나로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통일</a:t>
            </a:r>
            <a:endParaRPr lang="en-US" dirty="0">
              <a:solidFill>
                <a:schemeClr val="bg1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742950" lvl="1" indent="-285750" latinLnBrk="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kumimoji="0" lang="en-US" altLang="ko-KR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</a:t>
            </a:r>
            <a:r>
              <a:rPr kumimoji="0" lang="ko-KR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서버를 한 번 만들어 두면</a:t>
            </a:r>
            <a:r>
              <a:rPr kumimoji="0" lang="en-US" altLang="ko-KR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MCP</a:t>
            </a:r>
            <a:r>
              <a:rPr kumimoji="0" lang="ko-KR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지원하는 호스트 앱</a:t>
            </a:r>
            <a:r>
              <a:rPr kumimoji="0" lang="en-US" altLang="ko-KR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(Claude Desktop, Gemini </a:t>
            </a:r>
            <a:r>
              <a:rPr lang="en-US" altLang="ko-KR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</a:t>
            </a:r>
            <a:r>
              <a:rPr kumimoji="0" lang="ko-KR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</a:t>
            </a:r>
            <a:r>
              <a:rPr kumimoji="0" lang="en-US" altLang="ko-KR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 </a:t>
            </a:r>
            <a:r>
              <a:rPr kumimoji="0" lang="ko-KR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어디서나 그대로 사용</a:t>
            </a:r>
            <a:endParaRPr kumimoji="0" lang="en-US" altLang="ko-KR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22960" y="638251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50" normalizeH="0" baseline="0" noProof="0" dirty="0">
                <a:ln>
                  <a:noFill/>
                </a:ln>
                <a:solidFill>
                  <a:srgbClr val="6B675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활용 대용량 연구데이터 전처리 · 5교시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22960" y="713232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이전 — 모델 M개 × 도구 N개의 개별 연동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10545775" cy="84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marR="0" lvl="0" indent="-28575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모델·도구 쌍마다 전용 연동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742950" lvl="1" indent="-285750" latinLnBrk="0">
              <a:lnSpc>
                <a:spcPts val="2100"/>
              </a:lnSpc>
              <a:buFont typeface="Arial" panose="020B0604020202020204" pitchFamily="34" charset="0"/>
              <a:buChar char="•"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도구 하나 추가 = 모델 수만큼 개발, 모델 교체 = 연동 전부 재작업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제공자마다 연결 방식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제각각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조합이 무한대로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늘어나는 구조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22960" y="638251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50" normalizeH="0" baseline="0" noProof="0" dirty="0">
                <a:ln>
                  <a:noFill/>
                </a:ln>
                <a:solidFill>
                  <a:srgbClr val="6B675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활용 대용량 연구데이터 전처리 · 5교시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1" name="lbl401"/>
          <p:cNvSpPr/>
          <p:nvPr/>
        </p:nvSpPr>
        <p:spPr>
          <a:xfrm>
            <a:off x="950000" y="2379968"/>
            <a:ext cx="2250000" cy="33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F0C24B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모델  </a:t>
            </a:r>
            <a:r>
              <a:rPr kumimoji="0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srgbClr val="F0C24B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M = 3</a:t>
            </a:r>
          </a:p>
        </p:txBody>
      </p:sp>
      <p:sp>
        <p:nvSpPr>
          <p:cNvPr id="402" name="lbl402"/>
          <p:cNvSpPr/>
          <p:nvPr/>
        </p:nvSpPr>
        <p:spPr>
          <a:xfrm>
            <a:off x="8990000" y="2029968"/>
            <a:ext cx="2250000" cy="33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F0C24B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도구  </a:t>
            </a:r>
            <a:r>
              <a:rPr kumimoji="0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srgbClr val="F0C24B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N = 4</a:t>
            </a:r>
          </a:p>
        </p:txBody>
      </p:sp>
      <p:sp>
        <p:nvSpPr>
          <p:cNvPr id="403" name="ln403"/>
          <p:cNvSpPr/>
          <p:nvPr/>
        </p:nvSpPr>
        <p:spPr>
          <a:xfrm flipV="1">
            <a:off x="3200000" y="2759968"/>
            <a:ext cx="5790000" cy="350000"/>
          </a:xfrm>
          <a:prstGeom prst="line">
            <a:avLst/>
          </a:prstGeom>
          <a:ln w="9525" cap="rnd">
            <a:solidFill>
              <a:srgbClr val="6E675A"/>
            </a:solidFill>
          </a:ln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04" name="ln404"/>
          <p:cNvSpPr/>
          <p:nvPr/>
        </p:nvSpPr>
        <p:spPr>
          <a:xfrm>
            <a:off x="3200000" y="3109968"/>
            <a:ext cx="5790000" cy="650000"/>
          </a:xfrm>
          <a:prstGeom prst="line">
            <a:avLst/>
          </a:prstGeom>
          <a:ln w="9525" cap="rnd">
            <a:solidFill>
              <a:srgbClr val="6E675A"/>
            </a:solidFill>
          </a:ln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05" name="ln405"/>
          <p:cNvSpPr/>
          <p:nvPr/>
        </p:nvSpPr>
        <p:spPr>
          <a:xfrm>
            <a:off x="3200000" y="3109968"/>
            <a:ext cx="5790000" cy="1650000"/>
          </a:xfrm>
          <a:prstGeom prst="line">
            <a:avLst/>
          </a:prstGeom>
          <a:ln w="9525" cap="rnd">
            <a:solidFill>
              <a:srgbClr val="6E675A"/>
            </a:solidFill>
          </a:ln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06" name="ln406"/>
          <p:cNvSpPr/>
          <p:nvPr/>
        </p:nvSpPr>
        <p:spPr>
          <a:xfrm>
            <a:off x="3200000" y="3109968"/>
            <a:ext cx="5790000" cy="2650000"/>
          </a:xfrm>
          <a:prstGeom prst="line">
            <a:avLst/>
          </a:prstGeom>
          <a:ln w="9525" cap="rnd">
            <a:solidFill>
              <a:srgbClr val="6E675A"/>
            </a:solidFill>
          </a:ln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07" name="ln407"/>
          <p:cNvSpPr/>
          <p:nvPr/>
        </p:nvSpPr>
        <p:spPr>
          <a:xfrm flipV="1">
            <a:off x="3200000" y="2759968"/>
            <a:ext cx="5790000" cy="1450000"/>
          </a:xfrm>
          <a:prstGeom prst="line">
            <a:avLst/>
          </a:prstGeom>
          <a:ln w="9525" cap="rnd">
            <a:solidFill>
              <a:srgbClr val="6E675A"/>
            </a:solidFill>
          </a:ln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08" name="ln408"/>
          <p:cNvSpPr/>
          <p:nvPr/>
        </p:nvSpPr>
        <p:spPr>
          <a:xfrm flipV="1">
            <a:off x="3200000" y="3759968"/>
            <a:ext cx="5790000" cy="450000"/>
          </a:xfrm>
          <a:prstGeom prst="line">
            <a:avLst/>
          </a:prstGeom>
          <a:ln w="9525" cap="rnd">
            <a:solidFill>
              <a:srgbClr val="6E675A"/>
            </a:solidFill>
          </a:ln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09" name="ln409"/>
          <p:cNvSpPr/>
          <p:nvPr/>
        </p:nvSpPr>
        <p:spPr>
          <a:xfrm>
            <a:off x="3200000" y="4209968"/>
            <a:ext cx="5790000" cy="550000"/>
          </a:xfrm>
          <a:prstGeom prst="line">
            <a:avLst/>
          </a:prstGeom>
          <a:ln w="9525" cap="rnd">
            <a:solidFill>
              <a:srgbClr val="6E675A"/>
            </a:solidFill>
          </a:ln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10" name="ln410"/>
          <p:cNvSpPr/>
          <p:nvPr/>
        </p:nvSpPr>
        <p:spPr>
          <a:xfrm>
            <a:off x="3200000" y="4209968"/>
            <a:ext cx="5790000" cy="1550000"/>
          </a:xfrm>
          <a:prstGeom prst="line">
            <a:avLst/>
          </a:prstGeom>
          <a:ln w="9525" cap="rnd">
            <a:solidFill>
              <a:srgbClr val="6E675A"/>
            </a:solidFill>
          </a:ln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11" name="ln411"/>
          <p:cNvSpPr/>
          <p:nvPr/>
        </p:nvSpPr>
        <p:spPr>
          <a:xfrm flipV="1">
            <a:off x="3200000" y="2759968"/>
            <a:ext cx="5790000" cy="2550000"/>
          </a:xfrm>
          <a:prstGeom prst="line">
            <a:avLst/>
          </a:prstGeom>
          <a:ln w="9525" cap="rnd">
            <a:solidFill>
              <a:srgbClr val="6E675A"/>
            </a:solidFill>
          </a:ln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12" name="ln412"/>
          <p:cNvSpPr/>
          <p:nvPr/>
        </p:nvSpPr>
        <p:spPr>
          <a:xfrm flipV="1">
            <a:off x="3200000" y="3759968"/>
            <a:ext cx="5790000" cy="1550000"/>
          </a:xfrm>
          <a:prstGeom prst="line">
            <a:avLst/>
          </a:prstGeom>
          <a:ln w="9525" cap="rnd">
            <a:solidFill>
              <a:srgbClr val="6E675A"/>
            </a:solidFill>
          </a:ln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13" name="ln413"/>
          <p:cNvSpPr/>
          <p:nvPr/>
        </p:nvSpPr>
        <p:spPr>
          <a:xfrm flipV="1">
            <a:off x="3200000" y="4759968"/>
            <a:ext cx="5790000" cy="550000"/>
          </a:xfrm>
          <a:prstGeom prst="line">
            <a:avLst/>
          </a:prstGeom>
          <a:ln w="9525" cap="rnd">
            <a:solidFill>
              <a:srgbClr val="6E675A"/>
            </a:solidFill>
          </a:ln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14" name="ln414"/>
          <p:cNvSpPr/>
          <p:nvPr/>
        </p:nvSpPr>
        <p:spPr>
          <a:xfrm>
            <a:off x="3200000" y="5309968"/>
            <a:ext cx="5790000" cy="450000"/>
          </a:xfrm>
          <a:prstGeom prst="line">
            <a:avLst/>
          </a:prstGeom>
          <a:ln w="9525" cap="rnd">
            <a:solidFill>
              <a:srgbClr val="6E675A"/>
            </a:solidFill>
          </a:ln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15" name="node415"/>
          <p:cNvSpPr/>
          <p:nvPr/>
        </p:nvSpPr>
        <p:spPr>
          <a:xfrm>
            <a:off x="950000" y="2829968"/>
            <a:ext cx="2250000" cy="560000"/>
          </a:xfrm>
          <a:prstGeom prst="roundRect">
            <a:avLst>
              <a:gd name="adj" fmla="val 14000"/>
            </a:avLst>
          </a:prstGeom>
          <a:solidFill>
            <a:srgbClr val="1B1712"/>
          </a:solidFill>
          <a:ln w="12700">
            <a:solidFill>
              <a:srgbClr val="8F8468"/>
            </a:solidFill>
          </a:ln>
        </p:spPr>
        <p:txBody>
          <a:bodyPr lIns="36000" tIns="18000" rIns="36000" bIns="1800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300" b="0" i="0" u="none" strike="noStrike" kern="1200" cap="none" spc="0" normalizeH="0" baseline="0" noProof="0">
                <a:ln>
                  <a:noFill/>
                </a:ln>
                <a:solidFill>
                  <a:srgbClr val="EDEAE2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Claude</a:t>
            </a:r>
          </a:p>
        </p:txBody>
      </p:sp>
      <p:sp>
        <p:nvSpPr>
          <p:cNvPr id="416" name="node416"/>
          <p:cNvSpPr/>
          <p:nvPr/>
        </p:nvSpPr>
        <p:spPr>
          <a:xfrm>
            <a:off x="950000" y="3929968"/>
            <a:ext cx="2250000" cy="560000"/>
          </a:xfrm>
          <a:prstGeom prst="roundRect">
            <a:avLst>
              <a:gd name="adj" fmla="val 14000"/>
            </a:avLst>
          </a:prstGeom>
          <a:solidFill>
            <a:srgbClr val="1B1712"/>
          </a:solidFill>
          <a:ln w="12700">
            <a:solidFill>
              <a:srgbClr val="8F8468"/>
            </a:solidFill>
          </a:ln>
        </p:spPr>
        <p:txBody>
          <a:bodyPr lIns="36000" tIns="18000" rIns="36000" bIns="1800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300" b="0" i="0" u="none" strike="noStrike" kern="1200" cap="none" spc="0" normalizeH="0" baseline="0" noProof="0">
                <a:ln>
                  <a:noFill/>
                </a:ln>
                <a:solidFill>
                  <a:srgbClr val="EDEAE2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ChatGPT</a:t>
            </a:r>
          </a:p>
        </p:txBody>
      </p:sp>
      <p:sp>
        <p:nvSpPr>
          <p:cNvPr id="417" name="node417"/>
          <p:cNvSpPr/>
          <p:nvPr/>
        </p:nvSpPr>
        <p:spPr>
          <a:xfrm>
            <a:off x="950000" y="5029968"/>
            <a:ext cx="2250000" cy="560000"/>
          </a:xfrm>
          <a:prstGeom prst="roundRect">
            <a:avLst>
              <a:gd name="adj" fmla="val 14000"/>
            </a:avLst>
          </a:prstGeom>
          <a:solidFill>
            <a:srgbClr val="1B1712"/>
          </a:solidFill>
          <a:ln w="12700">
            <a:solidFill>
              <a:srgbClr val="8F8468"/>
            </a:solidFill>
          </a:ln>
        </p:spPr>
        <p:txBody>
          <a:bodyPr lIns="36000" tIns="18000" rIns="36000" bIns="1800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300" b="0" i="0" u="none" strike="noStrike" kern="1200" cap="none" spc="0" normalizeH="0" baseline="0" noProof="0">
                <a:ln>
                  <a:noFill/>
                </a:ln>
                <a:solidFill>
                  <a:srgbClr val="EDEAE2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Cursor</a:t>
            </a:r>
          </a:p>
        </p:txBody>
      </p:sp>
      <p:sp>
        <p:nvSpPr>
          <p:cNvPr id="418" name="node418"/>
          <p:cNvSpPr/>
          <p:nvPr/>
        </p:nvSpPr>
        <p:spPr>
          <a:xfrm>
            <a:off x="8990000" y="2479968"/>
            <a:ext cx="2250000" cy="560000"/>
          </a:xfrm>
          <a:prstGeom prst="roundRect">
            <a:avLst>
              <a:gd name="adj" fmla="val 14000"/>
            </a:avLst>
          </a:prstGeom>
          <a:solidFill>
            <a:srgbClr val="1B1712"/>
          </a:solidFill>
          <a:ln w="12700">
            <a:solidFill>
              <a:srgbClr val="8F8468"/>
            </a:solidFill>
          </a:ln>
        </p:spPr>
        <p:txBody>
          <a:bodyPr lIns="36000" tIns="18000" rIns="36000" bIns="1800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300" b="0" i="0" u="none" strike="noStrike" kern="1200" cap="none" spc="0" normalizeH="0" baseline="0" noProof="0">
                <a:ln>
                  <a:noFill/>
                </a:ln>
                <a:solidFill>
                  <a:srgbClr val="EDEAE2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arXiv </a:t>
            </a:r>
            <a:r>
              <a:rPr kumimoji="0" lang="ko-KR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EDEAE2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검색</a:t>
            </a:r>
          </a:p>
        </p:txBody>
      </p:sp>
      <p:sp>
        <p:nvSpPr>
          <p:cNvPr id="419" name="node419"/>
          <p:cNvSpPr/>
          <p:nvPr/>
        </p:nvSpPr>
        <p:spPr>
          <a:xfrm>
            <a:off x="8990000" y="3479968"/>
            <a:ext cx="2250000" cy="560000"/>
          </a:xfrm>
          <a:prstGeom prst="roundRect">
            <a:avLst>
              <a:gd name="adj" fmla="val 14000"/>
            </a:avLst>
          </a:prstGeom>
          <a:solidFill>
            <a:srgbClr val="1B1712"/>
          </a:solidFill>
          <a:ln w="12700">
            <a:solidFill>
              <a:srgbClr val="8F8468"/>
            </a:solidFill>
          </a:ln>
        </p:spPr>
        <p:txBody>
          <a:bodyPr lIns="36000" tIns="18000" rIns="36000" bIns="1800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EDEAE2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파일 시스템</a:t>
            </a:r>
          </a:p>
        </p:txBody>
      </p:sp>
      <p:sp>
        <p:nvSpPr>
          <p:cNvPr id="420" name="node420"/>
          <p:cNvSpPr/>
          <p:nvPr/>
        </p:nvSpPr>
        <p:spPr>
          <a:xfrm>
            <a:off x="8990000" y="4479968"/>
            <a:ext cx="2250000" cy="560000"/>
          </a:xfrm>
          <a:prstGeom prst="roundRect">
            <a:avLst>
              <a:gd name="adj" fmla="val 14000"/>
            </a:avLst>
          </a:prstGeom>
          <a:solidFill>
            <a:srgbClr val="1B1712"/>
          </a:solidFill>
          <a:ln w="12700">
            <a:solidFill>
              <a:srgbClr val="8F8468"/>
            </a:solidFill>
          </a:ln>
        </p:spPr>
        <p:txBody>
          <a:bodyPr lIns="36000" tIns="18000" rIns="36000" bIns="1800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EDEAE2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연구실 </a:t>
            </a:r>
            <a:r>
              <a:rPr kumimoji="0" lang="en-US" altLang="ko-KR" sz="1300" b="0" i="0" u="none" strike="noStrike" kern="1200" cap="none" spc="0" normalizeH="0" baseline="0" noProof="0">
                <a:ln>
                  <a:noFill/>
                </a:ln>
                <a:solidFill>
                  <a:srgbClr val="EDEAE2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DB</a:t>
            </a:r>
          </a:p>
        </p:txBody>
      </p:sp>
      <p:sp>
        <p:nvSpPr>
          <p:cNvPr id="421" name="node421"/>
          <p:cNvSpPr/>
          <p:nvPr/>
        </p:nvSpPr>
        <p:spPr>
          <a:xfrm>
            <a:off x="8990000" y="5479968"/>
            <a:ext cx="2250000" cy="560000"/>
          </a:xfrm>
          <a:prstGeom prst="roundRect">
            <a:avLst>
              <a:gd name="adj" fmla="val 14000"/>
            </a:avLst>
          </a:prstGeom>
          <a:solidFill>
            <a:srgbClr val="1B1712"/>
          </a:solidFill>
          <a:ln w="12700">
            <a:solidFill>
              <a:srgbClr val="8F8468"/>
            </a:solidFill>
          </a:ln>
        </p:spPr>
        <p:txBody>
          <a:bodyPr lIns="36000" tIns="18000" rIns="36000" bIns="1800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EDEAE2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장비 로그</a:t>
            </a:r>
          </a:p>
        </p:txBody>
      </p:sp>
      <p:sp>
        <p:nvSpPr>
          <p:cNvPr id="422" name="node422"/>
          <p:cNvSpPr/>
          <p:nvPr/>
        </p:nvSpPr>
        <p:spPr>
          <a:xfrm>
            <a:off x="4370000" y="5900000"/>
            <a:ext cx="3450000" cy="520000"/>
          </a:xfrm>
          <a:prstGeom prst="roundRect">
            <a:avLst>
              <a:gd name="adj" fmla="val 14000"/>
            </a:avLst>
          </a:prstGeom>
          <a:solidFill>
            <a:srgbClr val="1B1712"/>
          </a:solidFill>
          <a:ln w="12700">
            <a:solidFill>
              <a:srgbClr val="F0C24B"/>
            </a:solidFill>
          </a:ln>
        </p:spPr>
        <p:txBody>
          <a:bodyPr lIns="36000" tIns="18000" rIns="36000" bIns="1800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F0C24B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연동 코드  </a:t>
            </a:r>
            <a:r>
              <a:rPr kumimoji="0" lang="en-US" altLang="ko-KR" sz="1400" b="1" i="0" u="none" strike="noStrike" kern="1200" cap="none" spc="0" normalizeH="0" baseline="0" noProof="0">
                <a:ln>
                  <a:noFill/>
                </a:ln>
                <a:solidFill>
                  <a:srgbClr val="F0C24B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3 × 4 = 12</a:t>
            </a: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F0C24B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22960" y="713232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이후 — </a:t>
            </a:r>
            <a:r>
              <a:rPr kumimoji="0" 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덕분에 연결 조합이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M + N </a:t>
            </a:r>
            <a:r>
              <a:rPr lang="ko-KR" alt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됨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22960" y="638251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50" normalizeH="0" baseline="0" noProof="0" dirty="0">
                <a:ln>
                  <a:noFill/>
                </a:ln>
                <a:solidFill>
                  <a:srgbClr val="6B675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활용 대용량 연구데이터 전처리 · 5교시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3" name="lbl423"/>
          <p:cNvSpPr/>
          <p:nvPr/>
        </p:nvSpPr>
        <p:spPr>
          <a:xfrm>
            <a:off x="950000" y="2050000"/>
            <a:ext cx="2250000" cy="33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F0C24B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호스트 </a:t>
            </a:r>
            <a:r>
              <a:rPr kumimoji="0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srgbClr val="F0C24B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F0C24B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모델 </a:t>
            </a:r>
            <a:r>
              <a:rPr kumimoji="0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srgbClr val="F0C24B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M</a:t>
            </a:r>
            <a:r>
              <a:rPr kumimoji="0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F0C24B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개</a:t>
            </a:r>
            <a:r>
              <a:rPr kumimoji="0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srgbClr val="F0C24B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424" name="lbl424"/>
          <p:cNvSpPr/>
          <p:nvPr/>
        </p:nvSpPr>
        <p:spPr>
          <a:xfrm>
            <a:off x="8990000" y="1700000"/>
            <a:ext cx="2250000" cy="33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F0C24B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서버 </a:t>
            </a:r>
            <a:r>
              <a:rPr kumimoji="0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srgbClr val="F0C24B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F0C24B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도구 </a:t>
            </a:r>
            <a:r>
              <a:rPr kumimoji="0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srgbClr val="F0C24B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N</a:t>
            </a:r>
            <a:r>
              <a:rPr kumimoji="0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F0C24B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개</a:t>
            </a:r>
            <a:r>
              <a:rPr kumimoji="0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srgbClr val="F0C24B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425" name="ln425"/>
          <p:cNvSpPr/>
          <p:nvPr/>
        </p:nvSpPr>
        <p:spPr>
          <a:xfrm>
            <a:off x="3200000" y="2780000"/>
            <a:ext cx="2270000" cy="1150000"/>
          </a:xfrm>
          <a:prstGeom prst="line">
            <a:avLst/>
          </a:prstGeom>
          <a:ln w="15875" cap="rnd">
            <a:solidFill>
              <a:srgbClr val="F0C24B"/>
            </a:solidFill>
          </a:ln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26" name="ln426"/>
          <p:cNvSpPr/>
          <p:nvPr/>
        </p:nvSpPr>
        <p:spPr>
          <a:xfrm>
            <a:off x="3200000" y="3880000"/>
            <a:ext cx="2270000" cy="50000"/>
          </a:xfrm>
          <a:prstGeom prst="line">
            <a:avLst/>
          </a:prstGeom>
          <a:ln w="15875" cap="rnd">
            <a:solidFill>
              <a:srgbClr val="F0C24B"/>
            </a:solidFill>
          </a:ln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27" name="ln427"/>
          <p:cNvSpPr/>
          <p:nvPr/>
        </p:nvSpPr>
        <p:spPr>
          <a:xfrm flipV="1">
            <a:off x="3200000" y="3930000"/>
            <a:ext cx="2270000" cy="1050000"/>
          </a:xfrm>
          <a:prstGeom prst="line">
            <a:avLst/>
          </a:prstGeom>
          <a:ln w="15875" cap="rnd">
            <a:solidFill>
              <a:srgbClr val="F0C24B"/>
            </a:solidFill>
          </a:ln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28" name="ln428"/>
          <p:cNvSpPr/>
          <p:nvPr/>
        </p:nvSpPr>
        <p:spPr>
          <a:xfrm flipV="1">
            <a:off x="6720000" y="2430000"/>
            <a:ext cx="2270000" cy="1500000"/>
          </a:xfrm>
          <a:prstGeom prst="line">
            <a:avLst/>
          </a:prstGeom>
          <a:ln w="15875" cap="rnd">
            <a:solidFill>
              <a:srgbClr val="F0C24B"/>
            </a:solidFill>
          </a:ln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29" name="ln429"/>
          <p:cNvSpPr/>
          <p:nvPr/>
        </p:nvSpPr>
        <p:spPr>
          <a:xfrm flipV="1">
            <a:off x="6720000" y="3430000"/>
            <a:ext cx="2270000" cy="500000"/>
          </a:xfrm>
          <a:prstGeom prst="line">
            <a:avLst/>
          </a:prstGeom>
          <a:ln w="15875" cap="rnd">
            <a:solidFill>
              <a:srgbClr val="F0C24B"/>
            </a:solidFill>
          </a:ln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30" name="ln430"/>
          <p:cNvSpPr/>
          <p:nvPr/>
        </p:nvSpPr>
        <p:spPr>
          <a:xfrm>
            <a:off x="6720000" y="3930000"/>
            <a:ext cx="2270000" cy="500000"/>
          </a:xfrm>
          <a:prstGeom prst="line">
            <a:avLst/>
          </a:prstGeom>
          <a:ln w="15875" cap="rnd">
            <a:solidFill>
              <a:srgbClr val="F0C24B"/>
            </a:solidFill>
          </a:ln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31" name="ln431"/>
          <p:cNvSpPr/>
          <p:nvPr/>
        </p:nvSpPr>
        <p:spPr>
          <a:xfrm>
            <a:off x="6720000" y="3930000"/>
            <a:ext cx="2270000" cy="1500000"/>
          </a:xfrm>
          <a:prstGeom prst="line">
            <a:avLst/>
          </a:prstGeom>
          <a:ln w="15875" cap="rnd">
            <a:solidFill>
              <a:srgbClr val="F0C24B"/>
            </a:solidFill>
          </a:ln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32" name="node432"/>
          <p:cNvSpPr/>
          <p:nvPr/>
        </p:nvSpPr>
        <p:spPr>
          <a:xfrm>
            <a:off x="950000" y="2500000"/>
            <a:ext cx="2250000" cy="560000"/>
          </a:xfrm>
          <a:prstGeom prst="roundRect">
            <a:avLst>
              <a:gd name="adj" fmla="val 14000"/>
            </a:avLst>
          </a:prstGeom>
          <a:solidFill>
            <a:srgbClr val="1B1712"/>
          </a:solidFill>
          <a:ln w="12700">
            <a:solidFill>
              <a:srgbClr val="F0C24B"/>
            </a:solidFill>
          </a:ln>
        </p:spPr>
        <p:txBody>
          <a:bodyPr lIns="36000" tIns="18000" rIns="36000" bIns="1800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300" b="0" i="0" u="none" strike="noStrike" kern="1200" cap="none" spc="0" normalizeH="0" baseline="0" noProof="0">
                <a:ln>
                  <a:noFill/>
                </a:ln>
                <a:solidFill>
                  <a:srgbClr val="EDEAE2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Claude</a:t>
            </a:r>
          </a:p>
        </p:txBody>
      </p:sp>
      <p:sp>
        <p:nvSpPr>
          <p:cNvPr id="433" name="node433"/>
          <p:cNvSpPr/>
          <p:nvPr/>
        </p:nvSpPr>
        <p:spPr>
          <a:xfrm>
            <a:off x="950000" y="3600000"/>
            <a:ext cx="2250000" cy="560000"/>
          </a:xfrm>
          <a:prstGeom prst="roundRect">
            <a:avLst>
              <a:gd name="adj" fmla="val 14000"/>
            </a:avLst>
          </a:prstGeom>
          <a:solidFill>
            <a:srgbClr val="1B1712"/>
          </a:solidFill>
          <a:ln w="12700">
            <a:solidFill>
              <a:srgbClr val="F0C24B"/>
            </a:solidFill>
          </a:ln>
        </p:spPr>
        <p:txBody>
          <a:bodyPr lIns="36000" tIns="18000" rIns="36000" bIns="1800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300" b="0" i="0" u="none" strike="noStrike" kern="1200" cap="none" spc="0" normalizeH="0" baseline="0" noProof="0">
                <a:ln>
                  <a:noFill/>
                </a:ln>
                <a:solidFill>
                  <a:srgbClr val="EDEAE2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ChatGPT</a:t>
            </a:r>
          </a:p>
        </p:txBody>
      </p:sp>
      <p:sp>
        <p:nvSpPr>
          <p:cNvPr id="434" name="node434"/>
          <p:cNvSpPr/>
          <p:nvPr/>
        </p:nvSpPr>
        <p:spPr>
          <a:xfrm>
            <a:off x="950000" y="4700000"/>
            <a:ext cx="2250000" cy="560000"/>
          </a:xfrm>
          <a:prstGeom prst="roundRect">
            <a:avLst>
              <a:gd name="adj" fmla="val 14000"/>
            </a:avLst>
          </a:prstGeom>
          <a:solidFill>
            <a:srgbClr val="1B1712"/>
          </a:solidFill>
          <a:ln w="12700">
            <a:solidFill>
              <a:srgbClr val="F0C24B"/>
            </a:solidFill>
          </a:ln>
        </p:spPr>
        <p:txBody>
          <a:bodyPr lIns="36000" tIns="18000" rIns="36000" bIns="1800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300" b="0" i="0" u="none" strike="noStrike" kern="1200" cap="none" spc="0" normalizeH="0" baseline="0" noProof="0">
                <a:ln>
                  <a:noFill/>
                </a:ln>
                <a:solidFill>
                  <a:srgbClr val="EDEAE2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Cursor</a:t>
            </a:r>
          </a:p>
        </p:txBody>
      </p:sp>
      <p:sp>
        <p:nvSpPr>
          <p:cNvPr id="435" name="node435"/>
          <p:cNvSpPr/>
          <p:nvPr/>
        </p:nvSpPr>
        <p:spPr>
          <a:xfrm>
            <a:off x="8990000" y="2150000"/>
            <a:ext cx="2250000" cy="560000"/>
          </a:xfrm>
          <a:prstGeom prst="roundRect">
            <a:avLst>
              <a:gd name="adj" fmla="val 14000"/>
            </a:avLst>
          </a:prstGeom>
          <a:solidFill>
            <a:srgbClr val="1B1712"/>
          </a:solidFill>
          <a:ln w="12700">
            <a:solidFill>
              <a:srgbClr val="F0C24B"/>
            </a:solidFill>
          </a:ln>
        </p:spPr>
        <p:txBody>
          <a:bodyPr lIns="36000" tIns="18000" rIns="36000" bIns="1800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300" b="0" i="0" u="none" strike="noStrike" kern="1200" cap="none" spc="0" normalizeH="0" baseline="0" noProof="0">
                <a:ln>
                  <a:noFill/>
                </a:ln>
                <a:solidFill>
                  <a:srgbClr val="EDEAE2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arXiv </a:t>
            </a:r>
            <a:r>
              <a:rPr kumimoji="0" lang="ko-KR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EDEAE2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검색</a:t>
            </a:r>
          </a:p>
        </p:txBody>
      </p:sp>
      <p:sp>
        <p:nvSpPr>
          <p:cNvPr id="436" name="node436"/>
          <p:cNvSpPr/>
          <p:nvPr/>
        </p:nvSpPr>
        <p:spPr>
          <a:xfrm>
            <a:off x="8990000" y="3150000"/>
            <a:ext cx="2250000" cy="560000"/>
          </a:xfrm>
          <a:prstGeom prst="roundRect">
            <a:avLst>
              <a:gd name="adj" fmla="val 14000"/>
            </a:avLst>
          </a:prstGeom>
          <a:solidFill>
            <a:srgbClr val="1B1712"/>
          </a:solidFill>
          <a:ln w="12700">
            <a:solidFill>
              <a:srgbClr val="F0C24B"/>
            </a:solidFill>
          </a:ln>
        </p:spPr>
        <p:txBody>
          <a:bodyPr lIns="36000" tIns="18000" rIns="36000" bIns="1800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EDEAE2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파일 시스템</a:t>
            </a:r>
          </a:p>
        </p:txBody>
      </p:sp>
      <p:sp>
        <p:nvSpPr>
          <p:cNvPr id="437" name="node437"/>
          <p:cNvSpPr/>
          <p:nvPr/>
        </p:nvSpPr>
        <p:spPr>
          <a:xfrm>
            <a:off x="8990000" y="4150000"/>
            <a:ext cx="2250000" cy="560000"/>
          </a:xfrm>
          <a:prstGeom prst="roundRect">
            <a:avLst>
              <a:gd name="adj" fmla="val 14000"/>
            </a:avLst>
          </a:prstGeom>
          <a:solidFill>
            <a:srgbClr val="1B1712"/>
          </a:solidFill>
          <a:ln w="12700">
            <a:solidFill>
              <a:srgbClr val="F0C24B"/>
            </a:solidFill>
          </a:ln>
        </p:spPr>
        <p:txBody>
          <a:bodyPr lIns="36000" tIns="18000" rIns="36000" bIns="1800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EDEAE2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연구실 </a:t>
            </a:r>
            <a:r>
              <a:rPr kumimoji="0" lang="en-US" altLang="ko-KR" sz="1300" b="0" i="0" u="none" strike="noStrike" kern="1200" cap="none" spc="0" normalizeH="0" baseline="0" noProof="0">
                <a:ln>
                  <a:noFill/>
                </a:ln>
                <a:solidFill>
                  <a:srgbClr val="EDEAE2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DB</a:t>
            </a:r>
          </a:p>
        </p:txBody>
      </p:sp>
      <p:sp>
        <p:nvSpPr>
          <p:cNvPr id="438" name="node438"/>
          <p:cNvSpPr/>
          <p:nvPr/>
        </p:nvSpPr>
        <p:spPr>
          <a:xfrm>
            <a:off x="8990000" y="5150000"/>
            <a:ext cx="2250000" cy="560000"/>
          </a:xfrm>
          <a:prstGeom prst="roundRect">
            <a:avLst>
              <a:gd name="adj" fmla="val 14000"/>
            </a:avLst>
          </a:prstGeom>
          <a:solidFill>
            <a:srgbClr val="1B1712"/>
          </a:solidFill>
          <a:ln w="12700">
            <a:solidFill>
              <a:srgbClr val="F0C24B"/>
            </a:solidFill>
          </a:ln>
        </p:spPr>
        <p:txBody>
          <a:bodyPr lIns="36000" tIns="18000" rIns="36000" bIns="1800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EDEAE2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장비 로그</a:t>
            </a:r>
          </a:p>
        </p:txBody>
      </p:sp>
      <p:sp>
        <p:nvSpPr>
          <p:cNvPr id="439" name="node439"/>
          <p:cNvSpPr/>
          <p:nvPr/>
        </p:nvSpPr>
        <p:spPr>
          <a:xfrm>
            <a:off x="5470000" y="2150000"/>
            <a:ext cx="1250000" cy="3560000"/>
          </a:xfrm>
          <a:prstGeom prst="roundRect">
            <a:avLst>
              <a:gd name="adj" fmla="val 14000"/>
            </a:avLst>
          </a:prstGeom>
          <a:solidFill>
            <a:srgbClr val="F0C24B"/>
          </a:solidFill>
          <a:ln w="12700">
            <a:solidFill>
              <a:srgbClr val="F0C24B"/>
            </a:solidFill>
          </a:ln>
        </p:spPr>
        <p:txBody>
          <a:bodyPr lIns="36000" tIns="18000" rIns="36000" bIns="1800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srgbClr val="141210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MCP</a:t>
            </a:r>
          </a:p>
        </p:txBody>
      </p:sp>
      <p:sp>
        <p:nvSpPr>
          <p:cNvPr id="440" name="lbl440"/>
          <p:cNvSpPr/>
          <p:nvPr/>
        </p:nvSpPr>
        <p:spPr>
          <a:xfrm>
            <a:off x="5170000" y="5800000"/>
            <a:ext cx="1850000" cy="33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1200" cap="none" spc="0" normalizeH="0" baseline="0" noProof="0">
                <a:ln>
                  <a:noFill/>
                </a:ln>
                <a:solidFill>
                  <a:srgbClr val="F0C24B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표준 규격 하나</a:t>
            </a:r>
          </a:p>
        </p:txBody>
      </p:sp>
      <p:sp>
        <p:nvSpPr>
          <p:cNvPr id="441" name="node441"/>
          <p:cNvSpPr/>
          <p:nvPr/>
        </p:nvSpPr>
        <p:spPr>
          <a:xfrm>
            <a:off x="4370000" y="5900000"/>
            <a:ext cx="3450000" cy="520000"/>
          </a:xfrm>
          <a:prstGeom prst="roundRect">
            <a:avLst>
              <a:gd name="adj" fmla="val 14000"/>
            </a:avLst>
          </a:prstGeom>
          <a:solidFill>
            <a:srgbClr val="1B1712"/>
          </a:solidFill>
          <a:ln w="12700">
            <a:solidFill>
              <a:srgbClr val="F0C24B"/>
            </a:solidFill>
          </a:ln>
        </p:spPr>
        <p:txBody>
          <a:bodyPr lIns="36000" tIns="18000" rIns="36000" bIns="1800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F0C24B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연동  </a:t>
            </a:r>
            <a:r>
              <a:rPr kumimoji="0" lang="en-US" altLang="ko-KR" sz="1400" b="1" i="0" u="none" strike="noStrike" kern="1200" cap="none" spc="0" normalizeH="0" baseline="0" noProof="0">
                <a:ln>
                  <a:noFill/>
                </a:ln>
                <a:solidFill>
                  <a:srgbClr val="F0C24B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3 + 4 = 7</a:t>
            </a: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F0C24B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22960" y="713232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</a:t>
            </a:r>
            <a:r>
              <a:rPr lang="ko-KR" alt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아키텍처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3개 — 호스트 · 클라이언트 · 서버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105457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marR="0" lvl="0" indent="-28575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호스트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</a:t>
            </a: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서버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개</a:t>
            </a: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접속할 수 있는 구조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연결할 때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마다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전담 통신 창구(클라이언트)가 호스트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안에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하나씩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srgbClr val="ECE7DC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85750" marR="0" lvl="0" indent="-28575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서버와도 같은 형식의 메시지로 대화 — 이 공용 규격이 곧 MCP</a:t>
            </a:r>
          </a:p>
        </p:txBody>
      </p:sp>
      <p:sp>
        <p:nvSpPr>
          <p:cNvPr id="15" name="Text 12"/>
          <p:cNvSpPr/>
          <p:nvPr/>
        </p:nvSpPr>
        <p:spPr>
          <a:xfrm>
            <a:off x="822960" y="638251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50" normalizeH="0" baseline="0" noProof="0" dirty="0">
                <a:ln>
                  <a:noFill/>
                </a:ln>
                <a:solidFill>
                  <a:srgbClr val="6B675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활용 대용량 연구데이터 전처리 · 5교시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1" name="bx501"/>
          <p:cNvSpPr/>
          <p:nvPr/>
        </p:nvSpPr>
        <p:spPr>
          <a:xfrm>
            <a:off x="751389" y="2209768"/>
            <a:ext cx="10500000" cy="2150000"/>
          </a:xfrm>
          <a:prstGeom prst="roundRect">
            <a:avLst>
              <a:gd name="adj" fmla="val 8000"/>
            </a:avLst>
          </a:prstGeom>
          <a:solidFill>
            <a:srgbClr val="14110C"/>
          </a:solidFill>
          <a:ln w="19050">
            <a:solidFill>
              <a:srgbClr val="F0C24B"/>
            </a:solidFill>
          </a:ln>
        </p:spPr>
        <p:txBody>
          <a:bodyPr lIns="72000" tIns="36000" rIns="72000" bIns="3600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2" name="lb502"/>
          <p:cNvSpPr/>
          <p:nvPr/>
        </p:nvSpPr>
        <p:spPr>
          <a:xfrm>
            <a:off x="1051389" y="2319768"/>
            <a:ext cx="9900000" cy="33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F0C24B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호스트 </a:t>
            </a:r>
            <a:r>
              <a:rPr kumimoji="0" lang="en-US" altLang="ko-KR" sz="1400" b="1" i="0" u="none" strike="noStrike" kern="1200" cap="none" spc="0" normalizeH="0" baseline="0" noProof="0">
                <a:ln>
                  <a:noFill/>
                </a:ln>
                <a:solidFill>
                  <a:srgbClr val="F0C24B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— Claude Desktop (</a:t>
            </a: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F0C24B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사용자가 여는 </a:t>
            </a:r>
            <a:r>
              <a:rPr kumimoji="0" lang="en-US" altLang="ko-KR" sz="1400" b="1" i="0" u="none" strike="noStrike" kern="1200" cap="none" spc="0" normalizeH="0" baseline="0" noProof="0">
                <a:ln>
                  <a:noFill/>
                </a:ln>
                <a:solidFill>
                  <a:srgbClr val="F0C24B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AI </a:t>
            </a: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F0C24B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프로그램</a:t>
            </a:r>
            <a:r>
              <a:rPr kumimoji="0" lang="en-US" altLang="ko-KR" sz="1400" b="1" i="0" u="none" strike="noStrike" kern="1200" cap="none" spc="0" normalizeH="0" baseline="0" noProof="0">
                <a:ln>
                  <a:noFill/>
                </a:ln>
                <a:solidFill>
                  <a:srgbClr val="F0C24B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503" name="lb503"/>
          <p:cNvSpPr/>
          <p:nvPr/>
        </p:nvSpPr>
        <p:spPr>
          <a:xfrm>
            <a:off x="1051389" y="2689768"/>
            <a:ext cx="9900000" cy="33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B9B2A3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대화 화면과 모델이 이 안에서 동작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B9B2A3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B9B2A3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서버가 하나 늘면 호스트가 클라이언트를 하나씩 자동 추가</a:t>
            </a:r>
          </a:p>
        </p:txBody>
      </p:sp>
      <p:sp>
        <p:nvSpPr>
          <p:cNvPr id="504" name="bx504"/>
          <p:cNvSpPr/>
          <p:nvPr/>
        </p:nvSpPr>
        <p:spPr>
          <a:xfrm>
            <a:off x="1751389" y="3489768"/>
            <a:ext cx="2200000" cy="640000"/>
          </a:xfrm>
          <a:prstGeom prst="roundRect">
            <a:avLst>
              <a:gd name="adj" fmla="val 8000"/>
            </a:avLst>
          </a:prstGeom>
          <a:solidFill>
            <a:srgbClr val="1B1712"/>
          </a:solidFill>
          <a:ln w="12700">
            <a:solidFill>
              <a:srgbClr val="8F8468"/>
            </a:solidFill>
          </a:ln>
        </p:spPr>
        <p:txBody>
          <a:bodyPr lIns="72000" tIns="36000" rIns="72000" bIns="3600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50" b="1" i="0" u="none" strike="noStrike" kern="1200" cap="none" spc="0" normalizeH="0" baseline="0" noProof="0">
                <a:ln>
                  <a:noFill/>
                </a:ln>
                <a:solidFill>
                  <a:srgbClr val="EDEAE2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클라이언트 </a:t>
            </a:r>
            <a:r>
              <a:rPr kumimoji="0" lang="en-US" altLang="ko-KR" sz="1250" b="1" i="0" u="none" strike="noStrike" kern="1200" cap="none" spc="0" normalizeH="0" baseline="0" noProof="0">
                <a:ln>
                  <a:noFill/>
                </a:ln>
                <a:solidFill>
                  <a:srgbClr val="EDEAE2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1</a:t>
            </a:r>
            <a:b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B9B2A3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서버 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srgbClr val="B9B2A3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1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B9B2A3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와 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srgbClr val="B9B2A3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1:1 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B9B2A3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연결</a:t>
            </a:r>
          </a:p>
        </p:txBody>
      </p:sp>
      <p:sp>
        <p:nvSpPr>
          <p:cNvPr id="505" name="bx505"/>
          <p:cNvSpPr/>
          <p:nvPr/>
        </p:nvSpPr>
        <p:spPr>
          <a:xfrm>
            <a:off x="4901389" y="3489768"/>
            <a:ext cx="2200000" cy="640000"/>
          </a:xfrm>
          <a:prstGeom prst="roundRect">
            <a:avLst>
              <a:gd name="adj" fmla="val 8000"/>
            </a:avLst>
          </a:prstGeom>
          <a:solidFill>
            <a:srgbClr val="1B1712"/>
          </a:solidFill>
          <a:ln w="12700">
            <a:solidFill>
              <a:srgbClr val="8F8468"/>
            </a:solidFill>
          </a:ln>
        </p:spPr>
        <p:txBody>
          <a:bodyPr lIns="72000" tIns="36000" rIns="72000" bIns="3600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50" b="1" i="0" u="none" strike="noStrike" kern="1200" cap="none" spc="0" normalizeH="0" baseline="0" noProof="0">
                <a:ln>
                  <a:noFill/>
                </a:ln>
                <a:solidFill>
                  <a:srgbClr val="EDEAE2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클라이언트 </a:t>
            </a:r>
            <a:r>
              <a:rPr kumimoji="0" lang="en-US" altLang="ko-KR" sz="1250" b="1" i="0" u="none" strike="noStrike" kern="1200" cap="none" spc="0" normalizeH="0" baseline="0" noProof="0">
                <a:ln>
                  <a:noFill/>
                </a:ln>
                <a:solidFill>
                  <a:srgbClr val="EDEAE2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2</a:t>
            </a:r>
            <a:b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B9B2A3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서버 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srgbClr val="B9B2A3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2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B9B2A3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와 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srgbClr val="B9B2A3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1:1 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B9B2A3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연결</a:t>
            </a:r>
          </a:p>
        </p:txBody>
      </p:sp>
      <p:sp>
        <p:nvSpPr>
          <p:cNvPr id="506" name="bx506"/>
          <p:cNvSpPr/>
          <p:nvPr/>
        </p:nvSpPr>
        <p:spPr>
          <a:xfrm>
            <a:off x="8051389" y="3489768"/>
            <a:ext cx="2200000" cy="640000"/>
          </a:xfrm>
          <a:prstGeom prst="roundRect">
            <a:avLst>
              <a:gd name="adj" fmla="val 8000"/>
            </a:avLst>
          </a:prstGeom>
          <a:solidFill>
            <a:srgbClr val="1B1712"/>
          </a:solidFill>
          <a:ln w="12700">
            <a:solidFill>
              <a:srgbClr val="8F8468"/>
            </a:solidFill>
          </a:ln>
        </p:spPr>
        <p:txBody>
          <a:bodyPr lIns="72000" tIns="36000" rIns="72000" bIns="3600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50" b="1" i="0" u="none" strike="noStrike" kern="1200" cap="none" spc="0" normalizeH="0" baseline="0" noProof="0">
                <a:ln>
                  <a:noFill/>
                </a:ln>
                <a:solidFill>
                  <a:srgbClr val="EDEAE2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클라이언트 </a:t>
            </a:r>
            <a:r>
              <a:rPr kumimoji="0" lang="en-US" altLang="ko-KR" sz="1250" b="1" i="0" u="none" strike="noStrike" kern="1200" cap="none" spc="0" normalizeH="0" baseline="0" noProof="0">
                <a:ln>
                  <a:noFill/>
                </a:ln>
                <a:solidFill>
                  <a:srgbClr val="EDEAE2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3</a:t>
            </a:r>
            <a:b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B9B2A3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서버 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srgbClr val="B9B2A3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3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B9B2A3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와 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srgbClr val="B9B2A3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1:1 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B9B2A3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연결</a:t>
            </a:r>
          </a:p>
        </p:txBody>
      </p:sp>
      <p:sp>
        <p:nvSpPr>
          <p:cNvPr id="507" name="ar507"/>
          <p:cNvSpPr/>
          <p:nvPr/>
        </p:nvSpPr>
        <p:spPr>
          <a:xfrm>
            <a:off x="2851389" y="4439768"/>
            <a:ext cx="0" cy="500000"/>
          </a:xfrm>
          <a:prstGeom prst="line">
            <a:avLst/>
          </a:prstGeom>
          <a:ln w="15875" cap="rnd">
            <a:solidFill>
              <a:srgbClr val="F0C24B"/>
            </a:solidFill>
            <a:headEnd type="triangle" w="med" len="med"/>
            <a:tailEnd type="triangle" w="med" len="med"/>
          </a:ln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08" name="ar508"/>
          <p:cNvSpPr/>
          <p:nvPr/>
        </p:nvSpPr>
        <p:spPr>
          <a:xfrm>
            <a:off x="6001389" y="4439768"/>
            <a:ext cx="0" cy="500000"/>
          </a:xfrm>
          <a:prstGeom prst="line">
            <a:avLst/>
          </a:prstGeom>
          <a:ln w="15875" cap="rnd">
            <a:solidFill>
              <a:srgbClr val="F0C24B"/>
            </a:solidFill>
            <a:headEnd type="triangle" w="med" len="med"/>
            <a:tailEnd type="triangle" w="med" len="med"/>
          </a:ln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09" name="ar509"/>
          <p:cNvSpPr/>
          <p:nvPr/>
        </p:nvSpPr>
        <p:spPr>
          <a:xfrm>
            <a:off x="9151389" y="4439768"/>
            <a:ext cx="0" cy="500000"/>
          </a:xfrm>
          <a:prstGeom prst="line">
            <a:avLst/>
          </a:prstGeom>
          <a:ln w="15875" cap="rnd">
            <a:solidFill>
              <a:srgbClr val="F0C24B"/>
            </a:solidFill>
            <a:headEnd type="triangle" w="med" len="med"/>
            <a:tailEnd type="triangle" w="med" len="med"/>
          </a:ln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10" name="lb510"/>
          <p:cNvSpPr/>
          <p:nvPr/>
        </p:nvSpPr>
        <p:spPr>
          <a:xfrm>
            <a:off x="751389" y="4524768"/>
            <a:ext cx="1950000" cy="56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1200" cap="none" spc="0" normalizeH="0" baseline="0" noProof="0">
                <a:ln>
                  <a:noFill/>
                </a:ln>
                <a:solidFill>
                  <a:srgbClr val="F0C24B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JSON-RPC</a:t>
            </a:r>
            <a:b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ko-KR" altLang="en-US" sz="950" b="0" i="0" u="none" strike="noStrike" kern="1200" cap="none" spc="0" normalizeH="0" baseline="0" noProof="0">
                <a:ln>
                  <a:noFill/>
                </a:ln>
                <a:solidFill>
                  <a:srgbClr val="B9B2A3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정해진 형식의 메시지</a:t>
            </a:r>
          </a:p>
        </p:txBody>
      </p:sp>
      <p:sp>
        <p:nvSpPr>
          <p:cNvPr id="511" name="bx511"/>
          <p:cNvSpPr/>
          <p:nvPr/>
        </p:nvSpPr>
        <p:spPr>
          <a:xfrm>
            <a:off x="1351389" y="4959768"/>
            <a:ext cx="3000000" cy="700000"/>
          </a:xfrm>
          <a:prstGeom prst="roundRect">
            <a:avLst>
              <a:gd name="adj" fmla="val 8000"/>
            </a:avLst>
          </a:prstGeom>
          <a:solidFill>
            <a:srgbClr val="1B1712"/>
          </a:solidFill>
          <a:ln w="12700">
            <a:solidFill>
              <a:srgbClr val="F0C24B"/>
            </a:solidFill>
          </a:ln>
        </p:spPr>
        <p:txBody>
          <a:bodyPr lIns="72000" tIns="36000" rIns="72000" bIns="3600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50" b="1" i="0" u="none" strike="noStrike" kern="1200" cap="none" spc="0" normalizeH="0" baseline="0" noProof="0">
                <a:ln>
                  <a:noFill/>
                </a:ln>
                <a:solidFill>
                  <a:srgbClr val="EDEAE2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서버 </a:t>
            </a:r>
            <a:r>
              <a:rPr kumimoji="0" lang="en-US" altLang="ko-KR" sz="1250" b="1" i="0" u="none" strike="noStrike" kern="1200" cap="none" spc="0" normalizeH="0" baseline="0" noProof="0">
                <a:ln>
                  <a:noFill/>
                </a:ln>
                <a:solidFill>
                  <a:srgbClr val="EDEAE2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1 · arxiv-mcp-server</a:t>
            </a:r>
            <a:b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B9B2A3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논문 검색 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srgbClr val="B9B2A3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— 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B9B2A3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오늘 연결</a:t>
            </a:r>
          </a:p>
        </p:txBody>
      </p:sp>
      <p:sp>
        <p:nvSpPr>
          <p:cNvPr id="512" name="bx512"/>
          <p:cNvSpPr/>
          <p:nvPr/>
        </p:nvSpPr>
        <p:spPr>
          <a:xfrm>
            <a:off x="4501389" y="4959768"/>
            <a:ext cx="3000000" cy="700000"/>
          </a:xfrm>
          <a:prstGeom prst="roundRect">
            <a:avLst>
              <a:gd name="adj" fmla="val 8000"/>
            </a:avLst>
          </a:prstGeom>
          <a:solidFill>
            <a:srgbClr val="1B1712"/>
          </a:solidFill>
          <a:ln w="12700">
            <a:solidFill>
              <a:srgbClr val="F0C24B"/>
            </a:solidFill>
          </a:ln>
        </p:spPr>
        <p:txBody>
          <a:bodyPr lIns="72000" tIns="36000" rIns="72000" bIns="3600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50" b="1" i="0" u="none" strike="noStrike" kern="1200" cap="none" spc="0" normalizeH="0" baseline="0" noProof="0">
                <a:ln>
                  <a:noFill/>
                </a:ln>
                <a:solidFill>
                  <a:srgbClr val="EDEAE2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서버 </a:t>
            </a:r>
            <a:r>
              <a:rPr kumimoji="0" lang="en-US" altLang="ko-KR" sz="1250" b="1" i="0" u="none" strike="noStrike" kern="1200" cap="none" spc="0" normalizeH="0" baseline="0" noProof="0">
                <a:ln>
                  <a:noFill/>
                </a:ln>
                <a:solidFill>
                  <a:srgbClr val="EDEAE2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2 · </a:t>
            </a:r>
            <a:r>
              <a:rPr kumimoji="0" lang="ko-KR" altLang="en-US" sz="1250" b="1" i="0" u="none" strike="noStrike" kern="1200" cap="none" spc="0" normalizeH="0" baseline="0" noProof="0">
                <a:ln>
                  <a:noFill/>
                </a:ln>
                <a:solidFill>
                  <a:srgbClr val="EDEAE2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파일 서버</a:t>
            </a:r>
            <a:b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B9B2A3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로컬 문서 접근</a:t>
            </a:r>
          </a:p>
        </p:txBody>
      </p:sp>
      <p:sp>
        <p:nvSpPr>
          <p:cNvPr id="513" name="bx513"/>
          <p:cNvSpPr/>
          <p:nvPr/>
        </p:nvSpPr>
        <p:spPr>
          <a:xfrm>
            <a:off x="7651389" y="4959768"/>
            <a:ext cx="3000000" cy="700000"/>
          </a:xfrm>
          <a:prstGeom prst="roundRect">
            <a:avLst>
              <a:gd name="adj" fmla="val 8000"/>
            </a:avLst>
          </a:prstGeom>
          <a:solidFill>
            <a:srgbClr val="1B1712"/>
          </a:solidFill>
          <a:ln w="12700">
            <a:solidFill>
              <a:srgbClr val="F0C24B"/>
            </a:solidFill>
          </a:ln>
        </p:spPr>
        <p:txBody>
          <a:bodyPr lIns="72000" tIns="36000" rIns="72000" bIns="3600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50" b="1" i="0" u="none" strike="noStrike" kern="1200" cap="none" spc="0" normalizeH="0" baseline="0" noProof="0">
                <a:ln>
                  <a:noFill/>
                </a:ln>
                <a:solidFill>
                  <a:srgbClr val="EDEAE2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서버 </a:t>
            </a:r>
            <a:r>
              <a:rPr kumimoji="0" lang="en-US" altLang="ko-KR" sz="1250" b="1" i="0" u="none" strike="noStrike" kern="1200" cap="none" spc="0" normalizeH="0" baseline="0" noProof="0">
                <a:ln>
                  <a:noFill/>
                </a:ln>
                <a:solidFill>
                  <a:srgbClr val="EDEAE2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3 · data-cleaner</a:t>
            </a:r>
            <a:br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B9B2A3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데이터 정제 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srgbClr val="B9B2A3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— 6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B9B2A3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교시 제작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22960" y="713232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호스트</a:t>
            </a:r>
            <a:r>
              <a:rPr lang="en-US" altLang="ko-KR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클라이언트</a:t>
            </a:r>
            <a:r>
              <a:rPr lang="en-US" altLang="ko-KR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</a:t>
            </a:r>
            <a:r>
              <a:rPr kumimoji="0" 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1371599"/>
            <a:ext cx="10545775" cy="1075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marR="0" lvl="0" indent="-28575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3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</a:t>
            </a:r>
            <a:r>
              <a:rPr lang="ko-KR" altLang="en-US" sz="13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3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desktop</a:t>
            </a:r>
            <a:r>
              <a:rPr lang="ko-KR" altLang="en-US" sz="13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애플리케이션을 호스트로 사용하면 클라이언트 부분은 호스트가 알아서 처리해줌</a:t>
            </a:r>
            <a:endParaRPr lang="en-US" altLang="ko-KR" sz="1300" dirty="0">
              <a:solidFill>
                <a:srgbClr val="ECE7DC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742950" lvl="1" indent="-285750" latinLnBrk="0">
              <a:lnSpc>
                <a:spcPts val="2100"/>
              </a:lnSpc>
              <a:buFont typeface="Arial" panose="020B0604020202020204" pitchFamily="34" charset="0"/>
              <a:buChar char="•"/>
              <a:defRPr/>
            </a:pP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서버 연결만 </a:t>
            </a:r>
            <a:r>
              <a:rPr kumimoji="0" lang="ko-KR" alt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신경쓰면</a:t>
            </a: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됨</a:t>
            </a:r>
            <a:endParaRPr kumimoji="0" lang="en-US" altLang="ko-KR" sz="1300" b="0" i="0" u="none" strike="noStrike" kern="1200" cap="none" spc="0" normalizeH="0" baseline="0" noProof="0" dirty="0">
              <a:ln>
                <a:noFill/>
              </a:ln>
              <a:solidFill>
                <a:srgbClr val="ECE7DC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85750" indent="-285750" latinLnBrk="0">
              <a:lnSpc>
                <a:spcPts val="2100"/>
              </a:lnSpc>
              <a:buFont typeface="Arial" panose="020B0604020202020204" pitchFamily="34" charset="0"/>
              <a:buChar char="•"/>
              <a:defRPr/>
            </a:pPr>
            <a:r>
              <a:rPr lang="en-US" sz="13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desktop </a:t>
            </a:r>
            <a:r>
              <a:rPr lang="ko-KR" altLang="en-US" sz="13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호스트 사용 없이 </a:t>
            </a:r>
            <a:r>
              <a:rPr lang="en-US" altLang="ko-KR" sz="13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</a:t>
            </a:r>
            <a:r>
              <a:rPr lang="en-US" altLang="ko-KR" sz="13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3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</a:t>
            </a:r>
            <a:r>
              <a:rPr lang="en-US" altLang="ko-KR" sz="13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</a:t>
            </a:r>
            <a:r>
              <a:rPr lang="ko-KR" altLang="en-US" sz="13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이용해 </a:t>
            </a:r>
            <a:r>
              <a:rPr lang="en-US" altLang="ko-KR" sz="13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</a:t>
            </a:r>
            <a:r>
              <a:rPr lang="en-US" altLang="ko-KR" sz="13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3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연결하려면 클라이언트 부분도 개발 필요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srgbClr val="ECE7DC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822960" y="638251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50" normalizeH="0" baseline="0" noProof="0" dirty="0">
                <a:ln>
                  <a:noFill/>
                </a:ln>
                <a:solidFill>
                  <a:srgbClr val="6B675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활용 대용량 연구데이터 전처리 · 5교시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5" name="card515"/>
          <p:cNvSpPr/>
          <p:nvPr/>
        </p:nvSpPr>
        <p:spPr>
          <a:xfrm>
            <a:off x="850000" y="2447365"/>
            <a:ext cx="3400000" cy="3612776"/>
          </a:xfrm>
          <a:prstGeom prst="roundRect">
            <a:avLst>
              <a:gd name="adj" fmla="val 5000"/>
            </a:avLst>
          </a:prstGeom>
          <a:solidFill>
            <a:srgbClr val="1B1712"/>
          </a:solidFill>
          <a:ln w="12700">
            <a:solidFill>
              <a:srgbClr val="8F8468"/>
            </a:solidFill>
          </a:ln>
        </p:spPr>
        <p:txBody>
          <a:bodyPr lIns="180000" tIns="150000" rIns="150000" bIns="120000" anchor="t"/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0C24B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호스트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b="1" dirty="0">
                <a:solidFill>
                  <a:srgbClr val="EDEAE2"/>
                </a:solidFill>
                <a:latin typeface="Calibri" panose="020F0502020204030204"/>
                <a:ea typeface="맑은 고딕" panose="020B0503020000020004" pitchFamily="50" charset="-127"/>
              </a:rPr>
              <a:t>사용자가 사용하는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EDEAE2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전체를 지휘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200" dirty="0">
              <a:solidFill>
                <a:schemeClr val="bg1"/>
              </a:solidFill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chemeClr val="bg1"/>
                </a:solidFill>
              </a:rPr>
              <a:t>2026</a:t>
            </a:r>
            <a:r>
              <a:rPr lang="ko-KR" altLang="en-US" sz="1200" dirty="0">
                <a:solidFill>
                  <a:schemeClr val="bg1"/>
                </a:solidFill>
              </a:rPr>
              <a:t>년 기준 예</a:t>
            </a:r>
            <a:r>
              <a:rPr lang="en-US" altLang="ko-KR" sz="1200" dirty="0">
                <a:solidFill>
                  <a:schemeClr val="bg1"/>
                </a:solidFill>
              </a:rPr>
              <a:t>: Claude Desktop · Gemini CLI </a:t>
            </a:r>
            <a:r>
              <a:rPr lang="ko-KR" altLang="en-US" sz="1200" dirty="0">
                <a:solidFill>
                  <a:schemeClr val="bg1"/>
                </a:solidFill>
              </a:rPr>
              <a:t>등 </a:t>
            </a:r>
            <a:r>
              <a:rPr lang="en-US" altLang="ko-KR" sz="1200" dirty="0">
                <a:solidFill>
                  <a:schemeClr val="bg1"/>
                </a:solidFill>
              </a:rPr>
              <a:t>MCP </a:t>
            </a:r>
            <a:r>
              <a:rPr lang="ko-KR" altLang="en-US" sz="1200" dirty="0">
                <a:solidFill>
                  <a:schemeClr val="bg1"/>
                </a:solidFill>
              </a:rPr>
              <a:t>지원하는 </a:t>
            </a:r>
            <a:r>
              <a:rPr lang="en-US" altLang="ko-KR" sz="1200" dirty="0">
                <a:solidFill>
                  <a:schemeClr val="bg1"/>
                </a:solidFill>
              </a:rPr>
              <a:t>AI</a:t>
            </a:r>
            <a:r>
              <a:rPr lang="ko-KR" altLang="en-US" sz="1200" dirty="0">
                <a:solidFill>
                  <a:schemeClr val="bg1"/>
                </a:solidFill>
              </a:rPr>
              <a:t>앱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171450" marR="0" lvl="0" indent="-1714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171450" marR="0" lvl="0" indent="-1714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설정 파일을 읽어 등록된 서버를 실행하고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서버마다 클라이언트를 만들어 붙임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171450" marR="0" lvl="0" indent="-1714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171450" marR="0" lvl="0" indent="-1714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서버들이 알려온 툴 목록을 모델에게 보여주고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어떤 툴</a:t>
            </a:r>
            <a:r>
              <a:rPr lang="ko-KR" altLang="en-US" sz="1200" dirty="0">
                <a:solidFill>
                  <a:schemeClr val="bg1"/>
                </a:solidFill>
                <a:latin typeface="Calibri" panose="020F0502020204030204"/>
                <a:ea typeface="맑은 고딕" panose="020B0503020000020004" pitchFamily="50" charset="-127"/>
              </a:rPr>
              <a:t>을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승인할지와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 사용자에게 결과 전달을 중계</a:t>
            </a:r>
          </a:p>
          <a:p>
            <a:pPr marR="0" lvl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ko-KR" altLang="en-US" sz="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16" name="card516"/>
          <p:cNvSpPr/>
          <p:nvPr/>
        </p:nvSpPr>
        <p:spPr>
          <a:xfrm>
            <a:off x="4400000" y="2447365"/>
            <a:ext cx="3400000" cy="3612776"/>
          </a:xfrm>
          <a:prstGeom prst="roundRect">
            <a:avLst>
              <a:gd name="adj" fmla="val 5000"/>
            </a:avLst>
          </a:prstGeom>
          <a:solidFill>
            <a:srgbClr val="1B1712"/>
          </a:solidFill>
          <a:ln w="12700">
            <a:solidFill>
              <a:srgbClr val="8F8468"/>
            </a:solidFill>
          </a:ln>
        </p:spPr>
        <p:txBody>
          <a:bodyPr lIns="180000" tIns="150000" rIns="150000" bIns="120000" anchor="t"/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0C24B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클라이언트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EDEAE2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호스트를 서버에  연결하고 통신 중계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171450" marR="0" lvl="0" indent="-1714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서버당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1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, 1:1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연결 유지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—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서버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3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개면 클라이언트도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3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개</a:t>
            </a:r>
          </a:p>
          <a:p>
            <a:pPr marL="171450" marR="0" lvl="0" indent="-1714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ko-KR" altLang="en-US" sz="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171450" marR="0" lvl="0" indent="-1714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연결과 대화는 전부 정해진 형식의 메시지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(JSON-RPC)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로 진행</a:t>
            </a:r>
          </a:p>
          <a:p>
            <a:pPr marL="171450" marR="0" lvl="0" indent="-1714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ko-KR" altLang="en-US" sz="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171450" marR="0" lvl="0" indent="-1714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호스트 </a:t>
            </a:r>
            <a:r>
              <a:rPr lang="ko-KR" altLang="en-US" sz="1200" dirty="0">
                <a:solidFill>
                  <a:schemeClr val="bg1"/>
                </a:solidFill>
                <a:latin typeface="Calibri" panose="020F0502020204030204"/>
                <a:ea typeface="맑은 고딕" panose="020B0503020000020004" pitchFamily="50" charset="-127"/>
              </a:rPr>
              <a:t>애플리케이션을 사용하면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사용자가 만들거나 설정할 일 없음</a:t>
            </a:r>
            <a:endParaRPr kumimoji="0" lang="ko-KR" alt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17" name="card517"/>
          <p:cNvSpPr/>
          <p:nvPr/>
        </p:nvSpPr>
        <p:spPr>
          <a:xfrm>
            <a:off x="7942000" y="2447364"/>
            <a:ext cx="3400000" cy="3612776"/>
          </a:xfrm>
          <a:prstGeom prst="roundRect">
            <a:avLst>
              <a:gd name="adj" fmla="val 5000"/>
            </a:avLst>
          </a:prstGeom>
          <a:solidFill>
            <a:srgbClr val="1B1712"/>
          </a:solidFill>
          <a:ln w="12700">
            <a:solidFill>
              <a:srgbClr val="8F8468"/>
            </a:solidFill>
          </a:ln>
        </p:spPr>
        <p:txBody>
          <a:bodyPr lIns="180000" tIns="150000" rIns="150000" bIns="120000" anchor="t"/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0C24B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서버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EDEAE2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외부 시스템을 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EDEAE2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MCP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EDEAE2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규격으로 제공 </a:t>
            </a:r>
          </a:p>
          <a:p>
            <a:pPr marR="0" lvl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ko-KR" sz="1200" dirty="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  <a:p>
            <a:pPr marL="171450" marR="0" lvl="0" indent="-1714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우리가 사용하고자 하는 외부의 도구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171450" marR="0" lvl="0" indent="-1714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171450" marR="0" lvl="0" indent="-1714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200" dirty="0">
                <a:solidFill>
                  <a:prstClr val="white"/>
                </a:solidFill>
                <a:latin typeface="Calibri" panose="020F0502020204030204"/>
                <a:ea typeface="맑은 고딕" panose="020B0503020000020004" pitchFamily="50" charset="-127"/>
              </a:rPr>
              <a:t>지금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 실습하는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arxiv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-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mcp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-server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는 논문 검색을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MCP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규격으로 감싼 것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171450" marR="0" lvl="0" indent="-1714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171450" marR="0" lvl="0" indent="-17145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호스트를 사용하지 않는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MCP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시스템을 만들지 않는 이상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일반적으로 서버 </a:t>
            </a:r>
            <a:r>
              <a:rPr lang="ko-KR" altLang="en-US" sz="1200" dirty="0">
                <a:solidFill>
                  <a:prstClr val="white"/>
                </a:solidFill>
                <a:latin typeface="Calibri" panose="020F0502020204030204"/>
                <a:ea typeface="맑은 고딕" panose="020B0503020000020004" pitchFamily="50" charset="-127"/>
              </a:rPr>
              <a:t>부분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만 개발자가 구축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(6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교시 실습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)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22960" y="713232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서버가 제공하는 세 </a:t>
            </a:r>
            <a:r>
              <a:rPr kumimoji="0" 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가지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10545775" cy="690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marR="0" lvl="0" indent="-28575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지금은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간단한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정의</a:t>
            </a:r>
            <a:r>
              <a:rPr lang="ko-KR" alt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개념만 익히기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ECE7DC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0021080"/>
              </p:ext>
            </p:extLst>
          </p:nvPr>
        </p:nvGraphicFramePr>
        <p:xfrm>
          <a:off x="822960" y="2510117"/>
          <a:ext cx="10938734" cy="2427640"/>
        </p:xfrm>
        <a:graphic>
          <a:graphicData uri="http://schemas.openxmlformats.org/drawingml/2006/table">
            <a:tbl>
              <a:tblPr/>
              <a:tblGrid>
                <a:gridCol w="12385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09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910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69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종류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1F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1F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arxiv 서버의 예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1F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69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40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사용자의 요청에 대해</a:t>
                      </a:r>
                      <a:r>
                        <a:rPr lang="en-US" sz="140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ko-KR" altLang="en-US" sz="140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실질적으로 작업을 하는 코드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 err="1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논문</a:t>
                      </a:r>
                      <a:r>
                        <a:rPr lang="en-US" sz="140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400" dirty="0" err="1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목록</a:t>
                      </a:r>
                      <a:r>
                        <a:rPr lang="en-US" sz="140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ko-KR" altLang="en-US" sz="140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검색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69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리소스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모델이 </a:t>
                      </a:r>
                      <a:r>
                        <a:rPr lang="en-US" sz="1400" dirty="0" err="1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읽는</a:t>
                      </a:r>
                      <a:r>
                        <a:rPr lang="en-US" sz="140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400" dirty="0" err="1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</a:t>
                      </a:r>
                      <a:r>
                        <a:rPr lang="en-US" sz="140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— 파일·스키마 등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저장된 논문 파일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69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프롬프트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서버가 미리 담아 둔 재사용 지시문. 정해진 분석 절차를 한 번에 호출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 err="1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논문</a:t>
                      </a:r>
                      <a:r>
                        <a:rPr lang="en-US" sz="140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400" dirty="0" err="1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심층</a:t>
                      </a:r>
                      <a:r>
                        <a:rPr lang="en-US" sz="140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400" dirty="0" err="1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분석</a:t>
                      </a:r>
                      <a:r>
                        <a:rPr lang="ko-KR" altLang="en-US" sz="140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하도록 하는 기본 프롬프트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822960" y="638251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50" normalizeH="0" baseline="0" noProof="0" dirty="0">
                <a:ln>
                  <a:noFill/>
                </a:ln>
                <a:solidFill>
                  <a:srgbClr val="6B675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활용 대용량 연구데이터 전처리 · 5교시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사용자가 MCP 이용할 때 </a:t>
            </a:r>
            <a:r>
              <a:rPr kumimoji="0" lang="en-US" sz="2300" b="1" i="0" u="none" strike="noStrike" kern="1200" cap="none" spc="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흐름</a:t>
            </a:r>
            <a:r>
              <a:rPr kumimoji="0" 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kumimoji="0" lang="en-US" sz="2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658368" y="1060704"/>
            <a:ext cx="109728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호스트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↔ 서버의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통신은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클라이언트를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통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해서 작동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갈 때 변환(④), 올 때 역변환(⑥)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11274552" cy="1417320"/>
          </a:xfrm>
          <a:prstGeom prst="roundRect">
            <a:avLst>
              <a:gd name="adj" fmla="val 5161"/>
            </a:avLst>
          </a:prstGeom>
          <a:solidFill>
            <a:srgbClr val="14110C"/>
          </a:solidFill>
          <a:ln w="6350">
            <a:solidFill>
              <a:srgbClr val="2C26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847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0C24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호스트 — 사용자 · 모델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3291840"/>
            <a:ext cx="11274552" cy="1417320"/>
          </a:xfrm>
          <a:prstGeom prst="roundRect">
            <a:avLst>
              <a:gd name="adj" fmla="val 5161"/>
            </a:avLst>
          </a:prstGeom>
          <a:solidFill>
            <a:srgbClr val="14110C"/>
          </a:solidFill>
          <a:ln w="6350">
            <a:solidFill>
              <a:srgbClr val="2C26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33558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0C24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클라이언트 — 호스트 내부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4800600"/>
            <a:ext cx="11274552" cy="1325880"/>
          </a:xfrm>
          <a:prstGeom prst="roundRect">
            <a:avLst>
              <a:gd name="adj" fmla="val 5517"/>
            </a:avLst>
          </a:prstGeom>
          <a:solidFill>
            <a:srgbClr val="14110C"/>
          </a:solidFill>
          <a:ln w="6350">
            <a:solidFill>
              <a:srgbClr val="2C26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4864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0C24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— 외부 도구 프로그램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3721608"/>
            <a:ext cx="1225296" cy="914400"/>
          </a:xfrm>
          <a:prstGeom prst="roundRect">
            <a:avLst>
              <a:gd name="adj" fmla="val 5000"/>
            </a:avLst>
          </a:prstGeom>
          <a:solidFill>
            <a:srgbClr val="1B1712"/>
          </a:solidFill>
          <a:ln w="9525">
            <a:solidFill>
              <a:srgbClr val="8F8468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585216" y="3721608"/>
            <a:ext cx="1152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⓪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최초 연결 시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목록 확보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B9B2A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tools/list로 목록 확보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B9B2A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모델에게 미리 전달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956816" y="2212848"/>
            <a:ext cx="1225296" cy="914400"/>
          </a:xfrm>
          <a:prstGeom prst="roundRect">
            <a:avLst>
              <a:gd name="adj" fmla="val 5000"/>
            </a:avLst>
          </a:prstGeom>
          <a:solidFill>
            <a:srgbClr val="1B1712"/>
          </a:solidFill>
          <a:ln w="6350">
            <a:solidFill>
              <a:srgbClr val="8F846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93392" y="2212848"/>
            <a:ext cx="1152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 입력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B9B2A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— 자연어 요청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364992" y="2212848"/>
            <a:ext cx="1225296" cy="914400"/>
          </a:xfrm>
          <a:prstGeom prst="roundRect">
            <a:avLst>
              <a:gd name="adj" fmla="val 5000"/>
            </a:avLst>
          </a:prstGeom>
          <a:solidFill>
            <a:srgbClr val="1B1712"/>
          </a:solidFill>
          <a:ln w="6350">
            <a:solidFill>
              <a:srgbClr val="8F846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01568" y="2212848"/>
            <a:ext cx="1152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툴 선택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B9B2A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 근거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B9B2A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tool_use 생성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773168" y="2212848"/>
            <a:ext cx="1225296" cy="914400"/>
          </a:xfrm>
          <a:prstGeom prst="roundRect">
            <a:avLst>
              <a:gd name="adj" fmla="val 5000"/>
            </a:avLst>
          </a:prstGeom>
          <a:solidFill>
            <a:srgbClr val="1B1712"/>
          </a:solidFill>
          <a:ln w="6350">
            <a:solidFill>
              <a:srgbClr val="8F846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9744" y="2212848"/>
            <a:ext cx="1152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승인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B9B2A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허용해야 다음 진행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B9B2A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원치 않는 실행 차단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181344" y="3721608"/>
            <a:ext cx="1225296" cy="914400"/>
          </a:xfrm>
          <a:prstGeom prst="roundRect">
            <a:avLst>
              <a:gd name="adj" fmla="val 5000"/>
            </a:avLst>
          </a:prstGeom>
          <a:solidFill>
            <a:srgbClr val="1B1712"/>
          </a:solidFill>
          <a:ln w="6350">
            <a:solidFill>
              <a:srgbClr val="8F846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3721608"/>
            <a:ext cx="1152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MCP </a:t>
            </a:r>
            <a:r>
              <a:rPr lang="ko-KR" altLang="en-US" sz="12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표준으로 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변환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전송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B9B2A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tool_use →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B9B2A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tools/call (JSON-RPC)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589520" y="5166360"/>
            <a:ext cx="1225296" cy="914400"/>
          </a:xfrm>
          <a:prstGeom prst="roundRect">
            <a:avLst>
              <a:gd name="adj" fmla="val 5000"/>
            </a:avLst>
          </a:prstGeom>
          <a:solidFill>
            <a:srgbClr val="1B1712"/>
          </a:solidFill>
          <a:ln w="12700">
            <a:solidFill>
              <a:srgbClr val="F0C24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26096" y="5166360"/>
            <a:ext cx="1152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</a:t>
            </a:r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srgbClr val="ECE7DC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실행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B9B2A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함수 실행 후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B9B2A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되돌려줌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8997696" y="3721608"/>
            <a:ext cx="1225296" cy="914400"/>
          </a:xfrm>
          <a:prstGeom prst="roundRect">
            <a:avLst>
              <a:gd name="adj" fmla="val 5000"/>
            </a:avLst>
          </a:prstGeom>
          <a:solidFill>
            <a:srgbClr val="1B1712"/>
          </a:solidFill>
          <a:ln w="6350">
            <a:solidFill>
              <a:srgbClr val="8F846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34272" y="3721608"/>
            <a:ext cx="1152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역변환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B9B2A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 → tool_result로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B9B2A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모델에게 전달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10405872" y="2212848"/>
            <a:ext cx="1225296" cy="914400"/>
          </a:xfrm>
          <a:prstGeom prst="roundRect">
            <a:avLst>
              <a:gd name="adj" fmla="val 5000"/>
            </a:avLst>
          </a:prstGeom>
          <a:solidFill>
            <a:srgbClr val="1B1712"/>
          </a:solidFill>
          <a:ln w="6350">
            <a:solidFill>
              <a:srgbClr val="8F846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442448" y="2212848"/>
            <a:ext cx="1152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⑦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 작성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B9B2A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— 결과를 읽고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B9B2A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사용자에게 응답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182112" y="2670048"/>
            <a:ext cx="182880" cy="0"/>
          </a:xfrm>
          <a:prstGeom prst="line">
            <a:avLst/>
          </a:prstGeom>
          <a:noFill/>
          <a:ln w="15875">
            <a:solidFill>
              <a:srgbClr val="F0C24B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590288" y="2670048"/>
            <a:ext cx="182880" cy="0"/>
          </a:xfrm>
          <a:prstGeom prst="line">
            <a:avLst/>
          </a:prstGeom>
          <a:noFill/>
          <a:ln w="15875">
            <a:solidFill>
              <a:srgbClr val="F0C24B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385816" y="3127248"/>
            <a:ext cx="795528" cy="1051560"/>
          </a:xfrm>
          <a:prstGeom prst="line">
            <a:avLst/>
          </a:prstGeom>
          <a:noFill/>
          <a:ln w="15875">
            <a:solidFill>
              <a:srgbClr val="F0C24B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793992" y="4636008"/>
            <a:ext cx="795528" cy="987552"/>
          </a:xfrm>
          <a:prstGeom prst="line">
            <a:avLst/>
          </a:prstGeom>
          <a:noFill/>
          <a:ln w="15875">
            <a:solidFill>
              <a:srgbClr val="F0C24B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 flipV="1">
            <a:off x="8202168" y="4178808"/>
            <a:ext cx="795528" cy="987552"/>
          </a:xfrm>
          <a:prstGeom prst="line">
            <a:avLst/>
          </a:prstGeom>
          <a:noFill/>
          <a:ln w="15875">
            <a:solidFill>
              <a:srgbClr val="F0C24B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 flipV="1">
            <a:off x="9610344" y="2670048"/>
            <a:ext cx="795528" cy="1051560"/>
          </a:xfrm>
          <a:prstGeom prst="line">
            <a:avLst/>
          </a:prstGeom>
          <a:noFill/>
          <a:ln w="15875">
            <a:solidFill>
              <a:srgbClr val="F0C24B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1865376" y="2176272"/>
            <a:ext cx="0" cy="1152144"/>
          </a:xfrm>
          <a:prstGeom prst="line">
            <a:avLst/>
          </a:prstGeom>
          <a:noFill/>
          <a:ln w="9525">
            <a:solidFill>
              <a:srgbClr val="8F8468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1865376" y="3685032"/>
            <a:ext cx="0" cy="1152144"/>
          </a:xfrm>
          <a:prstGeom prst="line">
            <a:avLst/>
          </a:prstGeom>
          <a:noFill/>
          <a:ln w="9525">
            <a:solidFill>
              <a:srgbClr val="8F8468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1865376" y="5193792"/>
            <a:ext cx="0" cy="914400"/>
          </a:xfrm>
          <a:prstGeom prst="line">
            <a:avLst/>
          </a:prstGeom>
          <a:noFill/>
          <a:ln w="9525">
            <a:solidFill>
              <a:srgbClr val="8F8468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548640" y="6181344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B9B2A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점선 왼쪽(⓪)은 서버 연결 시 1회  ·  오른쪽(①~⑦)은 질문 하나마다 반복되는 루프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548640" y="647395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B675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활용 대용량 연구데이터 전처리 · 5교시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24">
            <a:extLst>
              <a:ext uri="{FF2B5EF4-FFF2-40B4-BE49-F238E27FC236}">
                <a16:creationId xmlns:a16="http://schemas.microsoft.com/office/drawing/2014/main" id="{210F8C73-CD63-6173-BD99-CF18C2052A60}"/>
              </a:ext>
            </a:extLst>
          </p:cNvPr>
          <p:cNvSpPr/>
          <p:nvPr/>
        </p:nvSpPr>
        <p:spPr>
          <a:xfrm flipV="1">
            <a:off x="1161289" y="2670048"/>
            <a:ext cx="822946" cy="1033272"/>
          </a:xfrm>
          <a:prstGeom prst="line">
            <a:avLst/>
          </a:prstGeom>
          <a:noFill/>
          <a:ln w="15875">
            <a:solidFill>
              <a:srgbClr val="F0C24B"/>
            </a:solidFill>
            <a:prstDash val="solid"/>
            <a:tailEnd type="triangle"/>
          </a:ln>
        </p:spPr>
      </p:sp>
      <p:sp>
        <p:nvSpPr>
          <p:cNvPr id="40" name="Shape 24">
            <a:extLst>
              <a:ext uri="{FF2B5EF4-FFF2-40B4-BE49-F238E27FC236}">
                <a16:creationId xmlns:a16="http://schemas.microsoft.com/office/drawing/2014/main" id="{1972CF97-C1E0-D5EE-D5C4-BE326E8C771A}"/>
              </a:ext>
            </a:extLst>
          </p:cNvPr>
          <p:cNvSpPr/>
          <p:nvPr/>
        </p:nvSpPr>
        <p:spPr>
          <a:xfrm flipH="1" flipV="1">
            <a:off x="1030679" y="4590288"/>
            <a:ext cx="4148" cy="274320"/>
          </a:xfrm>
          <a:prstGeom prst="line">
            <a:avLst/>
          </a:prstGeom>
          <a:noFill/>
          <a:ln w="15875">
            <a:solidFill>
              <a:srgbClr val="F0C24B"/>
            </a:solidFill>
            <a:prstDash val="solid"/>
            <a:tailEnd type="triangle"/>
          </a:ln>
        </p:spPr>
      </p:sp>
      <p:sp>
        <p:nvSpPr>
          <p:cNvPr id="42" name="Shape 24">
            <a:extLst>
              <a:ext uri="{FF2B5EF4-FFF2-40B4-BE49-F238E27FC236}">
                <a16:creationId xmlns:a16="http://schemas.microsoft.com/office/drawing/2014/main" id="{25E63F7A-DE6D-2DB9-6CE0-3F6F28E0B971}"/>
              </a:ext>
            </a:extLst>
          </p:cNvPr>
          <p:cNvSpPr/>
          <p:nvPr/>
        </p:nvSpPr>
        <p:spPr>
          <a:xfrm>
            <a:off x="1263422" y="4590289"/>
            <a:ext cx="4149" cy="246888"/>
          </a:xfrm>
          <a:prstGeom prst="line">
            <a:avLst/>
          </a:prstGeom>
          <a:noFill/>
          <a:ln w="15875">
            <a:solidFill>
              <a:srgbClr val="F0C24B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22960" y="713232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</a:t>
            </a:r>
            <a:r>
              <a:rPr kumimoji="0" lang="en-US" altLang="ko-KR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채팅으론 안 되고, </a:t>
            </a:r>
            <a:r>
              <a:rPr kumimoji="0" lang="ko-KR" alt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arxiv-mcp-server로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가능한 것 예시</a:t>
            </a:r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10545775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 검색은 그때그때 읽기만 가능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sz="1400" dirty="0" err="1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Arxiv</a:t>
            </a:r>
            <a:r>
              <a:rPr lang="en-US" altLang="ko-KR" sz="1400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</a:t>
            </a:r>
            <a:r>
              <a:rPr lang="en-US" altLang="ko-KR" sz="1400" dirty="0" err="1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</a:t>
            </a:r>
            <a:r>
              <a:rPr lang="en-US" altLang="ko-KR" sz="1400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-server</a:t>
            </a:r>
            <a:r>
              <a:rPr lang="ko-KR" altLang="en-US" sz="1400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이용하면 웹 검색이나 </a:t>
            </a:r>
            <a:r>
              <a:rPr lang="en-US" altLang="ko-KR" sz="1400" dirty="0" err="1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</a:t>
            </a:r>
            <a:r>
              <a:rPr lang="en-US" altLang="ko-KR" sz="1400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채팅으로 안되는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아래 기능들을 사용 가능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외에도 더 있음</a:t>
            </a:r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1683321"/>
              </p:ext>
            </p:extLst>
          </p:nvPr>
        </p:nvGraphicFramePr>
        <p:xfrm>
          <a:off x="822960" y="2510117"/>
          <a:ext cx="10938734" cy="3034550"/>
        </p:xfrm>
        <a:graphic>
          <a:graphicData uri="http://schemas.openxmlformats.org/drawingml/2006/table">
            <a:tbl>
              <a:tblPr/>
              <a:tblGrid>
                <a:gridCol w="21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193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193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69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20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</a:t>
                      </a: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1F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20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기본 채팅 · 웹 검색</a:t>
                      </a: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1F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200" b="1" dirty="0">
                          <a:solidFill>
                            <a:srgbClr val="FFD7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arxiv-mcp-server</a:t>
                      </a: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1F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69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40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인용 그래프 추적</a:t>
                      </a: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40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인용한·인용된 논문의 체계적 열거 불가</a:t>
                      </a: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40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citation_graph — 인용·참고 관계 양방향 추적</a:t>
                      </a: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69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40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논문 시맨틱 검색</a:t>
                      </a: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40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키워드가 정확히 일치해야만 검색됨</a:t>
                      </a: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40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semantic_search — 표현이 달라도 의미로 검색</a:t>
                      </a: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69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40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수식 원문 추출</a:t>
                      </a: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40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PDF 복사 시 수식·기호가 깨짐</a:t>
                      </a: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40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get_paper_latex_section — LaTeX 원문 그대로 추출</a:t>
                      </a: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69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40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BibTeX 서지 생성</a:t>
                      </a: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40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손으로 옮겨 적기 — 형식·오탈자 위험</a:t>
                      </a: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400" dirty="0">
                          <a:solidFill>
                            <a:srgbClr val="C6BFA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export_citations — 공식 메타데이터로 자동 생성</a:t>
                      </a: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4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Text 10"/>
          <p:cNvSpPr/>
          <p:nvPr/>
        </p:nvSpPr>
        <p:spPr>
          <a:xfrm>
            <a:off x="822960" y="638251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50" normalizeH="0" baseline="0" noProof="0" dirty="0">
                <a:ln>
                  <a:noFill/>
                </a:ln>
                <a:solidFill>
                  <a:srgbClr val="6B675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활용 대용량 연구데이터 전처리 · 5교시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22960" y="713232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준비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1371599"/>
            <a:ext cx="10545775" cy="20574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lvl="0" indent="-285750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400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실습할 때 </a:t>
            </a:r>
            <a:r>
              <a:rPr lang="en-US" altLang="ko-KR" sz="1400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desktop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이용하는 툴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pPr marL="742950" lvl="1" indent="-285750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400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코드·설정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작업은 Claude Desktop의 Code 탭(Claude Code)에 </a:t>
            </a:r>
            <a:r>
              <a:rPr lang="en-US" altLang="ko-KR" sz="1400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</a:t>
            </a:r>
            <a:endParaRPr lang="en-US" altLang="ko-KR" sz="1400" dirty="0">
              <a:solidFill>
                <a:schemeClr val="bg1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742950" lvl="1" indent="-285750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사용은 일반 채팅에서 진행</a:t>
            </a:r>
          </a:p>
          <a:p>
            <a:pPr marL="285750" lvl="0" indent="-285750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altLang="ko-KR" sz="1400" dirty="0">
              <a:solidFill>
                <a:schemeClr val="bg1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85750" lvl="0" indent="-285750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400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실행에 파이썬 패키지 관리자 uv </a:t>
            </a:r>
            <a:r>
              <a:rPr lang="en-US" altLang="ko-KR" sz="1400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pPr marL="742950" lvl="1" indent="-285750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이전 수업에서 인스톨했지만 </a:t>
            </a:r>
            <a:r>
              <a:rPr lang="en-US" altLang="ko-KR" sz="1400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code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</a:t>
            </a:r>
            <a:r>
              <a:rPr lang="en-US" altLang="ko-KR" sz="1400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아래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프롬프트로 확인. 이미 설치된 경우 버전 출력에서 종료</a:t>
            </a:r>
          </a:p>
        </p:txBody>
      </p:sp>
      <p:sp>
        <p:nvSpPr>
          <p:cNvPr id="6" name="Shape 4"/>
          <p:cNvSpPr/>
          <p:nvPr/>
        </p:nvSpPr>
        <p:spPr>
          <a:xfrm>
            <a:off x="822960" y="3873918"/>
            <a:ext cx="10545775" cy="1874520"/>
          </a:xfrm>
          <a:prstGeom prst="rect">
            <a:avLst/>
          </a:prstGeom>
          <a:solidFill>
            <a:srgbClr val="1211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873918"/>
            <a:ext cx="45720" cy="1874520"/>
          </a:xfrm>
          <a:prstGeom prst="rect">
            <a:avLst/>
          </a:prstGeom>
          <a:solidFill>
            <a:srgbClr val="FFD7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70432" y="4093374"/>
            <a:ext cx="992398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14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복사용 프롬프트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70432" y="4440846"/>
            <a:ext cx="9923983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uv가 설치되어 있는지 확인해줘. 설치되어 있으면 uv --version 결과만 보여줘.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없으면 공식 설치 방법으로 설치한 뒤 버전을 확인해줘.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후 uv tool run --help가 정상 동작하는지도 확인해줘.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22960" y="638251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50" normalizeH="0" baseline="0" noProof="0" dirty="0">
                <a:ln>
                  <a:noFill/>
                </a:ln>
                <a:solidFill>
                  <a:srgbClr val="6B675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활용 대용량 연구데이터 전처리 · 5교시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22960" y="713232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1. arxiv-mcp-server를 Claude Desktop에 등록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10545775" cy="416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marR="0" lvl="0" indent="-28575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Malgun Gothic" pitchFamily="34" charset="-120"/>
              </a:rPr>
              <a:t>Claude code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Malgun Gothic" pitchFamily="34" charset="-120"/>
              </a:rPr>
              <a:t>에서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Malgun Gothic" pitchFamily="34" charset="-120"/>
              </a:rPr>
              <a:t>MCP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Malgun Gothic" pitchFamily="34" charset="-120"/>
              </a:rPr>
              <a:t>서버를 내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Malgun Gothic" pitchFamily="34" charset="-120"/>
              </a:rPr>
              <a:t>claude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Malgun Gothic" pitchFamily="34" charset="-120"/>
              </a:rPr>
              <a:t> desktop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Malgun Gothic" pitchFamily="34" charset="-120"/>
              </a:rPr>
              <a:t>설정 파일에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Malgun Gothic" pitchFamily="34" charset="-120"/>
              </a:rPr>
              <a:t>등록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Malgun Gothic" pitchFamily="34" charset="-120"/>
              </a:rPr>
              <a:t>하도록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Malgun Gothic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Malgun Gothic" pitchFamily="34" charset="-120"/>
              </a:rPr>
              <a:t>지시</a:t>
            </a:r>
            <a:endParaRPr lang="en-US" sz="1400" dirty="0">
              <a:solidFill>
                <a:schemeClr val="bg1"/>
              </a:solidFill>
              <a:latin typeface="+mn-ea"/>
              <a:cs typeface="Malgun Gothic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22960" y="1768020"/>
            <a:ext cx="10545775" cy="4704498"/>
          </a:xfrm>
          <a:prstGeom prst="rect">
            <a:avLst/>
          </a:prstGeom>
          <a:solidFill>
            <a:srgbClr val="1211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704818"/>
            <a:ext cx="45719" cy="4767699"/>
          </a:xfrm>
          <a:prstGeom prst="rect">
            <a:avLst/>
          </a:prstGeom>
          <a:solidFill>
            <a:srgbClr val="FFD7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34008" y="1922661"/>
            <a:ext cx="992398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14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복사용 프롬프트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34008" y="2270133"/>
            <a:ext cx="9923983" cy="2951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>
              <a:lnSpc>
                <a:spcPct val="150000"/>
              </a:lnSpc>
              <a:defRPr/>
            </a:pP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Desktop</a:t>
            </a:r>
            <a:r>
              <a:rPr lang="ko-KR" alt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</a:t>
            </a: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</a:t>
            </a:r>
            <a:r>
              <a:rPr lang="ko-KR" alt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 파일</a:t>
            </a: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en-US" altLang="ko-KR" sz="11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claude_desktop_config.json</a:t>
            </a: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r>
              <a:rPr lang="ko-KR" alt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</a:t>
            </a:r>
            <a:r>
              <a:rPr lang="en-US" altLang="ko-KR" sz="11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arxiv</a:t>
            </a: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</a:t>
            </a:r>
            <a:r>
              <a:rPr lang="en-US" altLang="ko-KR" sz="11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</a:t>
            </a: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-server</a:t>
            </a:r>
            <a:r>
              <a:rPr lang="ko-KR" alt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등록해줘</a:t>
            </a: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  <a:p>
            <a:pPr lvl="0" latinLnBrk="0">
              <a:lnSpc>
                <a:spcPct val="150000"/>
              </a:lnSpc>
              <a:defRPr/>
            </a:pP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[1</a:t>
            </a:r>
            <a:r>
              <a:rPr lang="ko-KR" alt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</a:t>
            </a: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ko-KR" alt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점검 </a:t>
            </a: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ko-KR" alt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 파일을 건드리기 전에 반드시 먼저 할 것</a:t>
            </a: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]</a:t>
            </a:r>
          </a:p>
          <a:p>
            <a:pPr lvl="0" latinLnBrk="0">
              <a:lnSpc>
                <a:spcPct val="150000"/>
              </a:lnSpc>
              <a:defRPr/>
            </a:pP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`</a:t>
            </a:r>
            <a:r>
              <a:rPr lang="en-US" altLang="ko-KR" sz="11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uv</a:t>
            </a: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--version`</a:t>
            </a:r>
            <a:r>
              <a:rPr lang="ko-KR" alt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</a:t>
            </a:r>
            <a:r>
              <a:rPr lang="en-US" altLang="ko-KR" sz="11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uv</a:t>
            </a:r>
            <a:r>
              <a:rPr lang="ko-KR" alt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설치되어 있고 </a:t>
            </a: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PATH</a:t>
            </a:r>
            <a:r>
              <a:rPr lang="ko-KR" alt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실행되는지 확인해</a:t>
            </a: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`</a:t>
            </a:r>
            <a:r>
              <a:rPr lang="en-US" altLang="ko-KR" sz="11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uv</a:t>
            </a: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tool run </a:t>
            </a:r>
            <a:r>
              <a:rPr lang="en-US" altLang="ko-KR" sz="11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arxiv</a:t>
            </a: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</a:t>
            </a:r>
            <a:r>
              <a:rPr lang="en-US" altLang="ko-KR" sz="11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</a:t>
            </a: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-server --help`</a:t>
            </a:r>
            <a:r>
              <a:rPr lang="ko-KR" alt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실제로 실행해서 서버가 정상 </a:t>
            </a:r>
            <a:r>
              <a:rPr lang="ko-KR" altLang="en-US" sz="11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기동되는지</a:t>
            </a:r>
            <a:r>
              <a:rPr lang="ko-KR" alt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확인해</a:t>
            </a: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lang="ko-KR" alt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실패하면 에러 메시지 원문을 그대로 보여주고</a:t>
            </a: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원인을 진단해서 해결한 뒤에 다음 단계로 넘어가</a:t>
            </a: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</a:p>
          <a:p>
            <a:pPr lvl="0" latinLnBrk="0">
              <a:lnSpc>
                <a:spcPct val="150000"/>
              </a:lnSpc>
              <a:defRPr/>
            </a:pP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[2</a:t>
            </a:r>
            <a:r>
              <a:rPr lang="ko-KR" alt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</a:t>
            </a: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ko-KR" alt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 파일 편집 </a:t>
            </a: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r>
              <a:rPr lang="ko-KR" alt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편집 전에 원본을 </a:t>
            </a:r>
            <a:r>
              <a:rPr lang="en-US" altLang="ko-KR" sz="11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claude_desktop_config.json.bak</a:t>
            </a: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백업</a:t>
            </a: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]</a:t>
            </a:r>
          </a:p>
          <a:p>
            <a:pPr lvl="0" latinLnBrk="0">
              <a:lnSpc>
                <a:spcPct val="150000"/>
              </a:lnSpc>
              <a:defRPr/>
            </a:pP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r>
              <a:rPr lang="en-US" altLang="ko-KR" sz="11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mcpServers</a:t>
            </a:r>
            <a:r>
              <a:rPr lang="ko-KR" alt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아래 조건으로 추가해</a:t>
            </a: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</a:t>
            </a:r>
          </a:p>
          <a:p>
            <a:pPr lvl="0" latinLnBrk="0">
              <a:lnSpc>
                <a:spcPct val="150000"/>
              </a:lnSpc>
              <a:defRPr/>
            </a:pP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* </a:t>
            </a:r>
            <a:r>
              <a:rPr lang="ko-KR" alt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명령</a:t>
            </a: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en-US" altLang="ko-KR" sz="11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uv</a:t>
            </a: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tool run </a:t>
            </a:r>
            <a:r>
              <a:rPr lang="en-US" altLang="ko-KR" sz="11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arxiv</a:t>
            </a: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</a:t>
            </a:r>
            <a:r>
              <a:rPr lang="en-US" altLang="ko-KR" sz="11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</a:t>
            </a: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-server</a:t>
            </a:r>
          </a:p>
          <a:p>
            <a:pPr lvl="0" latinLnBrk="0">
              <a:lnSpc>
                <a:spcPct val="150000"/>
              </a:lnSpc>
              <a:defRPr/>
            </a:pP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* </a:t>
            </a:r>
            <a:r>
              <a:rPr lang="ko-KR" alt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옵션 </a:t>
            </a: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--storage-path: </a:t>
            </a:r>
            <a:r>
              <a:rPr lang="ko-KR" alt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작업 폴더 아래 </a:t>
            </a: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papers </a:t>
            </a:r>
            <a:r>
              <a:rPr lang="ko-KR" alt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폴더의 절대경로 </a:t>
            </a: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폴더가 없으면 생성</a:t>
            </a: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</a:p>
          <a:p>
            <a:pPr lvl="0" latinLnBrk="0">
              <a:lnSpc>
                <a:spcPct val="150000"/>
              </a:lnSpc>
              <a:defRPr/>
            </a:pP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* </a:t>
            </a:r>
            <a:r>
              <a:rPr lang="ko-KR" alt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기존에 등록된 다른 서버 설정은 그대로 유지</a:t>
            </a:r>
          </a:p>
          <a:p>
            <a:pPr lvl="0" latinLnBrk="0">
              <a:lnSpc>
                <a:spcPct val="150000"/>
              </a:lnSpc>
              <a:defRPr/>
            </a:pP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[3</a:t>
            </a:r>
            <a:r>
              <a:rPr lang="ko-KR" alt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</a:t>
            </a: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ko-KR" alt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]</a:t>
            </a:r>
          </a:p>
          <a:p>
            <a:pPr lvl="0" latinLnBrk="0">
              <a:lnSpc>
                <a:spcPct val="150000"/>
              </a:lnSpc>
              <a:defRPr/>
            </a:pP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r>
              <a:rPr lang="ko-KR" alt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수정된 설정 파일 전체를 출력하고 설정 파일 위치를 알려줘</a:t>
            </a: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  <a:p>
            <a:pPr lvl="0" latinLnBrk="0">
              <a:lnSpc>
                <a:spcPct val="150000"/>
              </a:lnSpc>
              <a:defRPr/>
            </a:pP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JSON </a:t>
            </a:r>
            <a:r>
              <a:rPr lang="ko-KR" alt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문법 오류가 없는지 </a:t>
            </a:r>
            <a:r>
              <a:rPr lang="ko-KR" altLang="en-US" sz="11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파서로</a:t>
            </a:r>
            <a:r>
              <a:rPr lang="ko-KR" alt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검증해줘</a:t>
            </a: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lang="ko-KR" alt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경로에 한글이 있으면 </a:t>
            </a: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UTF-8</a:t>
            </a:r>
            <a:r>
              <a:rPr lang="ko-KR" alt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읽어서 검증할 것</a:t>
            </a: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  <a:p>
            <a:pPr lvl="0" latinLnBrk="0">
              <a:lnSpc>
                <a:spcPct val="150000"/>
              </a:lnSpc>
              <a:defRPr/>
            </a:pP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r>
              <a:rPr lang="ko-KR" alt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후 파일을 다시 읽어서 </a:t>
            </a:r>
            <a:r>
              <a:rPr lang="en-US" altLang="ko-KR" sz="11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mcpServers</a:t>
            </a: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항목이 그대로 남아있는지 재확인해줘</a:t>
            </a: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  <a:p>
            <a:pPr lvl="0" latinLnBrk="0">
              <a:lnSpc>
                <a:spcPct val="150000"/>
              </a:lnSpc>
              <a:defRPr/>
            </a:pP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[4</a:t>
            </a:r>
            <a:r>
              <a:rPr lang="ko-KR" alt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</a:t>
            </a: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ko-KR" alt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마무리 안내</a:t>
            </a: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]</a:t>
            </a:r>
          </a:p>
          <a:p>
            <a:pPr lvl="0" latinLnBrk="0">
              <a:lnSpc>
                <a:spcPct val="150000"/>
              </a:lnSpc>
              <a:defRPr/>
            </a:pP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Claude Desktop </a:t>
            </a:r>
            <a:r>
              <a:rPr lang="ko-KR" alt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재시작 방법을 알려줘</a:t>
            </a: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  <a:p>
            <a:pPr lvl="0" latinLnBrk="0">
              <a:lnSpc>
                <a:spcPct val="150000"/>
              </a:lnSpc>
              <a:defRPr/>
            </a:pP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r>
              <a:rPr lang="ko-KR" alt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재시작 후에도 </a:t>
            </a: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"Server disconnected"</a:t>
            </a:r>
            <a:r>
              <a:rPr lang="ko-KR" alt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뜨면 어떤 로그를 어디서 확인하면 되는지 알려줘</a:t>
            </a: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22960" y="713232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클로드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재시작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후 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 인스톨 확인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22960" y="1911649"/>
            <a:ext cx="10983558" cy="2749998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131105"/>
            <a:ext cx="4596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14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포인트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97280" y="2460288"/>
            <a:ext cx="10321768" cy="20654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6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Server </a:t>
            </a:r>
            <a:r>
              <a:rPr lang="ko-KR" altLang="en-US" sz="16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에러 발생하면 </a:t>
            </a:r>
            <a:r>
              <a:rPr lang="en-US" altLang="ko-KR" sz="16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</a:t>
            </a:r>
            <a:r>
              <a:rPr lang="en-US" altLang="ko-KR" sz="16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</a:t>
            </a:r>
            <a:r>
              <a:rPr lang="en-US" altLang="ko-KR" sz="16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-cleaner MCP</a:t>
            </a:r>
            <a:r>
              <a:rPr lang="ko-KR" altLang="en-US" sz="16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등록 과정에서 에러가 발생해</a:t>
            </a:r>
            <a:r>
              <a:rPr lang="en-US" altLang="ko-KR" sz="16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lang="ko-KR" altLang="en-US" sz="16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해결해줘</a:t>
            </a:r>
            <a:r>
              <a:rPr lang="en-US" altLang="ko-KR" sz="16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＇</a:t>
            </a:r>
            <a:r>
              <a:rPr lang="ko-KR" altLang="en-US" sz="16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</a:t>
            </a:r>
            <a:endParaRPr lang="en-US" altLang="ko-KR" sz="1600" dirty="0">
              <a:solidFill>
                <a:srgbClr val="ECE7DC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ECE7DC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채팅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입력창의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+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버튼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-&gt;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커넥터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목록에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arxiv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-server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표시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되어야 하고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토글이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파란색으로 활성화 되어 있어야 함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lvl="0" indent="-285750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6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</a:rPr>
              <a:t>사용가능한 툴 목록은 </a:t>
            </a:r>
            <a:r>
              <a:rPr lang="en-US" altLang="ko-KR" sz="16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</a:rPr>
              <a:t>＇</a:t>
            </a:r>
            <a:r>
              <a:rPr lang="ko-KR" altLang="en-US" sz="16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</a:rPr>
              <a:t>사용자 지정 </a:t>
            </a:r>
            <a:r>
              <a:rPr lang="en-US" altLang="ko-KR" sz="16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</a:rPr>
              <a:t>-&gt; </a:t>
            </a:r>
            <a:r>
              <a:rPr lang="ko-KR" altLang="en-US" sz="16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</a:rPr>
              <a:t>커넥터 </a:t>
            </a:r>
            <a:r>
              <a:rPr lang="en-US" altLang="ko-KR" sz="16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</a:rPr>
              <a:t>-&gt; </a:t>
            </a:r>
            <a:r>
              <a:rPr lang="en-US" altLang="ko-KR" sz="16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arxiv</a:t>
            </a:r>
            <a:r>
              <a:rPr lang="en-US" altLang="ko-KR" sz="16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</a:t>
            </a:r>
            <a:r>
              <a:rPr lang="en-US" altLang="ko-KR" sz="16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</a:t>
            </a:r>
            <a:r>
              <a:rPr lang="en-US" altLang="ko-KR" sz="16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-server’ </a:t>
            </a:r>
            <a:r>
              <a:rPr lang="ko-KR" altLang="en-US" sz="16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확인 가능</a:t>
            </a:r>
            <a:endParaRPr lang="en-US" altLang="ko-KR" sz="1600" dirty="0">
              <a:solidFill>
                <a:srgbClr val="ECE7DC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85750" lvl="0" indent="-285750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ECE7DC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</a:endParaRPr>
          </a:p>
          <a:p>
            <a:pPr marL="285750" lvl="0" indent="-285750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22960" y="638251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50" normalizeH="0" baseline="0" noProof="0" dirty="0">
                <a:ln>
                  <a:noFill/>
                </a:ln>
                <a:solidFill>
                  <a:srgbClr val="6B675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활용 대용량 연구데이터 전처리 · 5교시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2">
            <a:extLst>
              <a:ext uri="{FF2B5EF4-FFF2-40B4-BE49-F238E27FC236}">
                <a16:creationId xmlns:a16="http://schemas.microsoft.com/office/drawing/2014/main" id="{E18C0CFB-5938-76E3-434B-D7A527F8AC2D}"/>
              </a:ext>
            </a:extLst>
          </p:cNvPr>
          <p:cNvSpPr/>
          <p:nvPr/>
        </p:nvSpPr>
        <p:spPr>
          <a:xfrm>
            <a:off x="822960" y="1581912"/>
            <a:ext cx="999713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marR="0" lvl="0" indent="-28575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 반영에는 완전 종료 후 재실행 필요. 이후에는 Desktop이 켜질 때마다 서버 자동 실행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22960" y="713232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2. 채팅으로 </a:t>
            </a:r>
            <a:r>
              <a:rPr kumimoji="0" 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marR="0" lvl="0" indent="-28575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입력은 Claude Code가 아니라 Desktop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채팅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cowork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아니라 채팅으로 선택되어야 함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85750" marR="0" lvl="0" indent="-28575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요청문에 툴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언급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불필요. 모델이 툴 설명을 읽고 search_papers를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스스로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742950" lvl="1" indent="-285750" latinLnBrk="0">
              <a:lnSpc>
                <a:spcPts val="21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우리는 자연어로 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‘2026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년 이후 발표된 논문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 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이라고 요청했는데 호출 명령어 </a:t>
            </a:r>
            <a:r>
              <a:rPr lang="en-US" sz="1400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date_from</a:t>
            </a:r>
            <a:r>
              <a:rPr 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란에 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‘2026-01-01’</a:t>
            </a:r>
            <a:r>
              <a:rPr lang="ko-KR" altLang="en-US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이라고 변환됨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22960" y="2194560"/>
            <a:ext cx="10545775" cy="3593592"/>
          </a:xfrm>
          <a:prstGeom prst="rect">
            <a:avLst/>
          </a:prstGeom>
          <a:solidFill>
            <a:srgbClr val="1211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194560"/>
            <a:ext cx="45719" cy="3593592"/>
          </a:xfrm>
          <a:prstGeom prst="rect">
            <a:avLst/>
          </a:prstGeom>
          <a:solidFill>
            <a:srgbClr val="FFD7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70432" y="2414016"/>
            <a:ext cx="992398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14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복사용 프롬프트 (Desktop 일반 채팅)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70432" y="2761488"/>
            <a:ext cx="9923983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arXiv에서 2026년 이후 발표된 DuckDB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관련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5편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검색해줘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각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논문의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제목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저자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발표일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내용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한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줄을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표로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그중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대용량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전처리와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관련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깊은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하나를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추천해줘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22960" y="638251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50" normalizeH="0" baseline="0" noProof="0" dirty="0">
                <a:ln>
                  <a:noFill/>
                </a:ln>
                <a:solidFill>
                  <a:srgbClr val="6B675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활용 대용량 연구데이터 전처리 · 5교시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EACDB2DD-DB2C-24C1-88BF-710CA0FC57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2675" y="3581963"/>
            <a:ext cx="6470690" cy="211941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22960" y="713232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3. </a:t>
            </a:r>
            <a:r>
              <a:rPr kumimoji="0" 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다운로드와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한번에 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툴 </a:t>
            </a:r>
            <a:r>
              <a:rPr kumimoji="0" 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연쇄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1371599"/>
            <a:ext cx="10545775" cy="1656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lvl="0" indent="-285750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하나에 툴 여러 개가 이어서 호출되는 것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</a:t>
            </a:r>
            <a:r>
              <a:rPr lang="en-US" altLang="ko-KR" sz="1400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download_paper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</a:t>
            </a:r>
            <a:r>
              <a:rPr lang="en-US" altLang="ko-KR" sz="1400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read_paper</a:t>
            </a:r>
            <a:r>
              <a:rPr lang="en-US" altLang="ko-KR" sz="14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</a:t>
            </a:r>
            <a:r>
              <a:rPr lang="en-US" altLang="ko-KR" sz="1400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list_papers</a:t>
            </a:r>
            <a:endParaRPr lang="en-US" altLang="ko-KR" sz="1400" dirty="0">
              <a:solidFill>
                <a:schemeClr val="bg1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 툴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이용한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paper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ID가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뒤 툴의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입력으로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되며 일관된 논문 사용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툴을 어떤 순서로 쓸지는 요청문에 없음. 조합 계획은 전부 모델 수행</a:t>
            </a:r>
            <a:endParaRPr lang="en-US" altLang="ko-KR" sz="1400" dirty="0">
              <a:solidFill>
                <a:schemeClr val="bg1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68680" y="3028277"/>
            <a:ext cx="10545775" cy="3273911"/>
          </a:xfrm>
          <a:prstGeom prst="rect">
            <a:avLst/>
          </a:prstGeom>
          <a:solidFill>
            <a:srgbClr val="1211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028277"/>
            <a:ext cx="45720" cy="3273911"/>
          </a:xfrm>
          <a:prstGeom prst="rect">
            <a:avLst/>
          </a:prstGeom>
          <a:solidFill>
            <a:srgbClr val="FFD7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70432" y="3247733"/>
            <a:ext cx="992398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14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복사용 프롬프트 (Desktop 일반 채팅)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70432" y="3595205"/>
            <a:ext cx="9923983" cy="23568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방금 추천한 논문을 다운로드해서 전체 내용을 읽고, 아래 형식으로 정리해줘.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연구 목적 / 방법 / 핵심 결과 / 한계 — 각 2줄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이내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정리가 끝나면 지금까지 다운로드된 논문 목록도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보여줘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22960" y="638251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50" normalizeH="0" baseline="0" noProof="0" dirty="0">
                <a:ln>
                  <a:noFill/>
                </a:ln>
                <a:solidFill>
                  <a:srgbClr val="6B675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활용 대용량 연구데이터 전처리 · 5교시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22960" y="713232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4. 인용 그래프 추적 — 후속 연구 흐름 읽기</a:t>
            </a:r>
          </a:p>
        </p:txBody>
      </p:sp>
      <p:sp>
        <p:nvSpPr>
          <p:cNvPr id="5" name="Text 3"/>
          <p:cNvSpPr/>
          <p:nvPr/>
        </p:nvSpPr>
        <p:spPr>
          <a:xfrm>
            <a:off x="822960" y="1371599"/>
            <a:ext cx="10545775" cy="1656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 검색으로는 안 되던 것 — 이 논문을 인용한 논문 목록의 체계적 확보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포인트: </a:t>
            </a:r>
            <a:r>
              <a:rPr kumimoji="0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citation_graph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호출 — 웹 검색이 아니라 인용 데이터베이스 조회로 진행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Semantic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Scholar 인용 데이터 연동 — 인용한 논문과 참고한 논문을 양방향 추적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 실습에서 받은 논문 ID가 그대로 다음 툴의 입력으로 재사용</a:t>
            </a:r>
          </a:p>
        </p:txBody>
      </p:sp>
      <p:sp>
        <p:nvSpPr>
          <p:cNvPr id="6" name="Shape 4"/>
          <p:cNvSpPr/>
          <p:nvPr/>
        </p:nvSpPr>
        <p:spPr>
          <a:xfrm>
            <a:off x="868680" y="3028277"/>
            <a:ext cx="10545775" cy="3273911"/>
          </a:xfrm>
          <a:prstGeom prst="rect">
            <a:avLst/>
          </a:prstGeom>
          <a:solidFill>
            <a:srgbClr val="1211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028277"/>
            <a:ext cx="45720" cy="3273911"/>
          </a:xfrm>
          <a:prstGeom prst="rect">
            <a:avLst/>
          </a:prstGeom>
          <a:solidFill>
            <a:srgbClr val="FFD7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70432" y="3247733"/>
            <a:ext cx="992398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14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복사용 프롬프트 (Desktop 일반 채팅)</a:t>
            </a:r>
          </a:p>
        </p:txBody>
      </p:sp>
      <p:sp>
        <p:nvSpPr>
          <p:cNvPr id="9" name="Text 7"/>
          <p:cNvSpPr/>
          <p:nvPr/>
        </p:nvSpPr>
        <p:spPr>
          <a:xfrm>
            <a:off x="1170432" y="3595205"/>
            <a:ext cx="9923983" cy="23568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방금 다운로드한 논문의 인용 그래프를 조사해줘.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이 논문을 인용한 논문 5편 — 제목·발표일·한 줄 요약을 표로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없으면 없다고 해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이 논문이 참고한 논문 중 핵심 논문 3편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22960" y="638251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50" normalizeH="0" baseline="0" noProof="0" dirty="0">
                <a:ln>
                  <a:noFill/>
                </a:ln>
                <a:solidFill>
                  <a:srgbClr val="6B675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활용 대용량 연구데이터 전처리 · 5교시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C1A571-CA4B-AC0D-71CF-F9AB45B7B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C2084724-CFDD-7FAD-A1B1-1C81B0C6A9F6}"/>
              </a:ext>
            </a:extLst>
          </p:cNvPr>
          <p:cNvSpPr/>
          <p:nvPr/>
        </p:nvSpPr>
        <p:spPr>
          <a:xfrm>
            <a:off x="822960" y="713232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</a:t>
            </a:r>
            <a:r>
              <a:rPr lang="en-US" altLang="ko-KR" sz="25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인용 그래프 추적 — 피인용 높은 논문 찾기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351A6C1-2F0C-D2DA-AC36-5F3E2C74539C}"/>
              </a:ext>
            </a:extLst>
          </p:cNvPr>
          <p:cNvSpPr/>
          <p:nvPr/>
        </p:nvSpPr>
        <p:spPr>
          <a:xfrm>
            <a:off x="822960" y="1371599"/>
            <a:ext cx="10545775" cy="1656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sz="1400" dirty="0" err="1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arXiv</a:t>
            </a:r>
            <a:r>
              <a:rPr lang="ko-KR" altLang="en-US" sz="1400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별도 인용도를 측정하지 않기 때문에 </a:t>
            </a:r>
            <a:r>
              <a:rPr lang="en-US" altLang="ko-KR" sz="1400" dirty="0" err="1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arXiv</a:t>
            </a:r>
            <a:r>
              <a:rPr lang="en-US" altLang="ko-KR" sz="1400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웹검색으로는 원하는 결과를 피인용 순으로 검색 못함</a:t>
            </a:r>
            <a:endParaRPr lang="en-US" altLang="ko-KR" sz="1400" dirty="0">
              <a:solidFill>
                <a:prstClr val="white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arXiv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-server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이용하면 가능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400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그런데 엄청나게 느리니 아래 실습도 별도 채팅창에 실행한 뒤에 나중에 결과 확인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F1E2E4BE-96CB-BA4A-9761-4D54B193CF68}"/>
              </a:ext>
            </a:extLst>
          </p:cNvPr>
          <p:cNvSpPr/>
          <p:nvPr/>
        </p:nvSpPr>
        <p:spPr>
          <a:xfrm>
            <a:off x="868680" y="3028277"/>
            <a:ext cx="10545775" cy="3273911"/>
          </a:xfrm>
          <a:prstGeom prst="rect">
            <a:avLst/>
          </a:prstGeom>
          <a:solidFill>
            <a:srgbClr val="1211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3D47EB50-725F-52BC-8BA5-176E0EC6A94D}"/>
              </a:ext>
            </a:extLst>
          </p:cNvPr>
          <p:cNvSpPr/>
          <p:nvPr/>
        </p:nvSpPr>
        <p:spPr>
          <a:xfrm>
            <a:off x="822960" y="3028277"/>
            <a:ext cx="45720" cy="3273911"/>
          </a:xfrm>
          <a:prstGeom prst="rect">
            <a:avLst/>
          </a:prstGeom>
          <a:solidFill>
            <a:srgbClr val="FFD7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6AF896B-BA3C-6D6E-05F7-82370602F751}"/>
              </a:ext>
            </a:extLst>
          </p:cNvPr>
          <p:cNvSpPr/>
          <p:nvPr/>
        </p:nvSpPr>
        <p:spPr>
          <a:xfrm>
            <a:off x="1170432" y="3247733"/>
            <a:ext cx="992398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14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복사용 프롬프트 (Desktop 일반 채팅)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19EE1CD-35AD-E9A9-C485-8A9921627C0A}"/>
              </a:ext>
            </a:extLst>
          </p:cNvPr>
          <p:cNvSpPr/>
          <p:nvPr/>
        </p:nvSpPr>
        <p:spPr>
          <a:xfrm>
            <a:off x="1170432" y="3595205"/>
            <a:ext cx="9923983" cy="23568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arXiv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년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이후 발표된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DuckDB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관련 논문 중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citation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높은 논문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 알려줘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076B6176-745C-0B03-2E3C-3EA049EFAED3}"/>
              </a:ext>
            </a:extLst>
          </p:cNvPr>
          <p:cNvSpPr/>
          <p:nvPr/>
        </p:nvSpPr>
        <p:spPr>
          <a:xfrm>
            <a:off x="822960" y="638251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50" normalizeH="0" baseline="0" noProof="0" dirty="0">
                <a:ln>
                  <a:noFill/>
                </a:ln>
                <a:solidFill>
                  <a:srgbClr val="6B675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활용 대용량 연구데이터 전처리 · 5교시</a:t>
            </a:r>
          </a:p>
        </p:txBody>
      </p:sp>
    </p:spTree>
    <p:extLst>
      <p:ext uri="{BB962C8B-B14F-4D97-AF65-F5344CB8AC3E}">
        <p14:creationId xmlns:p14="http://schemas.microsoft.com/office/powerpoint/2010/main" val="8087791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22960" y="713232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</a:t>
            </a:r>
            <a:r>
              <a:rPr kumimoji="0" lang="en-US" altLang="ko-KR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시맨틱 검색 — 받아 둔 논문에서 의미로 찾기</a:t>
            </a:r>
          </a:p>
        </p:txBody>
      </p:sp>
      <p:sp>
        <p:nvSpPr>
          <p:cNvPr id="5" name="Text 3"/>
          <p:cNvSpPr/>
          <p:nvPr/>
        </p:nvSpPr>
        <p:spPr>
          <a:xfrm>
            <a:off x="822960" y="1371599"/>
            <a:ext cx="10545775" cy="1656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키워드 검색과의 차이 — 표현이 달라도 의미가 비슷하면 찾아냄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742950" lvl="1" indent="-285750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포인트: </a:t>
            </a:r>
            <a:r>
              <a:rPr lang="ko-KR" altLang="en-US" sz="1400" dirty="0" err="1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semantic_search</a:t>
            </a:r>
            <a:r>
              <a:rPr lang="ko-KR" altLang="en-US" sz="1400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호출, 검색어와 다른 표현의 문장이 결과에 포함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 시간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3~4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 정도 소요</a:t>
            </a:r>
          </a:p>
        </p:txBody>
      </p:sp>
      <p:sp>
        <p:nvSpPr>
          <p:cNvPr id="6" name="Shape 4"/>
          <p:cNvSpPr/>
          <p:nvPr/>
        </p:nvSpPr>
        <p:spPr>
          <a:xfrm>
            <a:off x="868680" y="3028277"/>
            <a:ext cx="10545775" cy="3273911"/>
          </a:xfrm>
          <a:prstGeom prst="rect">
            <a:avLst/>
          </a:prstGeom>
          <a:solidFill>
            <a:srgbClr val="1211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028277"/>
            <a:ext cx="45720" cy="3273911"/>
          </a:xfrm>
          <a:prstGeom prst="rect">
            <a:avLst/>
          </a:prstGeom>
          <a:solidFill>
            <a:srgbClr val="FFD7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70432" y="3247733"/>
            <a:ext cx="992398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14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복사용 프롬프트 (Desktop 일반 채팅)</a:t>
            </a:r>
          </a:p>
        </p:txBody>
      </p:sp>
      <p:sp>
        <p:nvSpPr>
          <p:cNvPr id="9" name="Text 7"/>
          <p:cNvSpPr/>
          <p:nvPr/>
        </p:nvSpPr>
        <p:spPr>
          <a:xfrm>
            <a:off x="1170432" y="3595205"/>
            <a:ext cx="9923983" cy="23568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latinLnBrk="0"/>
            <a:r>
              <a:rPr lang="ko-KR" altLang="en-US" sz="1400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방금 다운로드한 논문에서</a:t>
            </a:r>
            <a:r>
              <a:rPr lang="en-US" altLang="ko-KR" sz="1400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아래</a:t>
            </a:r>
            <a:r>
              <a:rPr lang="en-US" altLang="ko-KR" sz="1400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내용이 있는지 찾아줘</a:t>
            </a:r>
            <a:endParaRPr lang="en-US" altLang="ko-KR" sz="1400" dirty="0">
              <a:solidFill>
                <a:prstClr val="white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lvl="0" latinLnBrk="0"/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'메모리 사용량을 줄이는 기법</a:t>
            </a:r>
            <a:r>
              <a:rPr lang="en-US" altLang="ko-KR" sz="1400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’</a:t>
            </a:r>
            <a:r>
              <a:rPr lang="ko-KR" altLang="en-US" sz="1400" dirty="0">
                <a:solidFill>
                  <a:prstClr val="whit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의미가 비슷한 대목을 찾아 어디에 위치해 </a:t>
            </a:r>
            <a:r>
              <a:rPr kumimoji="0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있는지와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내용을 함께 정리해줘.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키워드가 정확히 일치하지 않아도 의미가 통하면 포함해줘.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22960" y="638251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50" normalizeH="0" baseline="0" noProof="0" dirty="0">
                <a:ln>
                  <a:noFill/>
                </a:ln>
                <a:solidFill>
                  <a:srgbClr val="6B675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활용 대용량 연구데이터 전처리 · 5교시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22960" y="713232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주의점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10545775" cy="2949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 본문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외부에서 온 검증 안 된 텍스트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srgbClr val="FFD733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FFD733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악성 문서가 모델을 조종하는 지시문을 본문에 심을 수 있음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742950" lvl="1" indent="-285750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600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Arxiv</a:t>
            </a:r>
            <a:r>
              <a:rPr lang="en-US" altLang="ko-KR" sz="16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</a:t>
            </a:r>
            <a:r>
              <a:rPr lang="en-US" altLang="ko-KR" sz="16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공식 문서도 명시하는 위험</a:t>
            </a:r>
            <a:endParaRPr lang="en-US" altLang="ko-KR" sz="1600" dirty="0">
              <a:solidFill>
                <a:schemeClr val="bg1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742950" lvl="1" indent="-285750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채팅창에서 갑자기 명령 실행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접속을 권한 요청하고 실행하려고 하면 중단 후 원문 확인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85750" lvl="0" indent="-285750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altLang="ko-KR" sz="1600" dirty="0">
              <a:solidFill>
                <a:schemeClr val="bg1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85750" lvl="0" indent="-285750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6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삭제 등 위험한</a:t>
            </a:r>
            <a:r>
              <a:rPr lang="en-US" altLang="ko-KR" sz="16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6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권한을 가지고 있는 실행 세션에서 </a:t>
            </a:r>
            <a:r>
              <a:rPr lang="en-US" altLang="ko-KR" sz="1600" dirty="0" err="1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</a:t>
            </a:r>
            <a:r>
              <a:rPr lang="en-US" altLang="ko-KR" sz="160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60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실행하지 않기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22960" y="638251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50" normalizeH="0" baseline="0" noProof="0" dirty="0">
                <a:ln>
                  <a:noFill/>
                </a:ln>
                <a:solidFill>
                  <a:srgbClr val="6B675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활용 대용량 연구데이터 전처리 · 5교시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454</TotalTime>
  <Words>2016</Words>
  <Application>Microsoft Office PowerPoint</Application>
  <PresentationFormat>와이드스크린</PresentationFormat>
  <Paragraphs>255</Paragraphs>
  <Slides>20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5" baseType="lpstr">
      <vt:lpstr>맑은 고딕</vt:lpstr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think</dc:creator>
  <cp:lastModifiedBy>think</cp:lastModifiedBy>
  <cp:revision>1</cp:revision>
  <dcterms:created xsi:type="dcterms:W3CDTF">2026-08-22T12:08:07Z</dcterms:created>
  <dcterms:modified xsi:type="dcterms:W3CDTF">2026-08-23T09:41:05Z</dcterms:modified>
</cp:coreProperties>
</file>