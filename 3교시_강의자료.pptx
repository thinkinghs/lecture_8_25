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60" r:id="rId4"/>
    <p:sldId id="261" r:id="rId5"/>
    <p:sldId id="262" r:id="rId6"/>
    <p:sldId id="263" r:id="rId7"/>
    <p:sldId id="264" r:id="rId8"/>
    <p:sldId id="265" r:id="rId9"/>
    <p:sldId id="297" r:id="rId10"/>
    <p:sldId id="298" r:id="rId11"/>
    <p:sldId id="299" r:id="rId12"/>
    <p:sldId id="310" r:id="rId13"/>
    <p:sldId id="300" r:id="rId14"/>
    <p:sldId id="301" r:id="rId15"/>
    <p:sldId id="306" r:id="rId16"/>
    <p:sldId id="307" r:id="rId17"/>
    <p:sldId id="309" r:id="rId18"/>
    <p:sldId id="304" r:id="rId19"/>
    <p:sldId id="305" r:id="rId20"/>
    <p:sldId id="258"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7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94188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쉬는 시간 중 데이터 파일 복사 완료 여부 확인. 시작과 동시에 다음 장으로.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20초만. 실습이 오늘의 몸통이라는 한마디 후 통과.</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본인 분야의 큰 데이터 사례를 떠올리게 하며 진입.</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본인 분야 사례로 치환해 1분 스토리텔링. 겪어본 사람 거수 유도.</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질문 문장이 마지막 슬라이드에서 다시 회수된다고 예고.</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관리자 메모리 99%가 바로 원인 1임을 연결. 세 원인이 뒤의 세 해법과 짝을 이룬다고 예고.</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치트시트에서 차선책으로 다시 등장한다고 예고.</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CSV는 사람 읽으라고 만든 형식입니다. 3.14159가 문자 7개로 적혀 있어 읽을 때마다 숫자로 다시 해석해야 하고, 행 단위라 2개 컬럼만 필요해도 모든 바이트를 훑어야 합니다. Parquet은 기계 읽으라고 만든 형식이고 세 가지가 바뀝니다. 이진 숫자라 해석이 없고, 열끼리 붙어 있어 필요한 열만 꺼내고, 비슷한 값이 이웃이라 압축이 잘 먹습니다. 블록별 최소·최대값은 다음 장표의 복선입니다. 이 블록엔 3월 데이터가 없다는 걸 열어보지 않고 아는 방법이거든요. 주의: 파일이 작아지는 건 이진이라서가 아니라 인코딩과 압축 덕분입니다. 3.14159는 텍스트 7바이트, float64는 8바이트라 이진이 오히려 큽니다. 실습 4에서 직접 변환하고 재측정 예고. 2교시의 원본 불변 원칙과 연결.</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해법 2에 들어가기 전에 개념 하나만 잡고 갑니다. 같은 표라도 디스크에 눕히는 방향이 두 가지입니다. 행 단위는 1번 행 전체, 2번 행 전체를 순서대로 이어붙입니다. 사람이 읽는 순서라 CSV와 일반 RDB가 이 방식입니다. 열 단위는 id끼리, name끼리, age끼리 모아서 저장합니다. 왜 분석에 유리하냐면, 분석 쿼리는 보통 전체 컬럼 중 일부만 필요하기 때문입니다. 화면의 노란색이 age인데, 행 단위에서는 줄마다 흩어져 있어 평균 하나 내려 해도 파일 전체를 훑어야 하고, 열 단위에서는 age 묶음 하나만 읽으면 끝납니다. 이 방향 차이가 다음 장표의 Parquet이 빠른 첫 번째 이유입니다.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1E4BD-4B84-06AB-0C6C-93F0613A8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8D4C8-774D-0DDE-0868-A67045830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F5061-2547-C255-905A-299250CBBF02}"/>
              </a:ext>
            </a:extLst>
          </p:cNvPr>
          <p:cNvSpPr>
            <a:spLocks noGrp="1"/>
          </p:cNvSpPr>
          <p:nvPr>
            <p:ph type="body" idx="1"/>
          </p:nvPr>
        </p:nvSpPr>
        <p:spPr/>
        <p:txBody>
          <a:bodyPr/>
          <a:lstStyle/>
          <a:p>
            <a:r>
              <a:rPr lang="en-US" dirty="0"/>
              <a:t>멘트: CSV는 사람 읽으라고 만든 형식입니다. 3.14159가 문자 7개로 적혀 있어 읽을 때마다 숫자로 다시 해석해야 하고, 행 단위라 2개 컬럼만 필요해도 모든 바이트를 훑어야 합니다. Parquet은 기계 읽으라고 만든 형식이고 세 가지가 바뀝니다. 이진 숫자라 해석이 없고, 열끼리 붙어 있어 필요한 열만 꺼내고, 비슷한 값이 이웃이라 압축이 잘 먹습니다. 블록별 최소·최대값은 다음 장표의 복선입니다. 이 블록엔 3월 데이터가 없다는 걸 열어보지 않고 아는 방법이거든요. 주의: 파일이 작아지는 건 이진이라서가 아니라 인코딩과 압축 덕분입니다. 3.14159는 텍스트 7바이트, float64는 8바이트라 이진이 오히려 큽니다. 실습 4에서 직접 변환하고 재측정 예고. 2교시의 원본 불변 원칙과 연결.</a:t>
            </a:r>
          </a:p>
        </p:txBody>
      </p:sp>
      <p:sp>
        <p:nvSpPr>
          <p:cNvPr id="4" name="Slide Number Placeholder 3">
            <a:extLst>
              <a:ext uri="{FF2B5EF4-FFF2-40B4-BE49-F238E27FC236}">
                <a16:creationId xmlns:a16="http://schemas.microsoft.com/office/drawing/2014/main" id="{0ADB3DEA-C170-DB2A-C7E6-C4F8C7429F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25646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FD106-ED9F-04DD-1E29-A65195795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0A5B4-3776-F53B-26C0-EE99EA15B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9B074-EC24-4391-1E5E-291229F6C5A5}"/>
              </a:ext>
            </a:extLst>
          </p:cNvPr>
          <p:cNvSpPr>
            <a:spLocks noGrp="1"/>
          </p:cNvSpPr>
          <p:nvPr>
            <p:ph type="body" idx="1"/>
          </p:nvPr>
        </p:nvSpPr>
        <p:spPr/>
        <p:txBody>
          <a:bodyPr/>
          <a:lstStyle/>
          <a:p>
            <a:r>
              <a:rPr lang="en-US" dirty="0"/>
              <a:t>멘트: CSV는 사람 읽으라고 만든 형식입니다. 3.14159가 문자 7개로 적혀 있어 읽을 때마다 숫자로 다시 해석해야 하고, 행 단위라 2개 컬럼만 필요해도 모든 바이트를 훑어야 합니다. Parquet은 기계 읽으라고 만든 형식이고 세 가지가 바뀝니다. 이진 숫자라 해석이 없고, 열끼리 붙어 있어 필요한 열만 꺼내고, 비슷한 값이 이웃이라 압축이 잘 먹습니다. 블록별 최소·최대값은 다음 장표의 복선입니다. 이 블록엔 3월 데이터가 없다는 걸 열어보지 않고 아는 방법이거든요. 주의: 파일이 작아지는 건 이진이라서가 아니라 인코딩과 압축 덕분입니다. 3.14159는 텍스트 7바이트, float64는 8바이트라 이진이 오히려 큽니다. 실습 4에서 직접 변환하고 재측정 예고. 2교시의 원본 불변 원칙과 연결.</a:t>
            </a:r>
          </a:p>
        </p:txBody>
      </p:sp>
      <p:sp>
        <p:nvSpPr>
          <p:cNvPr id="4" name="Slide Number Placeholder 3">
            <a:extLst>
              <a:ext uri="{FF2B5EF4-FFF2-40B4-BE49-F238E27FC236}">
                <a16:creationId xmlns:a16="http://schemas.microsoft.com/office/drawing/2014/main" id="{53241797-9C76-B4F1-D6FE-C800A93F6AC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993859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왼쪽 pandas는 한 줄이 곧 실행입니다. 첫 줄에서 이미 10개월을 다 읽었기 때문에, 두 줄 뒤에 3월만 남길 거라는 사실이 읽기 계획에 반영될 수가 없습니다. 오른쪽 Polars는 세 줄 동안 아무 일도 일어나지 않습니다. scan, filter, select 전부 계획에 적어두기만 합니다. collect()를 부르는 순간 엔진이 계획 전체를 보고, 어차피 3월의 ts, url만 쓴다는 걸 알아챈 뒤 처음부터 그것만 읽습니다. 시연 포인트: 코드에 lazy라는 단어가 실제로 보이고(scan_parquet이 LazyFrame 반환), q.explain()을 치면 최적화된 계획이 출력됩니다. filter가 스캔 단계까지 내려간 게 눈으로 보입니다.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계획을 다 받은 엔진이 실행 전에 하는 일이 네 가지입니다. 공통점은 전부 ‘안 해도 될 일 지우기’라는 것. 첫째, 끝까지 쓰는 컬럼이 2개뿐이면 읽기 계획 자체를 2개만 읽기로 고칩니다. 둘째, 필터 조건을 읽기 단계까지 내려보내 블록 라벨과 대조합니다. 앞 장표에서 본 최소·최대값 라벨이 여기서 회수됩니다. 셋째, 단계 사이 중간 결과를 안 만들어 메모리 피크가 내려갑니다. 넷째, 완성된 계획을 조각 단위로 흘려보내며 실행합니다. 여러분이 손으로 짜던 청크 루프를 엔진이 자동으로 도는 겁니다. 질문 대비: 블록 건너뛰기는 자주 거르는 컬럼으로 정렬해 저장했을 때 효과가 납니다. 뒤섞여 있으면 모든 블록 라벨이 1월~12월이 되어 하나도 못 건너뜁니다.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지금까지의 흐름을 한 장으로 모읍니다. pandas가 느려지는 원인이 세 개였고, 그중 두 개에 대한 해법을 배웠습니다. 그런데 조각으로 나눠 읽는 코드를 매번 손으로 짜고, Parquet으로 바꾸고, 지연 평가를 신경 쓰는 건 그 자체로 일입니다. 좋은 소식은, 이 세 해법을 처음부터 기본값으로 내장한 도구가 이미 있다는 겁니다. DuckDB와 Polars입니다. 표의 오른쪽 열을 보세요. 해법 1의 조각 처리는 엔진이 자동으로 하고, 심지어 메모리를 넘기면 디스크를 빌려서 죽지 않고 끝까지 갑니다. 해법 2와 3도 기본 동작입니다. 그리고 원인 2, 코어 하나만 쓰는 문제 — 이건 해법 장표가 없었죠. 이 두 도구가 여기서 해결합니다. 모든 코어를 씁니다. 정리하면, 여러분이 배운 해법들은 이 도구가 안에서 뭘 하는지 이해하기 위한 것이었고, 이제 그 일을 도구에게 맡기면 됩니다.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그럼 둘 중 뭘 쓰냐. 사실 하는 일은 같습니다. 둘 다 요청을 계획으로 만들고, 계획을 보고 필요한 것만 읽습니다. 다른 건 그 계획을 어떻게 말하느냐입니다. 왼쪽 DuckDB는 SQL 문장입니다. 이 컬럼들을, 이 파일에서, 이 조건으로 줘 — 원하는 결과만 말하면 어떻게 읽을지는 엔진이 정합니다. SQL은 원래 그런 언어라서 실행 버튼도 따로 없습니다. 오른쪽 Polars는 같은 내용을 파이썬 코드로 한 줄씩 쌓다가 collect()에서 실행합니다. pandas 써 보신 분에게는 이 모양이 익숙할 겁니다. 시연: 두 쪽 모두 실행 계획을 열어 보면(EXPLAIN / q.explain()) 같은 계획이 나옵니다. 3월 블록에서 2개 컬럼만 읽기. 그래서 속도도 비슷합니다.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오해 없으시길 — 방금 보셨듯 속도는 둘이 같은 급입니다. DuckDB가 더 빨라서 고른 게 아닙니다. 첫째, 이 강의에서 코드는 AI가 씁니다. Polars가 사랑받는 가장 큰 이유는 pandas와 비슷한 문법이라 사람이 갈아타기 쉽다는 건데, 코드를 직접 안 쓰는 우리에게는 그 장점이 발휘될 자리가 없습니다. 둘째, DuckDB는 켜고 끌 옵션이 없습니다. 파일을 그 자리에서 질의하는 것도, 메모리를 넘겨도 끝까지 도는 것도 그냥 기본 동작입니다. 실습에서 설정 실수로 시연이 어긋날 여지가 적다는 뜻입니다. 셋째, 이건 강의용 장난감이 아닙니다. Hugging Face가 hf:// 경로로 데이터셋을 바로 SQL 질의하도록 공식 지원하고, Hex, Airbyte 같은 회사들이 프로덕션에서 씁니다. 관리형 버전인 MotherDuck은 올해 1분기 유료 고객 1만 팀을 넘겼습니다. 오늘 배우는 사용법이 연구실 밖에서 그대로 통한다는 얘기입니다. 그렇다고 Polars를 버리는 게 아닙니다. 설치는 둘 다 uv add 한 줄로 같고, 같은 작업을 Polars로도 만들어 달라고 해서 결과를 비교하는 보조 시연으로 계속 나옵니다. AI가 DuckDB 요청에 일부 정제 로직을 Polars나 pandas로 섞어 짜는 경우도 있는데, 오류가 아니라 병목 유형별로 도구를 조합하는 모습이라고 설명하면 좋은 소재가 됩니다.</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작업 관리자 화면(메모리 99%)과 연결해, 왼쪽 증상이 오늘 3교시 전체의 전제임을 예고. 오른쪽 박스는 이름만 기억시키고, Numba 질문이 나오면 두 장 뒤에서 답한다고 안내하고 넘어감.</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각자 최근에 느렸던 코드 하나를 떠올리게 하고 A·B 중 어디에 가까운지 손 들게 함. 대부분 A에 몰리는 것을 확인시키며 오늘 커리큘럼의 정당화로 연결. 시나리오 B 손 든 수강생에게는 다음 장이 답이라고 예고.</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멘트: “Numba는 파이썬 반복문을 미리 번역해서 빠르게 만드는 도구입니다. 다만 데이터를 메모리에 못 올리는 문제는 해결 못 해서, 오늘 주제와는 다른 영역이에요.” 여기서 끊고 문법·설치 질문은 별도 자료로 안내. 바로 다음 장(해법 1. chunking)으로 전환.</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맑은 고딕"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A"/>
        </a:solidFill>
        <a:effectLst/>
      </p:bgPr>
    </p:bg>
    <p:spTree>
      <p:nvGrpSpPr>
        <p:cNvPr id="1" name=""/>
        <p:cNvGrpSpPr/>
        <p:nvPr/>
      </p:nvGrpSpPr>
      <p:grpSpPr>
        <a:xfrm>
          <a:off x="0" y="0"/>
          <a:ext cx="0" cy="0"/>
          <a:chOff x="0" y="0"/>
          <a:chExt cx="0" cy="0"/>
        </a:xfrm>
      </p:grpSpPr>
      <p:sp>
        <p:nvSpPr>
          <p:cNvPr id="2" name="Shape 0"/>
          <p:cNvSpPr/>
          <p:nvPr/>
        </p:nvSpPr>
        <p:spPr>
          <a:xfrm>
            <a:off x="5733288" y="2121408"/>
            <a:ext cx="731520" cy="0"/>
          </a:xfrm>
          <a:prstGeom prst="line">
            <a:avLst/>
          </a:prstGeom>
          <a:noFill/>
          <a:ln w="28575">
            <a:solidFill>
              <a:srgbClr val="FFD733"/>
            </a:solidFill>
            <a:prstDash val="solid"/>
          </a:ln>
        </p:spPr>
      </p:sp>
      <p:sp>
        <p:nvSpPr>
          <p:cNvPr id="4" name="Text 2"/>
          <p:cNvSpPr/>
          <p:nvPr/>
        </p:nvSpPr>
        <p:spPr>
          <a:xfrm>
            <a:off x="1371600" y="2514600"/>
            <a:ext cx="9448495" cy="685800"/>
          </a:xfrm>
          <a:prstGeom prst="rect">
            <a:avLst/>
          </a:prstGeom>
          <a:noFill/>
          <a:ln/>
        </p:spPr>
        <p:txBody>
          <a:bodyPr wrap="square" lIns="0" tIns="0" rIns="0" bIns="0" rtlCol="0" anchor="ctr"/>
          <a:lstStyle/>
          <a:p>
            <a:pPr marL="0" indent="0" algn="ctr">
              <a:buNone/>
            </a:pPr>
            <a:r>
              <a:rPr lang="en-US" sz="4000" b="1" dirty="0">
                <a:solidFill>
                  <a:srgbClr val="FFD733"/>
                </a:solidFill>
                <a:latin typeface="Malgun Gothic" pitchFamily="34" charset="0"/>
                <a:ea typeface="Malgun Gothic" pitchFamily="34" charset="-122"/>
                <a:cs typeface="Malgun Gothic" pitchFamily="34" charset="-120"/>
              </a:rPr>
              <a:t>3교시. 대용량 </a:t>
            </a:r>
            <a:r>
              <a:rPr lang="en-US" sz="4000" b="1" dirty="0" err="1">
                <a:solidFill>
                  <a:srgbClr val="FFD733"/>
                </a:solidFill>
                <a:latin typeface="Malgun Gothic" pitchFamily="34" charset="0"/>
                <a:ea typeface="Malgun Gothic" pitchFamily="34" charset="-122"/>
                <a:cs typeface="Malgun Gothic" pitchFamily="34" charset="-120"/>
              </a:rPr>
              <a:t>데이터</a:t>
            </a:r>
            <a:r>
              <a:rPr lang="en-US" sz="4000" b="1" dirty="0">
                <a:solidFill>
                  <a:srgbClr val="FFD733"/>
                </a:solidFill>
                <a:latin typeface="Malgun Gothic" pitchFamily="34" charset="0"/>
                <a:ea typeface="Malgun Gothic" pitchFamily="34" charset="-122"/>
                <a:cs typeface="Malgun Gothic" pitchFamily="34" charset="-120"/>
              </a:rPr>
              <a:t> </a:t>
            </a:r>
            <a:r>
              <a:rPr lang="en-US" sz="4000" b="1" dirty="0" err="1">
                <a:solidFill>
                  <a:srgbClr val="FFD733"/>
                </a:solidFill>
                <a:latin typeface="Malgun Gothic" pitchFamily="34" charset="0"/>
                <a:ea typeface="Malgun Gothic" pitchFamily="34" charset="-122"/>
                <a:cs typeface="Malgun Gothic" pitchFamily="34" charset="-120"/>
              </a:rPr>
              <a:t>처리</a:t>
            </a:r>
            <a:r>
              <a:rPr lang="en-US" sz="4000" b="1" dirty="0">
                <a:solidFill>
                  <a:srgbClr val="FFD733"/>
                </a:solidFill>
                <a:latin typeface="Malgun Gothic" pitchFamily="34" charset="0"/>
                <a:ea typeface="Malgun Gothic" pitchFamily="34" charset="-122"/>
                <a:cs typeface="Malgun Gothic" pitchFamily="34" charset="-120"/>
              </a:rPr>
              <a:t> </a:t>
            </a:r>
            <a:r>
              <a:rPr lang="ko-KR" altLang="en-US" sz="4000" b="1" dirty="0">
                <a:solidFill>
                  <a:srgbClr val="FFD733"/>
                </a:solidFill>
                <a:latin typeface="Malgun Gothic" pitchFamily="34" charset="0"/>
                <a:ea typeface="Malgun Gothic" pitchFamily="34" charset="-122"/>
                <a:cs typeface="Malgun Gothic" pitchFamily="34" charset="-120"/>
              </a:rPr>
              <a:t>개념</a:t>
            </a:r>
            <a:endParaRPr lang="en-US" sz="4000" dirty="0"/>
          </a:p>
        </p:txBody>
      </p:sp>
      <p:sp>
        <p:nvSpPr>
          <p:cNvPr id="5" name="Text 3"/>
          <p:cNvSpPr/>
          <p:nvPr/>
        </p:nvSpPr>
        <p:spPr>
          <a:xfrm>
            <a:off x="1371600" y="3246120"/>
            <a:ext cx="9448495" cy="548640"/>
          </a:xfrm>
          <a:prstGeom prst="rect">
            <a:avLst/>
          </a:prstGeom>
          <a:noFill/>
          <a:ln/>
        </p:spPr>
        <p:txBody>
          <a:bodyPr wrap="square" lIns="0" tIns="0" rIns="0" bIns="0" rtlCol="0" anchor="ctr"/>
          <a:lstStyle/>
          <a:p>
            <a:pPr marL="0" indent="0" algn="ctr">
              <a:buNone/>
            </a:pPr>
            <a:r>
              <a:rPr lang="en-US" sz="3000" b="1" dirty="0">
                <a:solidFill>
                  <a:srgbClr val="FFFFFF"/>
                </a:solidFill>
                <a:latin typeface="Malgun Gothic" pitchFamily="34" charset="0"/>
                <a:ea typeface="Malgun Gothic" pitchFamily="34" charset="-122"/>
                <a:cs typeface="Malgun Gothic" pitchFamily="34" charset="-120"/>
              </a:rPr>
              <a:t>pandas의 한계와 최신 해법</a:t>
            </a:r>
            <a:endParaRPr lang="en-US" sz="3000" dirty="0"/>
          </a:p>
        </p:txBody>
      </p:sp>
      <p:sp>
        <p:nvSpPr>
          <p:cNvPr id="6" name="Text 4"/>
          <p:cNvSpPr/>
          <p:nvPr/>
        </p:nvSpPr>
        <p:spPr>
          <a:xfrm>
            <a:off x="1371600" y="4069080"/>
            <a:ext cx="9448495" cy="365760"/>
          </a:xfrm>
          <a:prstGeom prst="rect">
            <a:avLst/>
          </a:prstGeom>
          <a:noFill/>
          <a:ln/>
        </p:spPr>
        <p:txBody>
          <a:bodyPr wrap="square" lIns="0" tIns="0" rIns="0" bIns="0" rtlCol="0" anchor="ctr"/>
          <a:lstStyle/>
          <a:p>
            <a:pPr marL="0" indent="0" algn="ctr">
              <a:buNone/>
            </a:pPr>
            <a:r>
              <a:rPr lang="en-US" sz="1400" dirty="0">
                <a:solidFill>
                  <a:srgbClr val="C6BFAD"/>
                </a:solidFill>
                <a:latin typeface="Malgun Gothic" pitchFamily="34" charset="0"/>
                <a:ea typeface="Malgun Gothic" pitchFamily="34" charset="-122"/>
                <a:cs typeface="Malgun Gothic" pitchFamily="34" charset="-120"/>
              </a:rPr>
              <a:t>DuckDB · Polars · Parquet, </a:t>
            </a:r>
            <a:r>
              <a:rPr lang="en-US" sz="1400" dirty="0" err="1">
                <a:solidFill>
                  <a:srgbClr val="C6BFAD"/>
                </a:solidFill>
                <a:latin typeface="Malgun Gothic" pitchFamily="34" charset="0"/>
                <a:ea typeface="Malgun Gothic" pitchFamily="34" charset="-122"/>
                <a:cs typeface="Malgun Gothic" pitchFamily="34" charset="-120"/>
              </a:rPr>
              <a:t>그리고</a:t>
            </a:r>
            <a:r>
              <a:rPr lang="en-US" sz="1400" dirty="0">
                <a:solidFill>
                  <a:srgbClr val="C6BFAD"/>
                </a:solidFill>
                <a:latin typeface="Malgun Gothic" pitchFamily="34" charset="0"/>
                <a:ea typeface="Malgun Gothic" pitchFamily="34" charset="-122"/>
                <a:cs typeface="Malgun Gothic" pitchFamily="34" charset="-120"/>
              </a:rPr>
              <a:t> </a:t>
            </a:r>
            <a:r>
              <a:rPr lang="en-US" sz="1400" dirty="0" err="1">
                <a:solidFill>
                  <a:srgbClr val="C6BFAD"/>
                </a:solidFill>
                <a:latin typeface="Malgun Gothic" pitchFamily="34" charset="0"/>
                <a:ea typeface="Malgun Gothic" pitchFamily="34" charset="-122"/>
                <a:cs typeface="Malgun Gothic" pitchFamily="34" charset="-120"/>
              </a:rPr>
              <a:t>느릴</a:t>
            </a:r>
            <a:r>
              <a:rPr lang="en-US" sz="1400" dirty="0">
                <a:solidFill>
                  <a:srgbClr val="C6BFAD"/>
                </a:solidFill>
                <a:latin typeface="Malgun Gothic" pitchFamily="34" charset="0"/>
                <a:ea typeface="Malgun Gothic" pitchFamily="34" charset="-122"/>
                <a:cs typeface="Malgun Gothic" pitchFamily="34" charset="-120"/>
              </a:rPr>
              <a:t> 때 무엇을 요청할 것인가</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A"/>
        </a:solidFill>
        <a:effectLst/>
      </p:bgPr>
    </p:bg>
    <p:spTree>
      <p:nvGrpSpPr>
        <p:cNvPr id="1" name=""/>
        <p:cNvGrpSpPr/>
        <p:nvPr/>
      </p:nvGrpSpPr>
      <p:grpSpPr>
        <a:xfrm>
          <a:off x="0" y="0"/>
          <a:ext cx="0" cy="0"/>
          <a:chOff x="0" y="0"/>
          <a:chExt cx="0" cy="0"/>
        </a:xfrm>
      </p:grpSpPr>
      <p:sp>
        <p:nvSpPr>
          <p:cNvPr id="2" name="Text 2"/>
          <p:cNvSpPr/>
          <p:nvPr/>
        </p:nvSpPr>
        <p:spPr>
          <a:xfrm>
            <a:off x="822960" y="713232"/>
            <a:ext cx="10545775" cy="566928"/>
          </a:xfrm>
          <a:prstGeom prst="rect">
            <a:avLst/>
          </a:prstGeom>
          <a:noFill/>
          <a:ln/>
        </p:spPr>
        <p:txBody>
          <a:bodyPr wrap="square" lIns="0" tIns="0" rIns="0" bIns="0" rtlCol="0" anchor="ctr"/>
          <a:lstStyle/>
          <a:p>
            <a:pPr marL="0" indent="0">
              <a:buNone/>
            </a:pPr>
            <a:r>
              <a:rPr lang="en-US" sz="2500" b="1" dirty="0">
                <a:solidFill>
                  <a:srgbClr val="FFD733"/>
                </a:solidFill>
                <a:latin typeface="Malgun Gothic" pitchFamily="34" charset="0"/>
                <a:ea typeface="Malgun Gothic" pitchFamily="34" charset="-122"/>
                <a:cs typeface="Malgun Gothic" pitchFamily="34" charset="-120"/>
              </a:rPr>
              <a:t>오늘의 진행 흐름</a:t>
            </a:r>
            <a:endParaRPr lang="en-US" sz="2500" dirty="0"/>
          </a:p>
        </p:txBody>
      </p:sp>
      <p:sp>
        <p:nvSpPr>
          <p:cNvPr id="4" name="Shape 4"/>
          <p:cNvSpPr/>
          <p:nvPr/>
        </p:nvSpPr>
        <p:spPr>
          <a:xfrm>
            <a:off x="822960" y="2743200"/>
            <a:ext cx="2411443" cy="2286000"/>
          </a:xfrm>
          <a:prstGeom prst="rect">
            <a:avLst/>
          </a:prstGeom>
          <a:solidFill>
            <a:srgbClr val="1A1810"/>
          </a:solidFill>
          <a:ln w="12700">
            <a:solidFill>
              <a:srgbClr val="4A4430"/>
            </a:solidFill>
            <a:prstDash val="solid"/>
          </a:ln>
        </p:spPr>
      </p:sp>
      <p:sp>
        <p:nvSpPr>
          <p:cNvPr id="5" name="Text 5"/>
          <p:cNvSpPr/>
          <p:nvPr/>
        </p:nvSpPr>
        <p:spPr>
          <a:xfrm>
            <a:off x="1097280" y="2962656"/>
            <a:ext cx="1862803"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① 왜</a:t>
            </a:r>
            <a:endParaRPr lang="en-US" sz="900" dirty="0"/>
          </a:p>
        </p:txBody>
      </p:sp>
      <p:sp>
        <p:nvSpPr>
          <p:cNvPr id="6" name="Text 6"/>
          <p:cNvSpPr/>
          <p:nvPr/>
        </p:nvSpPr>
        <p:spPr>
          <a:xfrm>
            <a:off x="1097280" y="3291840"/>
            <a:ext cx="1862803" cy="502920"/>
          </a:xfrm>
          <a:prstGeom prst="rect">
            <a:avLst/>
          </a:prstGeom>
          <a:noFill/>
          <a:ln/>
        </p:spPr>
        <p:txBody>
          <a:bodyPr wrap="square" lIns="0" tIns="0" rIns="0" bIns="0" rtlCol="0" anchor="t"/>
          <a:lstStyle/>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문제 확인</a:t>
            </a:r>
            <a:endParaRPr lang="en-US" sz="1250" dirty="0"/>
          </a:p>
        </p:txBody>
      </p:sp>
      <p:sp>
        <p:nvSpPr>
          <p:cNvPr id="7" name="Text 7"/>
          <p:cNvSpPr/>
          <p:nvPr/>
        </p:nvSpPr>
        <p:spPr>
          <a:xfrm>
            <a:off x="1097280" y="3886200"/>
            <a:ext cx="1862803"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데이터가 커졌을 때 벌어지는 일과 흔한 오해 확인.</a:t>
            </a:r>
            <a:endParaRPr lang="en-US" sz="1000" dirty="0"/>
          </a:p>
        </p:txBody>
      </p:sp>
      <p:sp>
        <p:nvSpPr>
          <p:cNvPr id="8" name="Text 8"/>
          <p:cNvSpPr/>
          <p:nvPr/>
        </p:nvSpPr>
        <p:spPr>
          <a:xfrm>
            <a:off x="3234403" y="3586200"/>
            <a:ext cx="300000" cy="600000"/>
          </a:xfrm>
          <a:prstGeom prst="rect">
            <a:avLst/>
          </a:prstGeom>
          <a:noFill/>
          <a:ln/>
        </p:spPr>
        <p:txBody>
          <a:bodyPr wrap="square" lIns="0" tIns="0" rIns="0" bIns="0" rtlCol="0" anchor="ctr"/>
          <a:lstStyle/>
          <a:p>
            <a:pPr marL="0" indent="0" algn="ctr">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9" name="Shape 9"/>
          <p:cNvSpPr/>
          <p:nvPr/>
        </p:nvSpPr>
        <p:spPr>
          <a:xfrm>
            <a:off x="3534403" y="2743200"/>
            <a:ext cx="2411443" cy="2286000"/>
          </a:xfrm>
          <a:prstGeom prst="rect">
            <a:avLst/>
          </a:prstGeom>
          <a:solidFill>
            <a:srgbClr val="1A1810"/>
          </a:solidFill>
          <a:ln w="12700">
            <a:solidFill>
              <a:srgbClr val="4A4430"/>
            </a:solidFill>
            <a:prstDash val="solid"/>
          </a:ln>
        </p:spPr>
      </p:sp>
      <p:sp>
        <p:nvSpPr>
          <p:cNvPr id="10" name="Text 10"/>
          <p:cNvSpPr/>
          <p:nvPr/>
        </p:nvSpPr>
        <p:spPr>
          <a:xfrm>
            <a:off x="3808723" y="2962656"/>
            <a:ext cx="1862803"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② 개념</a:t>
            </a:r>
            <a:endParaRPr lang="en-US" sz="900" dirty="0"/>
          </a:p>
        </p:txBody>
      </p:sp>
      <p:sp>
        <p:nvSpPr>
          <p:cNvPr id="11" name="Text 11"/>
          <p:cNvSpPr/>
          <p:nvPr/>
        </p:nvSpPr>
        <p:spPr>
          <a:xfrm>
            <a:off x="3808723" y="3291840"/>
            <a:ext cx="1862803" cy="502920"/>
          </a:xfrm>
          <a:prstGeom prst="rect">
            <a:avLst/>
          </a:prstGeom>
          <a:noFill/>
          <a:ln/>
        </p:spPr>
        <p:txBody>
          <a:bodyPr wrap="square" lIns="0" tIns="0" rIns="0" bIns="0" rtlCol="0" anchor="t"/>
          <a:lstStyle/>
          <a:p>
            <a:pPr marL="0" indent="0">
              <a:lnSpc>
                <a:spcPts val="1813"/>
              </a:lnSpc>
              <a:buNone/>
            </a:pPr>
            <a:r>
              <a:rPr lang="ko-KR" altLang="en-US" sz="1250" b="1" dirty="0">
                <a:solidFill>
                  <a:srgbClr val="FFFFFF"/>
                </a:solidFill>
                <a:latin typeface="Malgun Gothic" pitchFamily="34" charset="0"/>
                <a:ea typeface="Malgun Gothic" pitchFamily="34" charset="-122"/>
                <a:cs typeface="Malgun Gothic" pitchFamily="34" charset="-120"/>
              </a:rPr>
              <a:t>데이터 처리하는 도구들</a:t>
            </a:r>
            <a:r>
              <a:rPr lang="en-US" sz="1250" b="1" dirty="0">
                <a:solidFill>
                  <a:srgbClr val="FFFFFF"/>
                </a:solidFill>
                <a:latin typeface="Malgun Gothic" pitchFamily="34" charset="0"/>
                <a:ea typeface="Malgun Gothic" pitchFamily="34" charset="-122"/>
                <a:cs typeface="Malgun Gothic" pitchFamily="34" charset="-120"/>
              </a:rPr>
              <a:t> </a:t>
            </a:r>
            <a:r>
              <a:rPr lang="ko-KR" altLang="en-US" sz="1250" b="1" dirty="0">
                <a:solidFill>
                  <a:srgbClr val="FFFFFF"/>
                </a:solidFill>
                <a:latin typeface="Malgun Gothic" pitchFamily="34" charset="0"/>
                <a:ea typeface="Malgun Gothic" pitchFamily="34" charset="-122"/>
                <a:cs typeface="Malgun Gothic" pitchFamily="34" charset="-120"/>
              </a:rPr>
              <a:t>소개</a:t>
            </a:r>
            <a:endParaRPr lang="en-US" sz="1250" dirty="0"/>
          </a:p>
        </p:txBody>
      </p:sp>
      <p:sp>
        <p:nvSpPr>
          <p:cNvPr id="12" name="Text 12"/>
          <p:cNvSpPr/>
          <p:nvPr/>
        </p:nvSpPr>
        <p:spPr>
          <a:xfrm>
            <a:off x="3808723" y="3886200"/>
            <a:ext cx="1862803"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pandas의 한계 · 청크 · Parquet · DuckDB · Polars.</a:t>
            </a:r>
            <a:endParaRPr lang="en-US" sz="1000" dirty="0"/>
          </a:p>
        </p:txBody>
      </p:sp>
      <p:sp>
        <p:nvSpPr>
          <p:cNvPr id="13" name="Text 13"/>
          <p:cNvSpPr/>
          <p:nvPr/>
        </p:nvSpPr>
        <p:spPr>
          <a:xfrm>
            <a:off x="5945846" y="3586200"/>
            <a:ext cx="300000" cy="600000"/>
          </a:xfrm>
          <a:prstGeom prst="rect">
            <a:avLst/>
          </a:prstGeom>
          <a:noFill/>
          <a:ln/>
        </p:spPr>
        <p:txBody>
          <a:bodyPr wrap="square" lIns="0" tIns="0" rIns="0" bIns="0" rtlCol="0" anchor="ctr"/>
          <a:lstStyle/>
          <a:p>
            <a:pPr marL="0" indent="0" algn="ctr">
              <a:buNone/>
            </a:pPr>
            <a:r>
              <a:rPr lang="en-US" sz="1600" b="1" dirty="0">
                <a:solidFill>
                  <a:srgbClr val="FFD733"/>
                </a:solidFill>
                <a:latin typeface="Malgun Gothic" pitchFamily="34" charset="0"/>
                <a:ea typeface="Malgun Gothic" pitchFamily="34" charset="-122"/>
                <a:cs typeface="Malgun Gothic" pitchFamily="34" charset="-120"/>
              </a:rPr>
              <a:t>→</a:t>
            </a:r>
            <a:endParaRPr lang="en-US" sz="1600" dirty="0"/>
          </a:p>
        </p:txBody>
      </p:sp>
      <p:sp>
        <p:nvSpPr>
          <p:cNvPr id="14" name="Shape 14"/>
          <p:cNvSpPr/>
          <p:nvPr/>
        </p:nvSpPr>
        <p:spPr>
          <a:xfrm>
            <a:off x="6245846" y="2743200"/>
            <a:ext cx="2411443" cy="2286000"/>
          </a:xfrm>
          <a:prstGeom prst="rect">
            <a:avLst/>
          </a:prstGeom>
          <a:solidFill>
            <a:srgbClr val="1A1810"/>
          </a:solidFill>
          <a:ln w="12700">
            <a:solidFill>
              <a:srgbClr val="4A4430"/>
            </a:solidFill>
            <a:prstDash val="solid"/>
          </a:ln>
        </p:spPr>
      </p:sp>
      <p:sp>
        <p:nvSpPr>
          <p:cNvPr id="15" name="Text 15"/>
          <p:cNvSpPr/>
          <p:nvPr/>
        </p:nvSpPr>
        <p:spPr>
          <a:xfrm>
            <a:off x="6520166" y="2962656"/>
            <a:ext cx="1862803"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③ 실습</a:t>
            </a:r>
            <a:endParaRPr lang="en-US" sz="900" dirty="0"/>
          </a:p>
        </p:txBody>
      </p:sp>
      <p:sp>
        <p:nvSpPr>
          <p:cNvPr id="16" name="Text 16"/>
          <p:cNvSpPr/>
          <p:nvPr/>
        </p:nvSpPr>
        <p:spPr>
          <a:xfrm>
            <a:off x="6520166" y="3291840"/>
            <a:ext cx="1862803" cy="502920"/>
          </a:xfrm>
          <a:prstGeom prst="rect">
            <a:avLst/>
          </a:prstGeom>
          <a:noFill/>
          <a:ln/>
        </p:spPr>
        <p:txBody>
          <a:bodyPr wrap="square" lIns="0" tIns="0" rIns="0" bIns="0" rtlCol="0" anchor="t"/>
          <a:lstStyle/>
          <a:p>
            <a:pPr marL="0" indent="0">
              <a:lnSpc>
                <a:spcPts val="1813"/>
              </a:lnSpc>
              <a:buNone/>
            </a:pPr>
            <a:r>
              <a:rPr lang="ko-KR" altLang="en-US" sz="1250" b="1" dirty="0">
                <a:solidFill>
                  <a:srgbClr val="FFFFFF"/>
                </a:solidFill>
                <a:latin typeface="Malgun Gothic" pitchFamily="34" charset="0"/>
                <a:ea typeface="Malgun Gothic" pitchFamily="34" charset="-122"/>
                <a:cs typeface="Malgun Gothic" pitchFamily="34" charset="-120"/>
              </a:rPr>
              <a:t>라이브러리 이용한 대규모 데이터 처리 실습</a:t>
            </a:r>
            <a:endParaRPr lang="en-US" sz="1250" dirty="0"/>
          </a:p>
        </p:txBody>
      </p:sp>
      <p:sp>
        <p:nvSpPr>
          <p:cNvPr id="17" name="Text 17"/>
          <p:cNvSpPr/>
          <p:nvPr/>
        </p:nvSpPr>
        <p:spPr>
          <a:xfrm>
            <a:off x="6520166" y="3886200"/>
            <a:ext cx="1862803"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pandas와 DuckDB로 동일 작업 구현, 비교표 작성, 결과 일치 검증, Parquet 변환.</a:t>
            </a:r>
            <a:endParaRPr lang="en-US" sz="1000" dirty="0"/>
          </a:p>
        </p:txBody>
      </p:sp>
      <p:sp>
        <p:nvSpPr>
          <p:cNvPr id="23" name="Text 23"/>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1874520"/>
            <a:ext cx="2011680" cy="1371600"/>
          </a:xfrm>
          <a:prstGeom prst="rect">
            <a:avLst/>
          </a:prstGeom>
          <a:noFill/>
          <a:ln/>
        </p:spPr>
        <p:txBody>
          <a:bodyPr wrap="square" lIns="0" tIns="0" rIns="0" bIns="0" rtlCol="0" anchor="ctr"/>
          <a:lstStyle/>
          <a:p>
            <a:pPr marL="0" indent="0">
              <a:buNone/>
            </a:pPr>
            <a:r>
              <a:rPr lang="en-US" sz="6600" b="1" dirty="0">
                <a:solidFill>
                  <a:srgbClr val="FFD733"/>
                </a:solidFill>
                <a:latin typeface="Malgun Gothic" pitchFamily="34" charset="0"/>
                <a:ea typeface="Malgun Gothic" pitchFamily="34" charset="-122"/>
                <a:cs typeface="Malgun Gothic" pitchFamily="34" charset="-120"/>
              </a:rPr>
              <a:t>01</a:t>
            </a:r>
            <a:endParaRPr lang="en-US" sz="6600" dirty="0"/>
          </a:p>
        </p:txBody>
      </p:sp>
      <p:sp>
        <p:nvSpPr>
          <p:cNvPr id="3" name="Shape 1"/>
          <p:cNvSpPr/>
          <p:nvPr/>
        </p:nvSpPr>
        <p:spPr>
          <a:xfrm>
            <a:off x="2331720" y="1965960"/>
            <a:ext cx="0" cy="1188720"/>
          </a:xfrm>
          <a:prstGeom prst="line">
            <a:avLst/>
          </a:prstGeom>
          <a:noFill/>
          <a:ln w="12700">
            <a:solidFill>
              <a:srgbClr val="4A4430"/>
            </a:solidFill>
            <a:prstDash val="solid"/>
          </a:ln>
        </p:spPr>
      </p:sp>
      <p:sp>
        <p:nvSpPr>
          <p:cNvPr id="4" name="Text 2"/>
          <p:cNvSpPr/>
          <p:nvPr/>
        </p:nvSpPr>
        <p:spPr>
          <a:xfrm>
            <a:off x="2697480" y="2286000"/>
            <a:ext cx="7772400" cy="960120"/>
          </a:xfrm>
          <a:prstGeom prst="rect">
            <a:avLst/>
          </a:prstGeom>
          <a:noFill/>
          <a:ln/>
        </p:spPr>
        <p:txBody>
          <a:bodyPr wrap="square" lIns="0" tIns="0" rIns="0" bIns="0" rtlCol="0" anchor="ctr"/>
          <a:lstStyle/>
          <a:p>
            <a:pPr marL="0" indent="0">
              <a:buNone/>
            </a:pPr>
            <a:r>
              <a:rPr lang="ko-KR" altLang="en-US" sz="3200" b="1" dirty="0">
                <a:solidFill>
                  <a:srgbClr val="FFFFFF"/>
                </a:solidFill>
                <a:latin typeface="Malgun Gothic" pitchFamily="34" charset="0"/>
                <a:ea typeface="Malgun Gothic" pitchFamily="34" charset="-122"/>
                <a:cs typeface="Malgun Gothic" pitchFamily="34" charset="-120"/>
              </a:rPr>
              <a:t>연구와 현업에서</a:t>
            </a:r>
            <a:endParaRPr lang="en-US" altLang="ko-KR" sz="3200" b="1" dirty="0">
              <a:solidFill>
                <a:srgbClr val="FFFFFF"/>
              </a:solidFill>
              <a:latin typeface="Malgun Gothic" pitchFamily="34" charset="0"/>
              <a:ea typeface="Malgun Gothic" pitchFamily="34" charset="-122"/>
              <a:cs typeface="Malgun Gothic" pitchFamily="34" charset="-120"/>
            </a:endParaRPr>
          </a:p>
          <a:p>
            <a:pPr marL="0" indent="0">
              <a:buNone/>
            </a:pPr>
            <a:r>
              <a:rPr lang="ko-KR" altLang="en-US" sz="3200" b="1" dirty="0">
                <a:solidFill>
                  <a:srgbClr val="FFFFFF"/>
                </a:solidFill>
                <a:latin typeface="Malgun Gothic" pitchFamily="34" charset="0"/>
                <a:ea typeface="Malgun Gothic" pitchFamily="34" charset="-122"/>
                <a:cs typeface="Malgun Gothic" pitchFamily="34" charset="-120"/>
              </a:rPr>
              <a:t>대규모 데이터 처리 방법이 필요한 이유 </a:t>
            </a:r>
            <a:endParaRPr lang="en-US" sz="3200" dirty="0"/>
          </a:p>
        </p:txBody>
      </p:sp>
      <p:sp>
        <p:nvSpPr>
          <p:cNvPr id="18" name="Text 16"/>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D0D0A"/>
        </a:solidFill>
        <a:effectLst/>
      </p:bgPr>
    </p:bg>
    <p:spTree>
      <p:nvGrpSpPr>
        <p:cNvPr id="1" name=""/>
        <p:cNvGrpSpPr/>
        <p:nvPr/>
      </p:nvGrpSpPr>
      <p:grpSpPr>
        <a:xfrm>
          <a:off x="0" y="0"/>
          <a:ext cx="0" cy="0"/>
          <a:chOff x="0" y="0"/>
          <a:chExt cx="0" cy="0"/>
        </a:xfrm>
      </p:grpSpPr>
      <p:sp>
        <p:nvSpPr>
          <p:cNvPr id="4" name="Text 2"/>
          <p:cNvSpPr/>
          <p:nvPr/>
        </p:nvSpPr>
        <p:spPr>
          <a:xfrm>
            <a:off x="822960" y="713232"/>
            <a:ext cx="10545775" cy="566928"/>
          </a:xfrm>
          <a:prstGeom prst="rect">
            <a:avLst/>
          </a:prstGeom>
          <a:noFill/>
          <a:ln/>
        </p:spPr>
        <p:txBody>
          <a:bodyPr wrap="square" lIns="0" tIns="0" rIns="0" bIns="0" rtlCol="0" anchor="ctr"/>
          <a:lstStyle/>
          <a:p>
            <a:pPr marL="0" indent="0">
              <a:buNone/>
            </a:pPr>
            <a:r>
              <a:rPr lang="en-US" sz="2500" b="1" dirty="0">
                <a:solidFill>
                  <a:srgbClr val="FFD733"/>
                </a:solidFill>
                <a:latin typeface="Malgun Gothic" pitchFamily="34" charset="0"/>
                <a:ea typeface="Malgun Gothic" pitchFamily="34" charset="-122"/>
                <a:cs typeface="Malgun Gothic" pitchFamily="34" charset="-120"/>
              </a:rPr>
              <a:t>수 GB </a:t>
            </a:r>
            <a:r>
              <a:rPr lang="ko-KR" altLang="en-US" sz="2500" b="1" dirty="0">
                <a:solidFill>
                  <a:srgbClr val="FFD733"/>
                </a:solidFill>
                <a:latin typeface="Malgun Gothic" pitchFamily="34" charset="0"/>
                <a:ea typeface="Malgun Gothic" pitchFamily="34" charset="-122"/>
                <a:cs typeface="Malgun Gothic" pitchFamily="34" charset="-120"/>
              </a:rPr>
              <a:t>이상 </a:t>
            </a:r>
            <a:r>
              <a:rPr lang="en-US" sz="2500" b="1" dirty="0" err="1">
                <a:solidFill>
                  <a:srgbClr val="FFD733"/>
                </a:solidFill>
                <a:latin typeface="Malgun Gothic" pitchFamily="34" charset="0"/>
                <a:ea typeface="Malgun Gothic" pitchFamily="34" charset="-122"/>
                <a:cs typeface="Malgun Gothic" pitchFamily="34" charset="-120"/>
              </a:rPr>
              <a:t>측정</a:t>
            </a:r>
            <a:r>
              <a:rPr lang="en-US" sz="2500" b="1" dirty="0">
                <a:solidFill>
                  <a:srgbClr val="FFD733"/>
                </a:solidFill>
                <a:latin typeface="Malgun Gothic" pitchFamily="34" charset="0"/>
                <a:ea typeface="Malgun Gothic" pitchFamily="34" charset="-122"/>
                <a:cs typeface="Malgun Gothic" pitchFamily="34" charset="-120"/>
              </a:rPr>
              <a:t> </a:t>
            </a:r>
            <a:r>
              <a:rPr lang="ko-KR" altLang="en-US" sz="2500" b="1" dirty="0">
                <a:solidFill>
                  <a:srgbClr val="FFD733"/>
                </a:solidFill>
                <a:latin typeface="Malgun Gothic" pitchFamily="34" charset="0"/>
                <a:ea typeface="Malgun Gothic" pitchFamily="34" charset="-122"/>
                <a:cs typeface="Malgun Gothic" pitchFamily="34" charset="-120"/>
              </a:rPr>
              <a:t>데이터는</a:t>
            </a:r>
            <a:r>
              <a:rPr lang="en-US" sz="2500" b="1" dirty="0">
                <a:solidFill>
                  <a:srgbClr val="FFD733"/>
                </a:solidFill>
                <a:latin typeface="Malgun Gothic" pitchFamily="34" charset="0"/>
                <a:ea typeface="Malgun Gothic" pitchFamily="34" charset="-122"/>
                <a:cs typeface="Malgun Gothic" pitchFamily="34" charset="-120"/>
              </a:rPr>
              <a:t> 이미 일반적인 연구 데이터 규모</a:t>
            </a:r>
            <a:endParaRPr lang="en-US" sz="2500" dirty="0"/>
          </a:p>
        </p:txBody>
      </p:sp>
      <p:sp>
        <p:nvSpPr>
          <p:cNvPr id="5" name="Text 3"/>
          <p:cNvSpPr/>
          <p:nvPr/>
        </p:nvSpPr>
        <p:spPr>
          <a:xfrm>
            <a:off x="822960" y="1371600"/>
            <a:ext cx="10545775" cy="502920"/>
          </a:xfrm>
          <a:prstGeom prst="rect">
            <a:avLst/>
          </a:prstGeom>
          <a:noFill/>
          <a:ln/>
        </p:spPr>
        <p:txBody>
          <a:bodyPr wrap="square" lIns="0" tIns="0" rIns="0" bIns="0" rtlCol="0" anchor="t"/>
          <a:lstStyle/>
          <a:p>
            <a:pPr marL="0" indent="0">
              <a:lnSpc>
                <a:spcPts val="2100"/>
              </a:lnSpc>
              <a:buNone/>
            </a:pPr>
            <a:r>
              <a:rPr lang="en-US" sz="1300" dirty="0">
                <a:solidFill>
                  <a:srgbClr val="ECE7DC"/>
                </a:solidFill>
                <a:latin typeface="Malgun Gothic" pitchFamily="34" charset="0"/>
                <a:ea typeface="Malgun Gothic" pitchFamily="34" charset="-122"/>
                <a:cs typeface="Malgun Gothic" pitchFamily="34" charset="-120"/>
              </a:rPr>
              <a:t>유전체 시퀀싱, 기상 관측, 검출기 로그, 센서 데이터 등에서 수 GB는 흔한 크기.</a:t>
            </a:r>
            <a:endParaRPr lang="en-US" sz="1300" dirty="0"/>
          </a:p>
        </p:txBody>
      </p:sp>
      <p:sp>
        <p:nvSpPr>
          <p:cNvPr id="6" name="Shape 4"/>
          <p:cNvSpPr/>
          <p:nvPr/>
        </p:nvSpPr>
        <p:spPr>
          <a:xfrm>
            <a:off x="822960" y="2331720"/>
            <a:ext cx="3362858" cy="2377440"/>
          </a:xfrm>
          <a:prstGeom prst="rect">
            <a:avLst/>
          </a:prstGeom>
          <a:solidFill>
            <a:srgbClr val="1A1810"/>
          </a:solidFill>
          <a:ln w="12700">
            <a:solidFill>
              <a:srgbClr val="4A4430"/>
            </a:solidFill>
            <a:prstDash val="solid"/>
          </a:ln>
        </p:spPr>
      </p:sp>
      <p:sp>
        <p:nvSpPr>
          <p:cNvPr id="7" name="Text 5"/>
          <p:cNvSpPr/>
          <p:nvPr/>
        </p:nvSpPr>
        <p:spPr>
          <a:xfrm>
            <a:off x="1097280" y="255117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상황 1</a:t>
            </a:r>
            <a:endParaRPr lang="en-US" sz="900" dirty="0"/>
          </a:p>
        </p:txBody>
      </p:sp>
      <p:sp>
        <p:nvSpPr>
          <p:cNvPr id="8" name="Text 6"/>
          <p:cNvSpPr/>
          <p:nvPr/>
        </p:nvSpPr>
        <p:spPr>
          <a:xfrm>
            <a:off x="1097280" y="2880360"/>
            <a:ext cx="2814218" cy="548640"/>
          </a:xfrm>
          <a:prstGeom prst="rect">
            <a:avLst/>
          </a:prstGeom>
          <a:noFill/>
          <a:ln/>
        </p:spPr>
        <p:txBody>
          <a:bodyPr wrap="square" lIns="0" tIns="0" rIns="0" bIns="0" rtlCol="0" anchor="t"/>
          <a:lstStyle/>
          <a:p>
            <a:pPr marL="0" indent="0">
              <a:lnSpc>
                <a:spcPts val="2030"/>
              </a:lnSpc>
              <a:buNone/>
            </a:pPr>
            <a:r>
              <a:rPr lang="en-US" sz="1400" b="1" dirty="0">
                <a:solidFill>
                  <a:srgbClr val="FFFFFF"/>
                </a:solidFill>
                <a:latin typeface="Malgun Gothic" pitchFamily="34" charset="0"/>
                <a:ea typeface="Malgun Gothic" pitchFamily="34" charset="-122"/>
                <a:cs typeface="Malgun Gothic" pitchFamily="34" charset="-120"/>
              </a:rPr>
              <a:t>엑셀에서 열리지 않음</a:t>
            </a:r>
            <a:endParaRPr lang="en-US" sz="1400" dirty="0"/>
          </a:p>
        </p:txBody>
      </p:sp>
      <p:sp>
        <p:nvSpPr>
          <p:cNvPr id="9" name="Text 7"/>
          <p:cNvSpPr/>
          <p:nvPr/>
        </p:nvSpPr>
        <p:spPr>
          <a:xfrm>
            <a:off x="1097280" y="3520440"/>
            <a:ext cx="2814218" cy="1024128"/>
          </a:xfrm>
          <a:prstGeom prst="rect">
            <a:avLst/>
          </a:prstGeom>
          <a:noFill/>
          <a:ln/>
        </p:spPr>
        <p:txBody>
          <a:bodyPr wrap="square" lIns="0" tIns="0" rIns="0" bIns="0" rtlCol="0" anchor="t"/>
          <a:lstStyle/>
          <a:p>
            <a:pPr marL="0" indent="0">
              <a:lnSpc>
                <a:spcPts val="1750"/>
              </a:lnSpc>
              <a:buNone/>
            </a:pPr>
            <a:r>
              <a:rPr lang="en-US" sz="1100" dirty="0">
                <a:solidFill>
                  <a:srgbClr val="C6BFAD"/>
                </a:solidFill>
                <a:latin typeface="Malgun Gothic" pitchFamily="34" charset="0"/>
                <a:ea typeface="Malgun Gothic" pitchFamily="34" charset="-122"/>
                <a:cs typeface="Malgun Gothic" pitchFamily="34" charset="-120"/>
              </a:rPr>
              <a:t>엑셀의 최대 행 수는 1,048,576행. 300만 행 CSV </a:t>
            </a:r>
            <a:r>
              <a:rPr lang="en-US" sz="1100" dirty="0" err="1">
                <a:solidFill>
                  <a:srgbClr val="C6BFAD"/>
                </a:solidFill>
                <a:latin typeface="Malgun Gothic" pitchFamily="34" charset="0"/>
                <a:ea typeface="Malgun Gothic" pitchFamily="34" charset="-122"/>
                <a:cs typeface="Malgun Gothic" pitchFamily="34" charset="-120"/>
              </a:rPr>
              <a:t>파일</a:t>
            </a:r>
            <a:r>
              <a:rPr lang="en-US" sz="1100" dirty="0">
                <a:solidFill>
                  <a:srgbClr val="C6BFAD"/>
                </a:solidFill>
                <a:latin typeface="Malgun Gothic" pitchFamily="34" charset="0"/>
                <a:ea typeface="Malgun Gothic" pitchFamily="34" charset="-122"/>
                <a:cs typeface="Malgun Gothic" pitchFamily="34" charset="-120"/>
              </a:rPr>
              <a:t> 여는 단계에서 이미 실패.</a:t>
            </a:r>
            <a:endParaRPr lang="en-US" sz="1100" dirty="0"/>
          </a:p>
        </p:txBody>
      </p:sp>
      <p:sp>
        <p:nvSpPr>
          <p:cNvPr id="10" name="Shape 8"/>
          <p:cNvSpPr/>
          <p:nvPr/>
        </p:nvSpPr>
        <p:spPr>
          <a:xfrm>
            <a:off x="4414418" y="2331720"/>
            <a:ext cx="3362858" cy="2377440"/>
          </a:xfrm>
          <a:prstGeom prst="rect">
            <a:avLst/>
          </a:prstGeom>
          <a:solidFill>
            <a:srgbClr val="1A1810"/>
          </a:solidFill>
          <a:ln w="12700">
            <a:solidFill>
              <a:srgbClr val="4A4430"/>
            </a:solidFill>
            <a:prstDash val="solid"/>
          </a:ln>
        </p:spPr>
      </p:sp>
      <p:sp>
        <p:nvSpPr>
          <p:cNvPr id="11" name="Text 9"/>
          <p:cNvSpPr/>
          <p:nvPr/>
        </p:nvSpPr>
        <p:spPr>
          <a:xfrm>
            <a:off x="4688738" y="255117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상황 2</a:t>
            </a:r>
            <a:endParaRPr lang="en-US" sz="900" dirty="0"/>
          </a:p>
        </p:txBody>
      </p:sp>
      <p:sp>
        <p:nvSpPr>
          <p:cNvPr id="12" name="Text 10"/>
          <p:cNvSpPr/>
          <p:nvPr/>
        </p:nvSpPr>
        <p:spPr>
          <a:xfrm>
            <a:off x="4688738" y="2880360"/>
            <a:ext cx="2814218" cy="548640"/>
          </a:xfrm>
          <a:prstGeom prst="rect">
            <a:avLst/>
          </a:prstGeom>
          <a:noFill/>
          <a:ln/>
        </p:spPr>
        <p:txBody>
          <a:bodyPr wrap="square" lIns="0" tIns="0" rIns="0" bIns="0" rtlCol="0" anchor="t"/>
          <a:lstStyle/>
          <a:p>
            <a:pPr marL="0" indent="0">
              <a:lnSpc>
                <a:spcPts val="2030"/>
              </a:lnSpc>
              <a:buNone/>
            </a:pPr>
            <a:r>
              <a:rPr lang="ko-KR" altLang="en-US" sz="1400" b="1" dirty="0">
                <a:solidFill>
                  <a:srgbClr val="FFFFFF"/>
                </a:solidFill>
                <a:latin typeface="Malgun Gothic" pitchFamily="34" charset="0"/>
                <a:ea typeface="Malgun Gothic" pitchFamily="34" charset="-122"/>
                <a:cs typeface="Malgun Gothic" pitchFamily="34" charset="-120"/>
              </a:rPr>
              <a:t>기본 라이브러리 사용시 </a:t>
            </a:r>
            <a:r>
              <a:rPr lang="en-US" sz="1400" b="1" dirty="0" err="1">
                <a:solidFill>
                  <a:srgbClr val="FFFFFF"/>
                </a:solidFill>
                <a:latin typeface="Malgun Gothic" pitchFamily="34" charset="0"/>
                <a:ea typeface="Malgun Gothic" pitchFamily="34" charset="-122"/>
                <a:cs typeface="Malgun Gothic" pitchFamily="34" charset="-120"/>
              </a:rPr>
              <a:t>파이썬이</a:t>
            </a:r>
            <a:r>
              <a:rPr lang="en-US" sz="1400" b="1" dirty="0">
                <a:solidFill>
                  <a:srgbClr val="FFFFFF"/>
                </a:solidFill>
                <a:latin typeface="Malgun Gothic" pitchFamily="34" charset="0"/>
                <a:ea typeface="Malgun Gothic" pitchFamily="34" charset="-122"/>
                <a:cs typeface="Malgun Gothic" pitchFamily="34" charset="-120"/>
              </a:rPr>
              <a:t> 응답하지 않음</a:t>
            </a:r>
            <a:endParaRPr lang="en-US" sz="1400" dirty="0"/>
          </a:p>
        </p:txBody>
      </p:sp>
      <p:sp>
        <p:nvSpPr>
          <p:cNvPr id="13" name="Text 11"/>
          <p:cNvSpPr/>
          <p:nvPr/>
        </p:nvSpPr>
        <p:spPr>
          <a:xfrm>
            <a:off x="4688738" y="3520440"/>
            <a:ext cx="2814218" cy="1024128"/>
          </a:xfrm>
          <a:prstGeom prst="rect">
            <a:avLst/>
          </a:prstGeom>
          <a:noFill/>
          <a:ln/>
        </p:spPr>
        <p:txBody>
          <a:bodyPr wrap="square" lIns="0" tIns="0" rIns="0" bIns="0" rtlCol="0" anchor="t"/>
          <a:lstStyle/>
          <a:p>
            <a:pPr marL="0" indent="0">
              <a:lnSpc>
                <a:spcPts val="1750"/>
              </a:lnSpc>
              <a:buNone/>
            </a:pPr>
            <a:r>
              <a:rPr lang="en-US" sz="1100" dirty="0">
                <a:solidFill>
                  <a:srgbClr val="C6BFAD"/>
                </a:solidFill>
                <a:latin typeface="Malgun Gothic" pitchFamily="34" charset="0"/>
                <a:ea typeface="Malgun Gothic" pitchFamily="34" charset="-122"/>
                <a:cs typeface="Malgun Gothic" pitchFamily="34" charset="-120"/>
              </a:rPr>
              <a:t>스크립트 실행 시 메모리 사용률이 99%까지 상승하고, 화면이 멈춰 강제 종료하게 됨.</a:t>
            </a:r>
            <a:endParaRPr lang="en-US" sz="1100" dirty="0"/>
          </a:p>
        </p:txBody>
      </p:sp>
      <p:sp>
        <p:nvSpPr>
          <p:cNvPr id="14" name="Shape 12"/>
          <p:cNvSpPr/>
          <p:nvPr/>
        </p:nvSpPr>
        <p:spPr>
          <a:xfrm>
            <a:off x="8005877" y="2331720"/>
            <a:ext cx="3362858" cy="2377440"/>
          </a:xfrm>
          <a:prstGeom prst="rect">
            <a:avLst/>
          </a:prstGeom>
          <a:solidFill>
            <a:srgbClr val="1A1810"/>
          </a:solidFill>
          <a:ln w="12700">
            <a:solidFill>
              <a:srgbClr val="4A4430"/>
            </a:solidFill>
            <a:prstDash val="solid"/>
          </a:ln>
        </p:spPr>
      </p:sp>
      <p:sp>
        <p:nvSpPr>
          <p:cNvPr id="15" name="Text 13"/>
          <p:cNvSpPr/>
          <p:nvPr/>
        </p:nvSpPr>
        <p:spPr>
          <a:xfrm>
            <a:off x="8280197" y="255117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상황 3</a:t>
            </a:r>
            <a:endParaRPr lang="en-US" sz="900" dirty="0"/>
          </a:p>
        </p:txBody>
      </p:sp>
      <p:sp>
        <p:nvSpPr>
          <p:cNvPr id="16" name="Text 14"/>
          <p:cNvSpPr/>
          <p:nvPr/>
        </p:nvSpPr>
        <p:spPr>
          <a:xfrm>
            <a:off x="8280197" y="2880360"/>
            <a:ext cx="2814218" cy="548640"/>
          </a:xfrm>
          <a:prstGeom prst="rect">
            <a:avLst/>
          </a:prstGeom>
          <a:noFill/>
          <a:ln/>
        </p:spPr>
        <p:txBody>
          <a:bodyPr wrap="square" lIns="0" tIns="0" rIns="0" bIns="0" rtlCol="0" anchor="t"/>
          <a:lstStyle/>
          <a:p>
            <a:pPr marL="0" indent="0">
              <a:lnSpc>
                <a:spcPts val="2030"/>
              </a:lnSpc>
              <a:buNone/>
            </a:pPr>
            <a:r>
              <a:rPr lang="ko-KR" altLang="en-US" sz="1400" b="1" dirty="0">
                <a:solidFill>
                  <a:srgbClr val="FFFFFF"/>
                </a:solidFill>
                <a:latin typeface="Malgun Gothic" pitchFamily="34" charset="0"/>
                <a:ea typeface="Malgun Gothic" pitchFamily="34" charset="-122"/>
                <a:cs typeface="Malgun Gothic" pitchFamily="34" charset="-120"/>
              </a:rPr>
              <a:t>한번에 처리 가능함에도 데이터를 쪼개거나 포기하는</a:t>
            </a:r>
            <a:r>
              <a:rPr lang="en-US" sz="1400" b="1" dirty="0">
                <a:solidFill>
                  <a:srgbClr val="FFFFFF"/>
                </a:solidFill>
                <a:latin typeface="Malgun Gothic" pitchFamily="34" charset="0"/>
                <a:ea typeface="Malgun Gothic" pitchFamily="34" charset="-122"/>
                <a:cs typeface="Malgun Gothic" pitchFamily="34" charset="-120"/>
              </a:rPr>
              <a:t> 결론에 도달</a:t>
            </a:r>
            <a:endParaRPr lang="en-US" sz="1400" dirty="0"/>
          </a:p>
        </p:txBody>
      </p:sp>
      <p:sp>
        <p:nvSpPr>
          <p:cNvPr id="17" name="Text 15"/>
          <p:cNvSpPr/>
          <p:nvPr/>
        </p:nvSpPr>
        <p:spPr>
          <a:xfrm>
            <a:off x="8280197" y="3520440"/>
            <a:ext cx="2814218" cy="1024128"/>
          </a:xfrm>
          <a:prstGeom prst="rect">
            <a:avLst/>
          </a:prstGeom>
          <a:noFill/>
          <a:ln/>
        </p:spPr>
        <p:txBody>
          <a:bodyPr wrap="square" lIns="0" tIns="0" rIns="0" bIns="0" rtlCol="0" anchor="t"/>
          <a:lstStyle/>
          <a:p>
            <a:pPr marL="0" indent="0">
              <a:lnSpc>
                <a:spcPts val="1750"/>
              </a:lnSpc>
              <a:buNone/>
            </a:pPr>
            <a:r>
              <a:rPr lang="en-US" sz="1100" dirty="0">
                <a:solidFill>
                  <a:srgbClr val="C6BFAD"/>
                </a:solidFill>
                <a:latin typeface="Malgun Gothic" pitchFamily="34" charset="0"/>
                <a:ea typeface="Malgun Gothic" pitchFamily="34" charset="-122"/>
                <a:cs typeface="Malgun Gothic" pitchFamily="34" charset="-120"/>
              </a:rPr>
              <a:t>"노트북 성능 부족", "파이썬이 원래 느림"으로 결론 </a:t>
            </a:r>
            <a:r>
              <a:rPr lang="en-US" sz="1100" dirty="0" err="1">
                <a:solidFill>
                  <a:srgbClr val="C6BFAD"/>
                </a:solidFill>
                <a:latin typeface="Malgun Gothic" pitchFamily="34" charset="0"/>
                <a:ea typeface="Malgun Gothic" pitchFamily="34" charset="-122"/>
                <a:cs typeface="Malgun Gothic" pitchFamily="34" charset="-120"/>
              </a:rPr>
              <a:t>내리고</a:t>
            </a:r>
            <a:r>
              <a:rPr lang="en-US" sz="1100" dirty="0">
                <a:solidFill>
                  <a:srgbClr val="C6BFAD"/>
                </a:solidFill>
                <a:latin typeface="Malgun Gothic" pitchFamily="34" charset="0"/>
                <a:ea typeface="Malgun Gothic" pitchFamily="34" charset="-122"/>
                <a:cs typeface="Malgun Gothic" pitchFamily="34" charset="-120"/>
              </a:rPr>
              <a:t> </a:t>
            </a:r>
            <a:r>
              <a:rPr lang="ko-KR" altLang="en-US" sz="1100" dirty="0">
                <a:solidFill>
                  <a:srgbClr val="C6BFAD"/>
                </a:solidFill>
                <a:latin typeface="Malgun Gothic" pitchFamily="34" charset="0"/>
                <a:ea typeface="Malgun Gothic" pitchFamily="34" charset="-122"/>
                <a:cs typeface="Malgun Gothic" pitchFamily="34" charset="-120"/>
              </a:rPr>
              <a:t>데이터 분할해서 분석하는 등으로 작업 방향 우회</a:t>
            </a:r>
            <a:endParaRPr lang="en-US" sz="1100" dirty="0"/>
          </a:p>
        </p:txBody>
      </p:sp>
      <p:sp>
        <p:nvSpPr>
          <p:cNvPr id="20" name="Text 18"/>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D0D0A"/>
        </a:solidFill>
        <a:effectLst/>
      </p:bgPr>
    </p:bg>
    <p:spTree>
      <p:nvGrpSpPr>
        <p:cNvPr id="1" name=""/>
        <p:cNvGrpSpPr/>
        <p:nvPr/>
      </p:nvGrpSpPr>
      <p:grpSpPr>
        <a:xfrm>
          <a:off x="0" y="0"/>
          <a:ext cx="0" cy="0"/>
          <a:chOff x="0" y="0"/>
          <a:chExt cx="0" cy="0"/>
        </a:xfrm>
      </p:grpSpPr>
      <p:sp>
        <p:nvSpPr>
          <p:cNvPr id="4" name="Text 2"/>
          <p:cNvSpPr/>
          <p:nvPr/>
        </p:nvSpPr>
        <p:spPr>
          <a:xfrm>
            <a:off x="822960" y="713232"/>
            <a:ext cx="10545775" cy="566928"/>
          </a:xfrm>
          <a:prstGeom prst="rect">
            <a:avLst/>
          </a:prstGeom>
          <a:noFill/>
          <a:ln/>
        </p:spPr>
        <p:txBody>
          <a:bodyPr wrap="square" lIns="0" tIns="0" rIns="0" bIns="0" rtlCol="0" anchor="ctr"/>
          <a:lstStyle/>
          <a:p>
            <a:pPr marL="0" indent="0">
              <a:buNone/>
            </a:pPr>
            <a:r>
              <a:rPr lang="ko-KR" altLang="en-US" sz="2500" b="1" dirty="0">
                <a:solidFill>
                  <a:srgbClr val="FFD733"/>
                </a:solidFill>
                <a:latin typeface="Malgun Gothic" pitchFamily="34" charset="0"/>
                <a:ea typeface="Malgun Gothic" pitchFamily="34" charset="-122"/>
                <a:cs typeface="Malgun Gothic" pitchFamily="34" charset="-120"/>
              </a:rPr>
              <a:t>대규모 데이터 특화 라이브러리 사용으로 많은 부분 해결 가능</a:t>
            </a:r>
            <a:endParaRPr lang="en-US" sz="2500" dirty="0"/>
          </a:p>
        </p:txBody>
      </p:sp>
      <p:sp>
        <p:nvSpPr>
          <p:cNvPr id="14" name="Shape 12"/>
          <p:cNvSpPr/>
          <p:nvPr/>
        </p:nvSpPr>
        <p:spPr>
          <a:xfrm>
            <a:off x="823112" y="1965960"/>
            <a:ext cx="10545775" cy="1417320"/>
          </a:xfrm>
          <a:prstGeom prst="rect">
            <a:avLst/>
          </a:prstGeom>
          <a:solidFill>
            <a:srgbClr val="221F16"/>
          </a:solidFill>
          <a:ln w="12700">
            <a:solidFill>
              <a:srgbClr val="FFD733"/>
            </a:solidFill>
            <a:prstDash val="solid"/>
          </a:ln>
        </p:spPr>
      </p:sp>
      <p:sp>
        <p:nvSpPr>
          <p:cNvPr id="16" name="Text 14"/>
          <p:cNvSpPr/>
          <p:nvPr/>
        </p:nvSpPr>
        <p:spPr>
          <a:xfrm>
            <a:off x="1097432" y="2340864"/>
            <a:ext cx="9997135" cy="347472"/>
          </a:xfrm>
          <a:prstGeom prst="rect">
            <a:avLst/>
          </a:prstGeom>
          <a:noFill/>
          <a:ln/>
        </p:spPr>
        <p:txBody>
          <a:bodyPr wrap="square" lIns="0" tIns="0" rIns="0" bIns="0" rtlCol="0" anchor="t"/>
          <a:lstStyle/>
          <a:p>
            <a:pPr marL="0" indent="0">
              <a:lnSpc>
                <a:spcPts val="2030"/>
              </a:lnSpc>
              <a:buNone/>
            </a:pPr>
            <a:r>
              <a:rPr lang="ko-KR" altLang="en-US" b="1" dirty="0">
                <a:solidFill>
                  <a:srgbClr val="FFFFFF"/>
                </a:solidFill>
                <a:latin typeface="Malgun Gothic" pitchFamily="34" charset="0"/>
                <a:ea typeface="Malgun Gothic" pitchFamily="34" charset="-122"/>
                <a:cs typeface="Malgun Gothic" pitchFamily="34" charset="-120"/>
              </a:rPr>
              <a:t>라이브러리</a:t>
            </a:r>
            <a:r>
              <a:rPr lang="en-US" b="1" dirty="0">
                <a:solidFill>
                  <a:srgbClr val="FFFFFF"/>
                </a:solidFill>
                <a:latin typeface="Malgun Gothic" pitchFamily="34" charset="0"/>
                <a:ea typeface="Malgun Gothic" pitchFamily="34" charset="-122"/>
                <a:cs typeface="Malgun Gothic" pitchFamily="34" charset="-120"/>
              </a:rPr>
              <a:t> 교체만으로 실행 시간은 수 배에서 수십 배, 메모리는 몇 분의 1로 감소.</a:t>
            </a:r>
            <a:endParaRPr lang="en-US" dirty="0"/>
          </a:p>
        </p:txBody>
      </p:sp>
      <p:sp>
        <p:nvSpPr>
          <p:cNvPr id="17" name="Text 15"/>
          <p:cNvSpPr/>
          <p:nvPr/>
        </p:nvSpPr>
        <p:spPr>
          <a:xfrm>
            <a:off x="1097432" y="2820924"/>
            <a:ext cx="9997135" cy="265176"/>
          </a:xfrm>
          <a:prstGeom prst="rect">
            <a:avLst/>
          </a:prstGeom>
          <a:noFill/>
          <a:ln/>
        </p:spPr>
        <p:txBody>
          <a:bodyPr wrap="square" lIns="0" tIns="0" rIns="0" bIns="0" rtlCol="0" anchor="t"/>
          <a:lstStyle/>
          <a:p>
            <a:pPr marL="0" indent="0">
              <a:lnSpc>
                <a:spcPts val="1600"/>
              </a:lnSpc>
              <a:buNone/>
            </a:pPr>
            <a:r>
              <a:rPr lang="en-US" sz="1150" dirty="0">
                <a:solidFill>
                  <a:srgbClr val="C6BFAD"/>
                </a:solidFill>
                <a:latin typeface="Malgun Gothic" pitchFamily="34" charset="0"/>
                <a:ea typeface="Malgun Gothic" pitchFamily="34" charset="-122"/>
                <a:cs typeface="Malgun Gothic" pitchFamily="34" charset="-120"/>
              </a:rPr>
              <a:t>도구 사용법 암기는 불필요. 이름과 쓰임새만 알면 구현은 Claude Code가 수행.</a:t>
            </a:r>
            <a:endParaRPr lang="en-US" sz="1150" dirty="0"/>
          </a:p>
        </p:txBody>
      </p:sp>
      <p:sp>
        <p:nvSpPr>
          <p:cNvPr id="20" name="Text 18"/>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1874520"/>
            <a:ext cx="2011680" cy="1371600"/>
          </a:xfrm>
          <a:prstGeom prst="rect">
            <a:avLst/>
          </a:prstGeom>
          <a:noFill/>
          <a:ln/>
        </p:spPr>
        <p:txBody>
          <a:bodyPr wrap="square" lIns="0" tIns="0" rIns="0" bIns="0" rtlCol="0" anchor="ctr"/>
          <a:lstStyle/>
          <a:p>
            <a:pPr marL="0" indent="0">
              <a:buNone/>
            </a:pPr>
            <a:r>
              <a:rPr lang="en-US" sz="6600" b="1" dirty="0">
                <a:solidFill>
                  <a:srgbClr val="FFD733"/>
                </a:solidFill>
                <a:latin typeface="Malgun Gothic" pitchFamily="34" charset="0"/>
                <a:ea typeface="Malgun Gothic" pitchFamily="34" charset="-122"/>
                <a:cs typeface="Malgun Gothic" pitchFamily="34" charset="-120"/>
              </a:rPr>
              <a:t>02</a:t>
            </a:r>
            <a:endParaRPr lang="en-US" sz="6600" dirty="0"/>
          </a:p>
        </p:txBody>
      </p:sp>
      <p:sp>
        <p:nvSpPr>
          <p:cNvPr id="3" name="Shape 1"/>
          <p:cNvSpPr/>
          <p:nvPr/>
        </p:nvSpPr>
        <p:spPr>
          <a:xfrm>
            <a:off x="2331720" y="1965960"/>
            <a:ext cx="0" cy="1188720"/>
          </a:xfrm>
          <a:prstGeom prst="line">
            <a:avLst/>
          </a:prstGeom>
          <a:noFill/>
          <a:ln w="12700">
            <a:solidFill>
              <a:srgbClr val="4A4430"/>
            </a:solidFill>
            <a:prstDash val="solid"/>
          </a:ln>
        </p:spPr>
      </p:sp>
      <p:sp>
        <p:nvSpPr>
          <p:cNvPr id="4" name="Text 2"/>
          <p:cNvSpPr/>
          <p:nvPr/>
        </p:nvSpPr>
        <p:spPr>
          <a:xfrm>
            <a:off x="2697480" y="2240280"/>
            <a:ext cx="7772400" cy="548640"/>
          </a:xfrm>
          <a:prstGeom prst="rect">
            <a:avLst/>
          </a:prstGeom>
          <a:noFill/>
          <a:ln/>
        </p:spPr>
        <p:txBody>
          <a:bodyPr wrap="square" lIns="0" tIns="0" rIns="0" bIns="0" rtlCol="0" anchor="ctr"/>
          <a:lstStyle/>
          <a:p>
            <a:pPr marL="0" indent="0">
              <a:buNone/>
            </a:pPr>
            <a:r>
              <a:rPr lang="en-US" sz="3200" b="1" dirty="0">
                <a:solidFill>
                  <a:srgbClr val="FFFFFF"/>
                </a:solidFill>
                <a:latin typeface="Malgun Gothic" pitchFamily="34" charset="0"/>
                <a:ea typeface="Malgun Gothic" pitchFamily="34" charset="-122"/>
                <a:cs typeface="Malgun Gothic" pitchFamily="34" charset="-120"/>
              </a:rPr>
              <a:t>알아둘 개념</a:t>
            </a:r>
            <a:endParaRPr lang="en-US" sz="3200" dirty="0"/>
          </a:p>
        </p:txBody>
      </p:sp>
      <p:sp>
        <p:nvSpPr>
          <p:cNvPr id="6" name="Shape 4"/>
          <p:cNvSpPr/>
          <p:nvPr/>
        </p:nvSpPr>
        <p:spPr>
          <a:xfrm>
            <a:off x="822960" y="3749040"/>
            <a:ext cx="2464994" cy="2286000"/>
          </a:xfrm>
          <a:prstGeom prst="rect">
            <a:avLst/>
          </a:prstGeom>
          <a:solidFill>
            <a:srgbClr val="1A1810"/>
          </a:solidFill>
          <a:ln w="12700">
            <a:solidFill>
              <a:srgbClr val="4A4430"/>
            </a:solidFill>
            <a:prstDash val="solid"/>
          </a:ln>
        </p:spPr>
      </p:sp>
      <p:sp>
        <p:nvSpPr>
          <p:cNvPr id="8" name="Text 6"/>
          <p:cNvSpPr/>
          <p:nvPr/>
        </p:nvSpPr>
        <p:spPr>
          <a:xfrm>
            <a:off x="1097280" y="4297680"/>
            <a:ext cx="1916354" cy="502920"/>
          </a:xfrm>
          <a:prstGeom prst="rect">
            <a:avLst/>
          </a:prstGeom>
          <a:noFill/>
          <a:ln/>
        </p:spPr>
        <p:txBody>
          <a:bodyPr wrap="square" lIns="0" tIns="0" rIns="0" bIns="0" rtlCol="0" anchor="t"/>
          <a:lstStyle/>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pandas의 한계와</a:t>
            </a:r>
            <a:endParaRPr lang="en-US" sz="1250" dirty="0"/>
          </a:p>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청크 · 스트리밍</a:t>
            </a:r>
            <a:endParaRPr lang="en-US" sz="1250" dirty="0"/>
          </a:p>
        </p:txBody>
      </p:sp>
      <p:sp>
        <p:nvSpPr>
          <p:cNvPr id="9" name="Text 7"/>
          <p:cNvSpPr/>
          <p:nvPr/>
        </p:nvSpPr>
        <p:spPr>
          <a:xfrm>
            <a:off x="1097280" y="4892040"/>
            <a:ext cx="1916354"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왜 느려지는가, 그리고 가장 기본적인 대처법.</a:t>
            </a:r>
            <a:endParaRPr lang="en-US" sz="1000" dirty="0"/>
          </a:p>
        </p:txBody>
      </p:sp>
      <p:sp>
        <p:nvSpPr>
          <p:cNvPr id="10" name="Shape 8"/>
          <p:cNvSpPr/>
          <p:nvPr/>
        </p:nvSpPr>
        <p:spPr>
          <a:xfrm>
            <a:off x="3516554" y="3749040"/>
            <a:ext cx="2464994" cy="2286000"/>
          </a:xfrm>
          <a:prstGeom prst="rect">
            <a:avLst/>
          </a:prstGeom>
          <a:solidFill>
            <a:srgbClr val="1A1810"/>
          </a:solidFill>
          <a:ln w="12700">
            <a:solidFill>
              <a:srgbClr val="4A4430"/>
            </a:solidFill>
            <a:prstDash val="solid"/>
          </a:ln>
        </p:spPr>
      </p:sp>
      <p:sp>
        <p:nvSpPr>
          <p:cNvPr id="12" name="Text 10"/>
          <p:cNvSpPr/>
          <p:nvPr/>
        </p:nvSpPr>
        <p:spPr>
          <a:xfrm>
            <a:off x="3790874" y="4297680"/>
            <a:ext cx="1916354" cy="502920"/>
          </a:xfrm>
          <a:prstGeom prst="rect">
            <a:avLst/>
          </a:prstGeom>
          <a:noFill/>
          <a:ln/>
        </p:spPr>
        <p:txBody>
          <a:bodyPr wrap="square" lIns="0" tIns="0" rIns="0" bIns="0" rtlCol="0" anchor="t"/>
          <a:lstStyle/>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Parquet</a:t>
            </a:r>
            <a:endParaRPr lang="en-US" sz="1250" dirty="0"/>
          </a:p>
        </p:txBody>
      </p:sp>
      <p:sp>
        <p:nvSpPr>
          <p:cNvPr id="13" name="Text 11"/>
          <p:cNvSpPr/>
          <p:nvPr/>
        </p:nvSpPr>
        <p:spPr>
          <a:xfrm>
            <a:off x="3790874" y="4892040"/>
            <a:ext cx="1916354"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분석 도구가 읽기 좋은 파일 형식으로 바꾸는 방법.</a:t>
            </a:r>
            <a:endParaRPr lang="en-US" sz="1000" dirty="0"/>
          </a:p>
        </p:txBody>
      </p:sp>
      <p:sp>
        <p:nvSpPr>
          <p:cNvPr id="14" name="Shape 12"/>
          <p:cNvSpPr/>
          <p:nvPr/>
        </p:nvSpPr>
        <p:spPr>
          <a:xfrm>
            <a:off x="6210148" y="3749040"/>
            <a:ext cx="2464994" cy="2286000"/>
          </a:xfrm>
          <a:prstGeom prst="rect">
            <a:avLst/>
          </a:prstGeom>
          <a:solidFill>
            <a:srgbClr val="1A1810"/>
          </a:solidFill>
          <a:ln w="12700">
            <a:solidFill>
              <a:srgbClr val="4A4430"/>
            </a:solidFill>
            <a:prstDash val="solid"/>
          </a:ln>
        </p:spPr>
      </p:sp>
      <p:sp>
        <p:nvSpPr>
          <p:cNvPr id="16" name="Text 14"/>
          <p:cNvSpPr/>
          <p:nvPr/>
        </p:nvSpPr>
        <p:spPr>
          <a:xfrm>
            <a:off x="6484468" y="4297680"/>
            <a:ext cx="1916354" cy="502920"/>
          </a:xfrm>
          <a:prstGeom prst="rect">
            <a:avLst/>
          </a:prstGeom>
          <a:noFill/>
          <a:ln/>
        </p:spPr>
        <p:txBody>
          <a:bodyPr wrap="square" lIns="0" tIns="0" rIns="0" bIns="0" rtlCol="0" anchor="t"/>
          <a:lstStyle/>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lazy evaluation</a:t>
            </a:r>
            <a:endParaRPr lang="en-US" sz="1250" dirty="0"/>
          </a:p>
        </p:txBody>
      </p:sp>
      <p:sp>
        <p:nvSpPr>
          <p:cNvPr id="17" name="Text 15"/>
          <p:cNvSpPr/>
          <p:nvPr/>
        </p:nvSpPr>
        <p:spPr>
          <a:xfrm>
            <a:off x="6484468" y="4892040"/>
            <a:ext cx="1916354" cy="978408"/>
          </a:xfrm>
          <a:prstGeom prst="rect">
            <a:avLst/>
          </a:prstGeom>
          <a:noFill/>
          <a:ln/>
        </p:spPr>
        <p:txBody>
          <a:bodyPr wrap="square" lIns="0" tIns="0" rIns="0" bIns="0" rtlCol="0" anchor="t"/>
          <a:lstStyle/>
          <a:p>
            <a:pPr marL="0" indent="0">
              <a:lnSpc>
                <a:spcPts val="1550"/>
              </a:lnSpc>
              <a:buNone/>
            </a:pPr>
            <a:r>
              <a:rPr lang="en-US" altLang="ko-KR" sz="1000" dirty="0">
                <a:solidFill>
                  <a:srgbClr val="C6BFAD"/>
                </a:solidFill>
                <a:latin typeface="Malgun Gothic" pitchFamily="34" charset="0"/>
                <a:ea typeface="Malgun Gothic" pitchFamily="34" charset="-122"/>
                <a:cs typeface="Malgun Gothic" pitchFamily="34" charset="-120"/>
              </a:rPr>
              <a:t>"</a:t>
            </a:r>
            <a:r>
              <a:rPr lang="ko-KR" altLang="en-US" sz="1000" dirty="0">
                <a:solidFill>
                  <a:srgbClr val="C6BFAD"/>
                </a:solidFill>
                <a:latin typeface="Malgun Gothic" pitchFamily="34" charset="0"/>
                <a:ea typeface="Malgun Gothic" pitchFamily="34" charset="-122"/>
                <a:cs typeface="Malgun Gothic" pitchFamily="34" charset="-120"/>
              </a:rPr>
              <a:t>뭘 할 건지 계획만 쌓아두고</a:t>
            </a:r>
            <a:r>
              <a:rPr lang="en-US" altLang="ko-KR" sz="1000" dirty="0">
                <a:solidFill>
                  <a:srgbClr val="C6BFAD"/>
                </a:solidFill>
                <a:latin typeface="Malgun Gothic" pitchFamily="34" charset="0"/>
                <a:ea typeface="Malgun Gothic" pitchFamily="34" charset="-122"/>
                <a:cs typeface="Malgun Gothic" pitchFamily="34" charset="-120"/>
              </a:rPr>
              <a:t>" </a:t>
            </a:r>
            <a:r>
              <a:rPr lang="ko-KR" altLang="en-US" sz="1000" dirty="0">
                <a:solidFill>
                  <a:srgbClr val="C6BFAD"/>
                </a:solidFill>
                <a:latin typeface="Malgun Gothic" pitchFamily="34" charset="0"/>
                <a:ea typeface="Malgun Gothic" pitchFamily="34" charset="-122"/>
                <a:cs typeface="Malgun Gothic" pitchFamily="34" charset="-120"/>
              </a:rPr>
              <a:t>마지막에 한꺼번에 실행</a:t>
            </a:r>
            <a:endParaRPr lang="en-US" sz="1000" dirty="0">
              <a:solidFill>
                <a:srgbClr val="C6BFAD"/>
              </a:solidFill>
              <a:latin typeface="Malgun Gothic" pitchFamily="34" charset="0"/>
              <a:ea typeface="Malgun Gothic" pitchFamily="34" charset="-122"/>
              <a:cs typeface="Malgun Gothic" pitchFamily="34" charset="-120"/>
            </a:endParaRPr>
          </a:p>
          <a:p>
            <a:pPr marL="0" indent="0">
              <a:lnSpc>
                <a:spcPts val="1550"/>
              </a:lnSpc>
              <a:buNone/>
            </a:pPr>
            <a:endParaRPr lang="en-US" sz="1000" dirty="0">
              <a:solidFill>
                <a:srgbClr val="C6BFAD"/>
              </a:solidFill>
              <a:latin typeface="Malgun Gothic" pitchFamily="34" charset="0"/>
              <a:ea typeface="Malgun Gothic" pitchFamily="34" charset="-122"/>
              <a:cs typeface="Malgun Gothic" pitchFamily="34" charset="-120"/>
            </a:endParaRPr>
          </a:p>
          <a:p>
            <a:pPr marL="0" indent="0">
              <a:lnSpc>
                <a:spcPts val="1550"/>
              </a:lnSpc>
              <a:buNone/>
            </a:pPr>
            <a:r>
              <a:rPr lang="en-US" sz="1000" dirty="0" err="1">
                <a:solidFill>
                  <a:srgbClr val="C6BFAD"/>
                </a:solidFill>
                <a:latin typeface="Malgun Gothic" pitchFamily="34" charset="0"/>
                <a:ea typeface="Malgun Gothic" pitchFamily="34" charset="-122"/>
                <a:cs typeface="Malgun Gothic" pitchFamily="34" charset="-120"/>
              </a:rPr>
              <a:t>DuckDB와</a:t>
            </a:r>
            <a:r>
              <a:rPr lang="en-US" sz="1000" dirty="0">
                <a:solidFill>
                  <a:srgbClr val="C6BFAD"/>
                </a:solidFill>
                <a:latin typeface="Malgun Gothic" pitchFamily="34" charset="0"/>
                <a:ea typeface="Malgun Gothic" pitchFamily="34" charset="-122"/>
                <a:cs typeface="Malgun Gothic" pitchFamily="34" charset="-120"/>
              </a:rPr>
              <a:t> Polars가 빠른 이유가 되는 실행 방식.</a:t>
            </a:r>
            <a:endParaRPr lang="en-US" sz="1000" dirty="0"/>
          </a:p>
        </p:txBody>
      </p:sp>
      <p:sp>
        <p:nvSpPr>
          <p:cNvPr id="18" name="Shape 16"/>
          <p:cNvSpPr/>
          <p:nvPr/>
        </p:nvSpPr>
        <p:spPr>
          <a:xfrm>
            <a:off x="8903741" y="3749040"/>
            <a:ext cx="2464994" cy="2286000"/>
          </a:xfrm>
          <a:prstGeom prst="rect">
            <a:avLst/>
          </a:prstGeom>
          <a:solidFill>
            <a:srgbClr val="1A1810"/>
          </a:solidFill>
          <a:ln w="12700">
            <a:solidFill>
              <a:srgbClr val="4A4430"/>
            </a:solidFill>
            <a:prstDash val="solid"/>
          </a:ln>
        </p:spPr>
      </p:sp>
      <p:sp>
        <p:nvSpPr>
          <p:cNvPr id="20" name="Text 18"/>
          <p:cNvSpPr/>
          <p:nvPr/>
        </p:nvSpPr>
        <p:spPr>
          <a:xfrm>
            <a:off x="9178061" y="4297680"/>
            <a:ext cx="1916354" cy="502920"/>
          </a:xfrm>
          <a:prstGeom prst="rect">
            <a:avLst/>
          </a:prstGeom>
          <a:noFill/>
          <a:ln/>
        </p:spPr>
        <p:txBody>
          <a:bodyPr wrap="square" lIns="0" tIns="0" rIns="0" bIns="0" rtlCol="0" anchor="t"/>
          <a:lstStyle/>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DuckDB와 Polars</a:t>
            </a:r>
            <a:endParaRPr lang="en-US" sz="1250" dirty="0"/>
          </a:p>
          <a:p>
            <a:pPr marL="0" indent="0">
              <a:lnSpc>
                <a:spcPts val="1813"/>
              </a:lnSpc>
              <a:buNone/>
            </a:pPr>
            <a:r>
              <a:rPr lang="en-US" sz="1250" b="1" dirty="0">
                <a:solidFill>
                  <a:srgbClr val="FFFFFF"/>
                </a:solidFill>
                <a:latin typeface="Malgun Gothic" pitchFamily="34" charset="0"/>
                <a:ea typeface="Malgun Gothic" pitchFamily="34" charset="-122"/>
                <a:cs typeface="Malgun Gothic" pitchFamily="34" charset="-120"/>
              </a:rPr>
              <a:t>(+ Numba)</a:t>
            </a:r>
            <a:endParaRPr lang="en-US" sz="1250" dirty="0"/>
          </a:p>
        </p:txBody>
      </p:sp>
      <p:sp>
        <p:nvSpPr>
          <p:cNvPr id="21" name="Text 19"/>
          <p:cNvSpPr/>
          <p:nvPr/>
        </p:nvSpPr>
        <p:spPr>
          <a:xfrm>
            <a:off x="9178061" y="4892040"/>
            <a:ext cx="1916354" cy="978408"/>
          </a:xfrm>
          <a:prstGeom prst="rect">
            <a:avLst/>
          </a:prstGeom>
          <a:noFill/>
          <a:ln/>
        </p:spPr>
        <p:txBody>
          <a:bodyPr wrap="square" lIns="0" tIns="0" rIns="0" bIns="0" rtlCol="0" anchor="t"/>
          <a:lstStyle/>
          <a:p>
            <a:pPr marL="0" indent="0">
              <a:lnSpc>
                <a:spcPts val="1550"/>
              </a:lnSpc>
              <a:buNone/>
            </a:pPr>
            <a:r>
              <a:rPr lang="en-US" sz="1000" dirty="0">
                <a:solidFill>
                  <a:srgbClr val="C6BFAD"/>
                </a:solidFill>
                <a:latin typeface="Malgun Gothic" pitchFamily="34" charset="0"/>
                <a:ea typeface="Malgun Gothic" pitchFamily="34" charset="-122"/>
                <a:cs typeface="Malgun Gothic" pitchFamily="34" charset="-120"/>
              </a:rPr>
              <a:t>두 도구의 차이와, 다른 종류의 병목에 쓰는 도구.</a:t>
            </a:r>
            <a:endParaRPr lang="en-US" sz="1000" dirty="0"/>
          </a:p>
        </p:txBody>
      </p:sp>
      <p:sp>
        <p:nvSpPr>
          <p:cNvPr id="22" name="Text 20"/>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D0D0A"/>
        </a:solidFill>
        <a:effectLst/>
      </p:bgPr>
    </p:bg>
    <p:spTree>
      <p:nvGrpSpPr>
        <p:cNvPr id="1" name=""/>
        <p:cNvGrpSpPr/>
        <p:nvPr/>
      </p:nvGrpSpPr>
      <p:grpSpPr>
        <a:xfrm>
          <a:off x="0" y="0"/>
          <a:ext cx="0" cy="0"/>
          <a:chOff x="0" y="0"/>
          <a:chExt cx="0" cy="0"/>
        </a:xfrm>
      </p:grpSpPr>
      <p:sp>
        <p:nvSpPr>
          <p:cNvPr id="4" name="Text 2"/>
          <p:cNvSpPr/>
          <p:nvPr/>
        </p:nvSpPr>
        <p:spPr>
          <a:xfrm>
            <a:off x="822960" y="713232"/>
            <a:ext cx="10545775" cy="566928"/>
          </a:xfrm>
          <a:prstGeom prst="rect">
            <a:avLst/>
          </a:prstGeom>
          <a:noFill/>
          <a:ln/>
        </p:spPr>
        <p:txBody>
          <a:bodyPr wrap="square" lIns="0" tIns="0" rIns="0" bIns="0" rtlCol="0" anchor="ctr"/>
          <a:lstStyle/>
          <a:p>
            <a:pPr marL="0" indent="0">
              <a:buNone/>
            </a:pPr>
            <a:r>
              <a:rPr lang="en-US" sz="2500" b="1" dirty="0">
                <a:solidFill>
                  <a:srgbClr val="FFD733"/>
                </a:solidFill>
                <a:latin typeface="Malgun Gothic" pitchFamily="34" charset="0"/>
                <a:ea typeface="Malgun Gothic" pitchFamily="34" charset="-122"/>
                <a:cs typeface="Malgun Gothic" pitchFamily="34" charset="-120"/>
              </a:rPr>
              <a:t>pandas의 한계는 성능 결함이 아니라 설계 방식</a:t>
            </a:r>
            <a:endParaRPr lang="en-US" sz="2500" dirty="0"/>
          </a:p>
        </p:txBody>
      </p:sp>
      <p:sp>
        <p:nvSpPr>
          <p:cNvPr id="5" name="Text 3"/>
          <p:cNvSpPr/>
          <p:nvPr/>
        </p:nvSpPr>
        <p:spPr>
          <a:xfrm>
            <a:off x="822960" y="1371600"/>
            <a:ext cx="10545775" cy="777240"/>
          </a:xfrm>
          <a:prstGeom prst="rect">
            <a:avLst/>
          </a:prstGeom>
          <a:noFill/>
          <a:ln/>
        </p:spPr>
        <p:txBody>
          <a:bodyPr wrap="square" lIns="0" tIns="0" rIns="0" bIns="0" rtlCol="0" anchor="t"/>
          <a:lstStyle/>
          <a:p>
            <a:pPr marL="285750" indent="-285750">
              <a:lnSpc>
                <a:spcPts val="2100"/>
              </a:lnSpc>
              <a:buFont typeface="Arial" panose="020B0604020202020204" pitchFamily="34" charset="0"/>
              <a:buChar char="•"/>
            </a:pPr>
            <a:r>
              <a:rPr lang="ko-KR" altLang="en-US" sz="1300" dirty="0">
                <a:solidFill>
                  <a:srgbClr val="ECE7DC"/>
                </a:solidFill>
                <a:latin typeface="Malgun Gothic" pitchFamily="34" charset="0"/>
                <a:ea typeface="Malgun Gothic" pitchFamily="34" charset="-122"/>
                <a:cs typeface="Malgun Gothic" pitchFamily="34" charset="-120"/>
              </a:rPr>
              <a:t>비교적 </a:t>
            </a:r>
            <a:r>
              <a:rPr lang="en-US" sz="1300" dirty="0" err="1">
                <a:solidFill>
                  <a:srgbClr val="ECE7DC"/>
                </a:solidFill>
                <a:latin typeface="Malgun Gothic" pitchFamily="34" charset="0"/>
                <a:ea typeface="Malgun Gothic" pitchFamily="34" charset="-122"/>
                <a:cs typeface="Malgun Gothic" pitchFamily="34" charset="-120"/>
              </a:rPr>
              <a:t>작은</a:t>
            </a:r>
            <a:r>
              <a:rPr lang="en-US" sz="1300" dirty="0">
                <a:solidFill>
                  <a:srgbClr val="ECE7DC"/>
                </a:solidFill>
                <a:latin typeface="Malgun Gothic" pitchFamily="34" charset="0"/>
                <a:ea typeface="Malgun Gothic" pitchFamily="34" charset="-122"/>
                <a:cs typeface="Malgun Gothic" pitchFamily="34" charset="-120"/>
              </a:rPr>
              <a:t> 데이터를 편하게 다루도록 </a:t>
            </a:r>
            <a:r>
              <a:rPr lang="en-US" sz="1300" dirty="0" err="1">
                <a:solidFill>
                  <a:srgbClr val="ECE7DC"/>
                </a:solidFill>
                <a:latin typeface="Malgun Gothic" pitchFamily="34" charset="0"/>
                <a:ea typeface="Malgun Gothic" pitchFamily="34" charset="-122"/>
                <a:cs typeface="Malgun Gothic" pitchFamily="34" charset="-120"/>
              </a:rPr>
              <a:t>만들어진</a:t>
            </a:r>
            <a:r>
              <a:rPr lang="en-US" sz="1300" dirty="0">
                <a:solidFill>
                  <a:srgbClr val="ECE7DC"/>
                </a:solidFill>
                <a:latin typeface="Malgun Gothic" pitchFamily="34" charset="0"/>
                <a:ea typeface="Malgun Gothic" pitchFamily="34" charset="-122"/>
                <a:cs typeface="Malgun Gothic" pitchFamily="34" charset="-120"/>
              </a:rPr>
              <a:t> </a:t>
            </a:r>
            <a:r>
              <a:rPr lang="en-US" sz="1300" dirty="0" err="1">
                <a:solidFill>
                  <a:srgbClr val="ECE7DC"/>
                </a:solidFill>
                <a:latin typeface="Malgun Gothic" pitchFamily="34" charset="0"/>
                <a:ea typeface="Malgun Gothic" pitchFamily="34" charset="-122"/>
                <a:cs typeface="Malgun Gothic" pitchFamily="34" charset="-120"/>
              </a:rPr>
              <a:t>구조가</a:t>
            </a:r>
            <a:r>
              <a:rPr lang="en-US" sz="1300" dirty="0">
                <a:solidFill>
                  <a:srgbClr val="ECE7DC"/>
                </a:solidFill>
                <a:latin typeface="Malgun Gothic" pitchFamily="34" charset="0"/>
                <a:ea typeface="Malgun Gothic" pitchFamily="34" charset="-122"/>
                <a:cs typeface="Malgun Gothic" pitchFamily="34" charset="-120"/>
              </a:rPr>
              <a:t> </a:t>
            </a:r>
            <a:r>
              <a:rPr lang="en-US" sz="1300" dirty="0" err="1">
                <a:solidFill>
                  <a:srgbClr val="ECE7DC"/>
                </a:solidFill>
                <a:latin typeface="Malgun Gothic" pitchFamily="34" charset="0"/>
                <a:ea typeface="Malgun Gothic" pitchFamily="34" charset="-122"/>
                <a:cs typeface="Malgun Gothic" pitchFamily="34" charset="-120"/>
              </a:rPr>
              <a:t>데이터가</a:t>
            </a:r>
            <a:r>
              <a:rPr lang="en-US" sz="1300" dirty="0">
                <a:solidFill>
                  <a:srgbClr val="ECE7DC"/>
                </a:solidFill>
                <a:latin typeface="Malgun Gothic" pitchFamily="34" charset="0"/>
                <a:ea typeface="Malgun Gothic" pitchFamily="34" charset="-122"/>
                <a:cs typeface="Malgun Gothic" pitchFamily="34" charset="-120"/>
              </a:rPr>
              <a:t> </a:t>
            </a:r>
            <a:r>
              <a:rPr lang="ko-KR" altLang="en-US" sz="1300" dirty="0">
                <a:solidFill>
                  <a:srgbClr val="ECE7DC"/>
                </a:solidFill>
                <a:latin typeface="Malgun Gothic" pitchFamily="34" charset="0"/>
                <a:ea typeface="Malgun Gothic" pitchFamily="34" charset="-122"/>
                <a:cs typeface="Malgun Gothic" pitchFamily="34" charset="-120"/>
              </a:rPr>
              <a:t>많이 </a:t>
            </a:r>
            <a:r>
              <a:rPr lang="en-US" sz="1300" dirty="0" err="1">
                <a:solidFill>
                  <a:srgbClr val="ECE7DC"/>
                </a:solidFill>
                <a:latin typeface="Malgun Gothic" pitchFamily="34" charset="0"/>
                <a:ea typeface="Malgun Gothic" pitchFamily="34" charset="-122"/>
                <a:cs typeface="Malgun Gothic" pitchFamily="34" charset="-120"/>
              </a:rPr>
              <a:t>커지면</a:t>
            </a:r>
            <a:r>
              <a:rPr lang="en-US" sz="1300" dirty="0">
                <a:solidFill>
                  <a:srgbClr val="ECE7DC"/>
                </a:solidFill>
                <a:latin typeface="Malgun Gothic" pitchFamily="34" charset="0"/>
                <a:ea typeface="Malgun Gothic" pitchFamily="34" charset="-122"/>
                <a:cs typeface="Malgun Gothic" pitchFamily="34" charset="-120"/>
              </a:rPr>
              <a:t> 그대로 제약이 됨.</a:t>
            </a:r>
          </a:p>
          <a:p>
            <a:pPr marL="285750" indent="-285750">
              <a:lnSpc>
                <a:spcPts val="2100"/>
              </a:lnSpc>
              <a:buFont typeface="Arial" panose="020B0604020202020204" pitchFamily="34" charset="0"/>
              <a:buChar char="•"/>
            </a:pPr>
            <a:r>
              <a:rPr lang="ko-KR" altLang="en-US" sz="1300" dirty="0">
                <a:solidFill>
                  <a:srgbClr val="ECE7DC"/>
                </a:solidFill>
                <a:latin typeface="Malgun Gothic" pitchFamily="34" charset="0"/>
                <a:ea typeface="Malgun Gothic" pitchFamily="34" charset="-122"/>
              </a:rPr>
              <a:t>다만 엑셀로 직접 다루거나 </a:t>
            </a:r>
            <a:r>
              <a:rPr lang="ko-KR" altLang="en-US" sz="1300" dirty="0" err="1">
                <a:solidFill>
                  <a:srgbClr val="ECE7DC"/>
                </a:solidFill>
                <a:latin typeface="Malgun Gothic" pitchFamily="34" charset="0"/>
                <a:ea typeface="Malgun Gothic" pitchFamily="34" charset="-122"/>
              </a:rPr>
              <a:t>파이썬으로</a:t>
            </a:r>
            <a:r>
              <a:rPr lang="ko-KR" altLang="en-US" sz="1300" dirty="0">
                <a:solidFill>
                  <a:srgbClr val="ECE7DC"/>
                </a:solidFill>
                <a:latin typeface="Malgun Gothic" pitchFamily="34" charset="0"/>
                <a:ea typeface="Malgun Gothic" pitchFamily="34" charset="-122"/>
              </a:rPr>
              <a:t> 라이브러리 없이 직접 </a:t>
            </a:r>
            <a:r>
              <a:rPr lang="ko-KR" altLang="en-US" sz="1300" dirty="0" err="1">
                <a:solidFill>
                  <a:srgbClr val="ECE7DC"/>
                </a:solidFill>
                <a:latin typeface="Malgun Gothic" pitchFamily="34" charset="0"/>
                <a:ea typeface="Malgun Gothic" pitchFamily="34" charset="-122"/>
              </a:rPr>
              <a:t>핸들링하는</a:t>
            </a:r>
            <a:r>
              <a:rPr lang="ko-KR" altLang="en-US" sz="1300" dirty="0">
                <a:solidFill>
                  <a:srgbClr val="ECE7DC"/>
                </a:solidFill>
                <a:latin typeface="Malgun Gothic" pitchFamily="34" charset="0"/>
                <a:ea typeface="Malgun Gothic" pitchFamily="34" charset="-122"/>
              </a:rPr>
              <a:t> 것과 비교하면</a:t>
            </a:r>
            <a:r>
              <a:rPr lang="en-US" altLang="ko-KR" sz="1300" dirty="0">
                <a:solidFill>
                  <a:srgbClr val="ECE7DC"/>
                </a:solidFill>
                <a:latin typeface="Malgun Gothic" pitchFamily="34" charset="0"/>
                <a:ea typeface="Malgun Gothic" pitchFamily="34" charset="-122"/>
              </a:rPr>
              <a:t> pandas</a:t>
            </a:r>
            <a:r>
              <a:rPr lang="ko-KR" altLang="en-US" sz="1300" dirty="0">
                <a:solidFill>
                  <a:srgbClr val="ECE7DC"/>
                </a:solidFill>
                <a:latin typeface="Malgun Gothic" pitchFamily="34" charset="0"/>
                <a:ea typeface="Malgun Gothic" pitchFamily="34" charset="-122"/>
              </a:rPr>
              <a:t>는 이보다 훨씬 큰 데이터를 빠르게 처리 가능 </a:t>
            </a:r>
            <a:r>
              <a:rPr lang="en-US" altLang="ko-KR" sz="1300" dirty="0">
                <a:solidFill>
                  <a:srgbClr val="ECE7DC"/>
                </a:solidFill>
                <a:latin typeface="Malgun Gothic" pitchFamily="34" charset="0"/>
                <a:ea typeface="Malgun Gothic" pitchFamily="34" charset="-122"/>
              </a:rPr>
              <a:t> </a:t>
            </a:r>
            <a:endParaRPr lang="en-US" sz="1300" dirty="0"/>
          </a:p>
        </p:txBody>
      </p:sp>
      <p:sp>
        <p:nvSpPr>
          <p:cNvPr id="6" name="Shape 4"/>
          <p:cNvSpPr/>
          <p:nvPr/>
        </p:nvSpPr>
        <p:spPr>
          <a:xfrm>
            <a:off x="822960" y="2240280"/>
            <a:ext cx="3362858" cy="2743200"/>
          </a:xfrm>
          <a:prstGeom prst="rect">
            <a:avLst/>
          </a:prstGeom>
          <a:solidFill>
            <a:srgbClr val="1A1810"/>
          </a:solidFill>
          <a:ln w="12700">
            <a:solidFill>
              <a:srgbClr val="4A4430"/>
            </a:solidFill>
            <a:prstDash val="solid"/>
          </a:ln>
        </p:spPr>
      </p:sp>
      <p:sp>
        <p:nvSpPr>
          <p:cNvPr id="7" name="Text 5"/>
          <p:cNvSpPr/>
          <p:nvPr/>
        </p:nvSpPr>
        <p:spPr>
          <a:xfrm>
            <a:off x="1097280" y="245973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원인 1</a:t>
            </a:r>
            <a:endParaRPr lang="en-US" sz="900" dirty="0"/>
          </a:p>
        </p:txBody>
      </p:sp>
      <p:sp>
        <p:nvSpPr>
          <p:cNvPr id="8" name="Text 6"/>
          <p:cNvSpPr/>
          <p:nvPr/>
        </p:nvSpPr>
        <p:spPr>
          <a:xfrm>
            <a:off x="1097280" y="2788920"/>
            <a:ext cx="2814218" cy="320040"/>
          </a:xfrm>
          <a:prstGeom prst="rect">
            <a:avLst/>
          </a:prstGeom>
          <a:noFill/>
          <a:ln/>
        </p:spPr>
        <p:txBody>
          <a:bodyPr wrap="square" lIns="0" tIns="0" rIns="0" bIns="0" rtlCol="0" anchor="t"/>
          <a:lstStyle/>
          <a:p>
            <a:pPr marL="0" indent="0">
              <a:lnSpc>
                <a:spcPts val="2030"/>
              </a:lnSpc>
              <a:buNone/>
            </a:pPr>
            <a:r>
              <a:rPr lang="ko-KR" altLang="en-US" sz="1600" b="1" dirty="0">
                <a:solidFill>
                  <a:schemeClr val="bg1"/>
                </a:solidFill>
                <a:latin typeface="Malgun Gothic" pitchFamily="34" charset="0"/>
                <a:ea typeface="Malgun Gothic" pitchFamily="34" charset="-122"/>
                <a:cs typeface="Malgun Gothic" pitchFamily="34" charset="-120"/>
              </a:rPr>
              <a:t>데이터 전체를</a:t>
            </a:r>
            <a:r>
              <a:rPr lang="en-US" sz="1600" b="1" dirty="0">
                <a:solidFill>
                  <a:schemeClr val="bg1"/>
                </a:solidFill>
                <a:latin typeface="Malgun Gothic" pitchFamily="34" charset="0"/>
                <a:ea typeface="Malgun Gothic" pitchFamily="34" charset="-122"/>
                <a:cs typeface="Malgun Gothic" pitchFamily="34" charset="-120"/>
              </a:rPr>
              <a:t> 메모리 적재</a:t>
            </a:r>
            <a:endParaRPr lang="en-US" sz="1600" dirty="0">
              <a:solidFill>
                <a:schemeClr val="bg1"/>
              </a:solidFill>
            </a:endParaRPr>
          </a:p>
        </p:txBody>
      </p:sp>
      <p:sp>
        <p:nvSpPr>
          <p:cNvPr id="9" name="Text 7"/>
          <p:cNvSpPr/>
          <p:nvPr/>
        </p:nvSpPr>
        <p:spPr>
          <a:xfrm>
            <a:off x="1097280" y="3200400"/>
            <a:ext cx="2814218" cy="1676400"/>
          </a:xfrm>
          <a:prstGeom prst="rect">
            <a:avLst/>
          </a:prstGeom>
          <a:noFill/>
          <a:ln/>
        </p:spPr>
        <p:txBody>
          <a:bodyPr wrap="square" lIns="0" tIns="0" rIns="0" bIns="0" rtlCol="0" anchor="t"/>
          <a:lstStyle/>
          <a:p>
            <a:pPr marL="171450" indent="-171450">
              <a:lnSpc>
                <a:spcPts val="1700"/>
              </a:lnSpc>
              <a:buFont typeface="Arial" panose="020B0604020202020204" pitchFamily="34" charset="0"/>
              <a:buChar char="•"/>
            </a:pPr>
            <a:r>
              <a:rPr lang="en-US" sz="1100" dirty="0">
                <a:solidFill>
                  <a:schemeClr val="bg1"/>
                </a:solidFill>
                <a:latin typeface="Malgun Gothic" pitchFamily="34" charset="0"/>
                <a:ea typeface="Malgun Gothic" pitchFamily="34" charset="-122"/>
                <a:cs typeface="Malgun Gothic" pitchFamily="34" charset="-120"/>
              </a:rPr>
              <a:t>파일 전체를 메모리에 올린 뒤 </a:t>
            </a:r>
            <a:r>
              <a:rPr lang="en-US" sz="1100" dirty="0" err="1">
                <a:solidFill>
                  <a:schemeClr val="bg1"/>
                </a:solidFill>
                <a:latin typeface="Malgun Gothic" pitchFamily="34" charset="0"/>
                <a:ea typeface="Malgun Gothic" pitchFamily="34" charset="-122"/>
                <a:cs typeface="Malgun Gothic" pitchFamily="34" charset="-120"/>
              </a:rPr>
              <a:t>작업</a:t>
            </a:r>
            <a:r>
              <a:rPr lang="ko-KR" altLang="en-US" sz="1100" dirty="0">
                <a:solidFill>
                  <a:schemeClr val="bg1"/>
                </a:solidFill>
                <a:latin typeface="Malgun Gothic" pitchFamily="34" charset="0"/>
                <a:ea typeface="Malgun Gothic" pitchFamily="34" charset="-122"/>
                <a:cs typeface="Malgun Gothic" pitchFamily="34" charset="-120"/>
              </a:rPr>
              <a:t>함</a:t>
            </a:r>
            <a:r>
              <a:rPr lang="en-US" altLang="ko-KR" sz="1100" dirty="0">
                <a:solidFill>
                  <a:schemeClr val="bg1"/>
                </a:solidFill>
                <a:latin typeface="Malgun Gothic" pitchFamily="34" charset="0"/>
                <a:ea typeface="Malgun Gothic" pitchFamily="34" charset="-122"/>
                <a:cs typeface="Malgun Gothic" pitchFamily="34" charset="-120"/>
              </a:rPr>
              <a:t>.</a:t>
            </a:r>
          </a:p>
          <a:p>
            <a:pPr marL="171450" indent="-171450">
              <a:lnSpc>
                <a:spcPts val="1700"/>
              </a:lnSpc>
              <a:buFont typeface="Arial" panose="020B0604020202020204" pitchFamily="34" charset="0"/>
              <a:buChar char="•"/>
            </a:pPr>
            <a:endParaRPr lang="en-US" sz="1100" dirty="0">
              <a:solidFill>
                <a:schemeClr val="bg1"/>
              </a:solidFill>
              <a:latin typeface="Malgun Gothic" pitchFamily="34" charset="0"/>
              <a:ea typeface="Malgun Gothic" pitchFamily="34" charset="-122"/>
              <a:cs typeface="Malgun Gothic" pitchFamily="34" charset="-120"/>
            </a:endParaRPr>
          </a:p>
          <a:p>
            <a:pPr marL="171450" indent="-171450">
              <a:lnSpc>
                <a:spcPts val="1700"/>
              </a:lnSpc>
              <a:buFont typeface="Arial" panose="020B0604020202020204" pitchFamily="34" charset="0"/>
              <a:buChar char="•"/>
            </a:pPr>
            <a:r>
              <a:rPr lang="ko-KR" altLang="en-US" sz="1100" dirty="0">
                <a:solidFill>
                  <a:schemeClr val="bg1"/>
                </a:solidFill>
                <a:latin typeface="Malgun Gothic" pitchFamily="34" charset="0"/>
                <a:ea typeface="Malgun Gothic" pitchFamily="34" charset="-122"/>
                <a:cs typeface="Malgun Gothic" pitchFamily="34" charset="-120"/>
              </a:rPr>
              <a:t>필요한 메모리가</a:t>
            </a:r>
            <a:r>
              <a:rPr lang="en-US" altLang="ko-KR" sz="1100" dirty="0">
                <a:solidFill>
                  <a:schemeClr val="bg1"/>
                </a:solidFill>
                <a:latin typeface="Malgun Gothic" pitchFamily="34" charset="0"/>
                <a:ea typeface="Malgun Gothic" pitchFamily="34" charset="-122"/>
                <a:cs typeface="Malgun Gothic" pitchFamily="34" charset="-120"/>
              </a:rPr>
              <a:t> RAM</a:t>
            </a:r>
            <a:r>
              <a:rPr lang="ko-KR" altLang="en-US" sz="1100" dirty="0">
                <a:solidFill>
                  <a:schemeClr val="bg1"/>
                </a:solidFill>
                <a:latin typeface="Malgun Gothic" pitchFamily="34" charset="0"/>
                <a:ea typeface="Malgun Gothic" pitchFamily="34" charset="-122"/>
                <a:cs typeface="Malgun Gothic" pitchFamily="34" charset="-120"/>
              </a:rPr>
              <a:t> 크기를 넘기면 느려지는 게 아니라 </a:t>
            </a:r>
            <a:r>
              <a:rPr lang="en-US" altLang="ko-KR" sz="1100" dirty="0" err="1">
                <a:solidFill>
                  <a:schemeClr val="bg1"/>
                </a:solidFill>
                <a:latin typeface="Malgun Gothic" pitchFamily="34" charset="0"/>
                <a:ea typeface="Malgun Gothic" pitchFamily="34" charset="-122"/>
                <a:cs typeface="Malgun Gothic" pitchFamily="34" charset="-120"/>
              </a:rPr>
              <a:t>MemoryError</a:t>
            </a:r>
            <a:r>
              <a:rPr lang="ko-KR" altLang="en-US" sz="1100" dirty="0">
                <a:solidFill>
                  <a:schemeClr val="bg1"/>
                </a:solidFill>
                <a:latin typeface="Malgun Gothic" pitchFamily="34" charset="0"/>
                <a:ea typeface="Malgun Gothic" pitchFamily="34" charset="-122"/>
                <a:cs typeface="Malgun Gothic" pitchFamily="34" charset="-120"/>
              </a:rPr>
              <a:t>나 커널 강제 종료로 끝남</a:t>
            </a:r>
            <a:endParaRPr lang="en-US" altLang="ko-KR" sz="1100" dirty="0">
              <a:solidFill>
                <a:schemeClr val="bg1"/>
              </a:solidFill>
              <a:latin typeface="Malgun Gothic" pitchFamily="34" charset="0"/>
              <a:ea typeface="Malgun Gothic" pitchFamily="34" charset="-122"/>
              <a:cs typeface="Malgun Gothic" pitchFamily="34" charset="-120"/>
            </a:endParaRPr>
          </a:p>
          <a:p>
            <a:pPr marL="171450" indent="-171450">
              <a:lnSpc>
                <a:spcPts val="1700"/>
              </a:lnSpc>
              <a:buFont typeface="Arial" panose="020B0604020202020204" pitchFamily="34" charset="0"/>
              <a:buChar char="•"/>
            </a:pPr>
            <a:endParaRPr lang="en-US" sz="1100" dirty="0">
              <a:solidFill>
                <a:schemeClr val="bg1"/>
              </a:solidFill>
              <a:latin typeface="Malgun Gothic" pitchFamily="34" charset="0"/>
              <a:ea typeface="Malgun Gothic" pitchFamily="34" charset="-122"/>
            </a:endParaRPr>
          </a:p>
          <a:p>
            <a:pPr marL="171450" indent="-171450">
              <a:lnSpc>
                <a:spcPts val="1700"/>
              </a:lnSpc>
              <a:buFont typeface="Arial" panose="020B0604020202020204" pitchFamily="34" charset="0"/>
              <a:buChar char="•"/>
            </a:pPr>
            <a:r>
              <a:rPr lang="ko-KR" altLang="en-US" sz="1100" dirty="0">
                <a:solidFill>
                  <a:schemeClr val="bg1"/>
                </a:solidFill>
              </a:rPr>
              <a:t>문자열 컬럼 비중이 크면 필요한 메모리가 파일 크기의 수 배까지 늘어남</a:t>
            </a:r>
            <a:endParaRPr lang="en-US" sz="1100" dirty="0">
              <a:solidFill>
                <a:schemeClr val="bg1"/>
              </a:solidFill>
            </a:endParaRPr>
          </a:p>
        </p:txBody>
      </p:sp>
      <p:sp>
        <p:nvSpPr>
          <p:cNvPr id="10" name="Shape 8"/>
          <p:cNvSpPr/>
          <p:nvPr/>
        </p:nvSpPr>
        <p:spPr>
          <a:xfrm>
            <a:off x="4414418" y="2240280"/>
            <a:ext cx="3362858" cy="2743200"/>
          </a:xfrm>
          <a:prstGeom prst="rect">
            <a:avLst/>
          </a:prstGeom>
          <a:solidFill>
            <a:srgbClr val="1A1810"/>
          </a:solidFill>
          <a:ln w="12700">
            <a:solidFill>
              <a:srgbClr val="4A4430"/>
            </a:solidFill>
            <a:prstDash val="solid"/>
          </a:ln>
        </p:spPr>
      </p:sp>
      <p:sp>
        <p:nvSpPr>
          <p:cNvPr id="11" name="Text 9"/>
          <p:cNvSpPr/>
          <p:nvPr/>
        </p:nvSpPr>
        <p:spPr>
          <a:xfrm>
            <a:off x="4688738" y="245973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원인 2</a:t>
            </a:r>
            <a:endParaRPr lang="en-US" sz="900" dirty="0"/>
          </a:p>
        </p:txBody>
      </p:sp>
      <p:sp>
        <p:nvSpPr>
          <p:cNvPr id="12" name="Text 10"/>
          <p:cNvSpPr/>
          <p:nvPr/>
        </p:nvSpPr>
        <p:spPr>
          <a:xfrm>
            <a:off x="4688738" y="2788920"/>
            <a:ext cx="2814218" cy="320040"/>
          </a:xfrm>
          <a:prstGeom prst="rect">
            <a:avLst/>
          </a:prstGeom>
          <a:noFill/>
          <a:ln/>
        </p:spPr>
        <p:txBody>
          <a:bodyPr wrap="square" lIns="0" tIns="0" rIns="0" bIns="0" rtlCol="0" anchor="t"/>
          <a:lstStyle/>
          <a:p>
            <a:pPr marL="0" indent="0">
              <a:lnSpc>
                <a:spcPts val="2030"/>
              </a:lnSpc>
              <a:buNone/>
            </a:pPr>
            <a:r>
              <a:rPr lang="en-US" sz="1600" b="1" dirty="0">
                <a:solidFill>
                  <a:schemeClr val="bg1"/>
                </a:solidFill>
                <a:latin typeface="Malgun Gothic" pitchFamily="34" charset="0"/>
                <a:ea typeface="Malgun Gothic" pitchFamily="34" charset="-122"/>
                <a:cs typeface="Malgun Gothic" pitchFamily="34" charset="-120"/>
              </a:rPr>
              <a:t>단일 스레드 실행</a:t>
            </a:r>
            <a:endParaRPr lang="en-US" sz="1600" dirty="0">
              <a:solidFill>
                <a:schemeClr val="bg1"/>
              </a:solidFill>
            </a:endParaRPr>
          </a:p>
        </p:txBody>
      </p:sp>
      <p:sp>
        <p:nvSpPr>
          <p:cNvPr id="13" name="Text 11"/>
          <p:cNvSpPr/>
          <p:nvPr/>
        </p:nvSpPr>
        <p:spPr>
          <a:xfrm>
            <a:off x="4688738" y="3200400"/>
            <a:ext cx="2814218" cy="1389888"/>
          </a:xfrm>
          <a:prstGeom prst="rect">
            <a:avLst/>
          </a:prstGeom>
          <a:noFill/>
          <a:ln/>
        </p:spPr>
        <p:txBody>
          <a:bodyPr wrap="square" lIns="0" tIns="0" rIns="0" bIns="0" rtlCol="0" anchor="t"/>
          <a:lstStyle/>
          <a:p>
            <a:pPr marL="171450" indent="-171450">
              <a:lnSpc>
                <a:spcPts val="1700"/>
              </a:lnSpc>
              <a:buFont typeface="Arial" panose="020B0604020202020204" pitchFamily="34" charset="0"/>
              <a:buChar char="•"/>
            </a:pPr>
            <a:r>
              <a:rPr lang="en-US" sz="1100" dirty="0" err="1">
                <a:solidFill>
                  <a:schemeClr val="bg1"/>
                </a:solidFill>
                <a:latin typeface="Malgun Gothic" pitchFamily="34" charset="0"/>
                <a:ea typeface="Malgun Gothic" pitchFamily="34" charset="-122"/>
                <a:cs typeface="Malgun Gothic" pitchFamily="34" charset="-120"/>
              </a:rPr>
              <a:t>Groupby</a:t>
            </a:r>
            <a:r>
              <a:rPr lang="en-US" sz="1100" dirty="0">
                <a:solidFill>
                  <a:schemeClr val="bg1"/>
                </a:solidFill>
                <a:latin typeface="Malgun Gothic" pitchFamily="34" charset="0"/>
                <a:ea typeface="Malgun Gothic" pitchFamily="34" charset="-122"/>
                <a:cs typeface="Malgun Gothic" pitchFamily="34" charset="-120"/>
              </a:rPr>
              <a:t>, join, sort </a:t>
            </a:r>
            <a:r>
              <a:rPr lang="ko-KR" altLang="en-US" sz="1100" dirty="0">
                <a:solidFill>
                  <a:schemeClr val="bg1"/>
                </a:solidFill>
                <a:latin typeface="Malgun Gothic" pitchFamily="34" charset="0"/>
                <a:ea typeface="Malgun Gothic" pitchFamily="34" charset="-122"/>
                <a:cs typeface="Malgun Gothic" pitchFamily="34" charset="-120"/>
              </a:rPr>
              <a:t>같은 </a:t>
            </a:r>
            <a:r>
              <a:rPr lang="en-US" sz="1100" dirty="0" err="1">
                <a:solidFill>
                  <a:schemeClr val="bg1"/>
                </a:solidFill>
                <a:latin typeface="Malgun Gothic" pitchFamily="34" charset="0"/>
                <a:ea typeface="Malgun Gothic" pitchFamily="34" charset="-122"/>
                <a:cs typeface="Malgun Gothic" pitchFamily="34" charset="-120"/>
              </a:rPr>
              <a:t>pandas의</a:t>
            </a:r>
            <a:r>
              <a:rPr lang="en-US" sz="1100" dirty="0">
                <a:solidFill>
                  <a:schemeClr val="bg1"/>
                </a:solidFill>
                <a:latin typeface="Malgun Gothic" pitchFamily="34" charset="0"/>
                <a:ea typeface="Malgun Gothic" pitchFamily="34" charset="-122"/>
                <a:cs typeface="Malgun Gothic" pitchFamily="34" charset="-120"/>
              </a:rPr>
              <a:t> 주요 연산은 한 번에 한 스레드로 동작. </a:t>
            </a:r>
            <a:r>
              <a:rPr lang="ko-KR" altLang="en-US" sz="1100" dirty="0">
                <a:solidFill>
                  <a:schemeClr val="bg1"/>
                </a:solidFill>
                <a:latin typeface="Malgun Gothic" pitchFamily="34" charset="0"/>
                <a:ea typeface="Malgun Gothic" pitchFamily="34" charset="-122"/>
                <a:cs typeface="Malgun Gothic" pitchFamily="34" charset="-120"/>
              </a:rPr>
              <a:t>멀티 스레드로 작동하는 부분도 있지만 주요 연산이 싱글 스레드라 어차피 병목 발생</a:t>
            </a:r>
            <a:endParaRPr lang="en-US" altLang="ko-KR" sz="1100" dirty="0">
              <a:solidFill>
                <a:schemeClr val="bg1"/>
              </a:solidFill>
              <a:latin typeface="Malgun Gothic" pitchFamily="34" charset="0"/>
              <a:ea typeface="Malgun Gothic" pitchFamily="34" charset="-122"/>
              <a:cs typeface="Malgun Gothic" pitchFamily="34" charset="-120"/>
            </a:endParaRPr>
          </a:p>
          <a:p>
            <a:pPr marL="171450" indent="-171450">
              <a:lnSpc>
                <a:spcPts val="1700"/>
              </a:lnSpc>
              <a:buFont typeface="Arial" panose="020B0604020202020204" pitchFamily="34" charset="0"/>
              <a:buChar char="•"/>
            </a:pPr>
            <a:endParaRPr lang="en-US" sz="1100" dirty="0">
              <a:solidFill>
                <a:schemeClr val="bg1"/>
              </a:solidFill>
              <a:latin typeface="Malgun Gothic" pitchFamily="34" charset="0"/>
              <a:ea typeface="Malgun Gothic" pitchFamily="34" charset="-122"/>
              <a:cs typeface="Malgun Gothic" pitchFamily="34" charset="-120"/>
            </a:endParaRPr>
          </a:p>
          <a:p>
            <a:pPr marL="171450" indent="-171450">
              <a:lnSpc>
                <a:spcPts val="1700"/>
              </a:lnSpc>
              <a:buFont typeface="Arial" panose="020B0604020202020204" pitchFamily="34" charset="0"/>
              <a:buChar char="•"/>
            </a:pPr>
            <a:r>
              <a:rPr lang="en-US" sz="1100" dirty="0">
                <a:solidFill>
                  <a:schemeClr val="bg1"/>
                </a:solidFill>
                <a:latin typeface="Malgun Gothic" pitchFamily="34" charset="0"/>
                <a:ea typeface="Malgun Gothic" pitchFamily="34" charset="-122"/>
                <a:cs typeface="Malgun Gothic" pitchFamily="34" charset="-120"/>
              </a:rPr>
              <a:t>CPU 코어가 8개든 16개든 대부분 한 개만 사용하고 </a:t>
            </a:r>
            <a:r>
              <a:rPr lang="en-US" sz="1100" dirty="0" err="1">
                <a:solidFill>
                  <a:schemeClr val="bg1"/>
                </a:solidFill>
                <a:latin typeface="Malgun Gothic" pitchFamily="34" charset="0"/>
                <a:ea typeface="Malgun Gothic" pitchFamily="34" charset="-122"/>
                <a:cs typeface="Malgun Gothic" pitchFamily="34" charset="-120"/>
              </a:rPr>
              <a:t>나머지는</a:t>
            </a:r>
            <a:r>
              <a:rPr lang="en-US" sz="1100" dirty="0">
                <a:solidFill>
                  <a:schemeClr val="bg1"/>
                </a:solidFill>
                <a:latin typeface="Malgun Gothic" pitchFamily="34" charset="0"/>
                <a:ea typeface="Malgun Gothic" pitchFamily="34" charset="-122"/>
                <a:cs typeface="Malgun Gothic" pitchFamily="34" charset="-120"/>
              </a:rPr>
              <a:t> </a:t>
            </a:r>
            <a:r>
              <a:rPr lang="en-US" sz="1100" dirty="0" err="1">
                <a:solidFill>
                  <a:schemeClr val="bg1"/>
                </a:solidFill>
                <a:latin typeface="Malgun Gothic" pitchFamily="34" charset="0"/>
                <a:ea typeface="Malgun Gothic" pitchFamily="34" charset="-122"/>
                <a:cs typeface="Malgun Gothic" pitchFamily="34" charset="-120"/>
              </a:rPr>
              <a:t>대기</a:t>
            </a:r>
            <a:r>
              <a:rPr lang="ko-KR" altLang="en-US" sz="1100" dirty="0">
                <a:solidFill>
                  <a:schemeClr val="bg1"/>
                </a:solidFill>
                <a:latin typeface="Malgun Gothic" pitchFamily="34" charset="0"/>
                <a:ea typeface="Malgun Gothic" pitchFamily="34" charset="-122"/>
                <a:cs typeface="Malgun Gothic" pitchFamily="34" charset="-120"/>
              </a:rPr>
              <a:t>해서 처리 시간 그대로</a:t>
            </a:r>
            <a:r>
              <a:rPr lang="en-US" altLang="ko-KR" sz="1100" dirty="0">
                <a:solidFill>
                  <a:schemeClr val="bg1"/>
                </a:solidFill>
                <a:latin typeface="Malgun Gothic" pitchFamily="34" charset="0"/>
                <a:ea typeface="Malgun Gothic" pitchFamily="34" charset="-122"/>
                <a:cs typeface="Malgun Gothic" pitchFamily="34" charset="-120"/>
              </a:rPr>
              <a:t>.</a:t>
            </a:r>
            <a:endParaRPr lang="en-US" sz="1100" dirty="0">
              <a:solidFill>
                <a:schemeClr val="bg1"/>
              </a:solidFill>
            </a:endParaRPr>
          </a:p>
        </p:txBody>
      </p:sp>
      <p:sp>
        <p:nvSpPr>
          <p:cNvPr id="14" name="Shape 12"/>
          <p:cNvSpPr/>
          <p:nvPr/>
        </p:nvSpPr>
        <p:spPr>
          <a:xfrm>
            <a:off x="8005877" y="2240280"/>
            <a:ext cx="3362858" cy="2743200"/>
          </a:xfrm>
          <a:prstGeom prst="rect">
            <a:avLst/>
          </a:prstGeom>
          <a:solidFill>
            <a:srgbClr val="1A1810"/>
          </a:solidFill>
          <a:ln w="12700">
            <a:solidFill>
              <a:srgbClr val="4A4430"/>
            </a:solidFill>
            <a:prstDash val="solid"/>
          </a:ln>
        </p:spPr>
      </p:sp>
      <p:sp>
        <p:nvSpPr>
          <p:cNvPr id="15" name="Text 13"/>
          <p:cNvSpPr/>
          <p:nvPr/>
        </p:nvSpPr>
        <p:spPr>
          <a:xfrm>
            <a:off x="8280197" y="2459736"/>
            <a:ext cx="2814218"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원인 3</a:t>
            </a:r>
            <a:endParaRPr lang="en-US" sz="900" dirty="0"/>
          </a:p>
        </p:txBody>
      </p:sp>
      <p:sp>
        <p:nvSpPr>
          <p:cNvPr id="16" name="Text 14"/>
          <p:cNvSpPr/>
          <p:nvPr/>
        </p:nvSpPr>
        <p:spPr>
          <a:xfrm>
            <a:off x="8280197" y="2788920"/>
            <a:ext cx="2814218" cy="320040"/>
          </a:xfrm>
          <a:prstGeom prst="rect">
            <a:avLst/>
          </a:prstGeom>
          <a:noFill/>
          <a:ln/>
        </p:spPr>
        <p:txBody>
          <a:bodyPr wrap="square" lIns="0" tIns="0" rIns="0" bIns="0" rtlCol="0" anchor="t"/>
          <a:lstStyle/>
          <a:p>
            <a:pPr marL="0" indent="0">
              <a:lnSpc>
                <a:spcPts val="2030"/>
              </a:lnSpc>
              <a:buNone/>
            </a:pPr>
            <a:r>
              <a:rPr lang="en-US" sz="1600" b="1" dirty="0" err="1">
                <a:solidFill>
                  <a:schemeClr val="bg1"/>
                </a:solidFill>
                <a:latin typeface="Malgun Gothic" pitchFamily="34" charset="0"/>
                <a:ea typeface="Malgun Gothic" pitchFamily="34" charset="-122"/>
                <a:cs typeface="Malgun Gothic" pitchFamily="34" charset="-120"/>
              </a:rPr>
              <a:t>즉시</a:t>
            </a:r>
            <a:r>
              <a:rPr lang="en-US" sz="1600" b="1" dirty="0">
                <a:solidFill>
                  <a:schemeClr val="bg1"/>
                </a:solidFill>
                <a:latin typeface="Malgun Gothic" pitchFamily="34" charset="0"/>
                <a:ea typeface="Malgun Gothic" pitchFamily="34" charset="-122"/>
                <a:cs typeface="Malgun Gothic" pitchFamily="34" charset="-120"/>
              </a:rPr>
              <a:t> </a:t>
            </a:r>
            <a:r>
              <a:rPr lang="en-US" sz="1600" b="1" dirty="0" err="1">
                <a:solidFill>
                  <a:schemeClr val="bg1"/>
                </a:solidFill>
                <a:latin typeface="Malgun Gothic" pitchFamily="34" charset="0"/>
                <a:ea typeface="Malgun Gothic" pitchFamily="34" charset="-122"/>
                <a:cs typeface="Malgun Gothic" pitchFamily="34" charset="-120"/>
              </a:rPr>
              <a:t>실행</a:t>
            </a:r>
            <a:endParaRPr lang="en-US" sz="1600" dirty="0">
              <a:solidFill>
                <a:schemeClr val="bg1"/>
              </a:solidFill>
            </a:endParaRPr>
          </a:p>
        </p:txBody>
      </p:sp>
      <p:sp>
        <p:nvSpPr>
          <p:cNvPr id="17" name="Text 15"/>
          <p:cNvSpPr/>
          <p:nvPr/>
        </p:nvSpPr>
        <p:spPr>
          <a:xfrm>
            <a:off x="8280197" y="3200400"/>
            <a:ext cx="2814218" cy="1783080"/>
          </a:xfrm>
          <a:prstGeom prst="rect">
            <a:avLst/>
          </a:prstGeom>
          <a:noFill/>
          <a:ln/>
        </p:spPr>
        <p:txBody>
          <a:bodyPr wrap="square" lIns="0" tIns="0" rIns="0" bIns="0" rtlCol="0" anchor="t"/>
          <a:lstStyle/>
          <a:p>
            <a:pPr marL="171450" indent="-171450">
              <a:lnSpc>
                <a:spcPts val="1700"/>
              </a:lnSpc>
              <a:buFont typeface="Arial" panose="020B0604020202020204" pitchFamily="34" charset="0"/>
              <a:buChar char="•"/>
            </a:pPr>
            <a:r>
              <a:rPr lang="en-US" sz="1100" dirty="0" err="1">
                <a:solidFill>
                  <a:schemeClr val="bg1"/>
                </a:solidFill>
                <a:latin typeface="Malgun Gothic" pitchFamily="34" charset="0"/>
                <a:ea typeface="Malgun Gothic" pitchFamily="34" charset="-122"/>
                <a:cs typeface="Malgun Gothic" pitchFamily="34" charset="-120"/>
              </a:rPr>
              <a:t>전체</a:t>
            </a:r>
            <a:r>
              <a:rPr lang="en-US" sz="1100" dirty="0">
                <a:solidFill>
                  <a:schemeClr val="bg1"/>
                </a:solidFill>
                <a:latin typeface="Malgun Gothic" pitchFamily="34" charset="0"/>
                <a:ea typeface="Malgun Gothic" pitchFamily="34" charset="-122"/>
                <a:cs typeface="Malgun Gothic" pitchFamily="34" charset="-120"/>
              </a:rPr>
              <a:t> 작업을 </a:t>
            </a:r>
            <a:r>
              <a:rPr lang="en-US" sz="1100" dirty="0" err="1">
                <a:solidFill>
                  <a:schemeClr val="bg1"/>
                </a:solidFill>
                <a:latin typeface="Malgun Gothic" pitchFamily="34" charset="0"/>
                <a:ea typeface="Malgun Gothic" pitchFamily="34" charset="-122"/>
                <a:cs typeface="Malgun Gothic" pitchFamily="34" charset="-120"/>
              </a:rPr>
              <a:t>미리</a:t>
            </a:r>
            <a:r>
              <a:rPr lang="en-US" sz="1100" dirty="0">
                <a:solidFill>
                  <a:schemeClr val="bg1"/>
                </a:solidFill>
                <a:latin typeface="Malgun Gothic" pitchFamily="34" charset="0"/>
                <a:ea typeface="Malgun Gothic" pitchFamily="34" charset="-122"/>
                <a:cs typeface="Malgun Gothic" pitchFamily="34" charset="-120"/>
              </a:rPr>
              <a:t> </a:t>
            </a:r>
            <a:r>
              <a:rPr lang="ko-KR" altLang="en-US" sz="1100" dirty="0">
                <a:solidFill>
                  <a:schemeClr val="bg1"/>
                </a:solidFill>
                <a:latin typeface="Malgun Gothic" pitchFamily="34" charset="0"/>
                <a:ea typeface="Malgun Gothic" pitchFamily="34" charset="-122"/>
                <a:cs typeface="Malgun Gothic" pitchFamily="34" charset="-120"/>
              </a:rPr>
              <a:t>확인하여</a:t>
            </a:r>
            <a:r>
              <a:rPr lang="en-US" sz="1100" dirty="0">
                <a:solidFill>
                  <a:schemeClr val="bg1"/>
                </a:solidFill>
                <a:latin typeface="Malgun Gothic" pitchFamily="34" charset="0"/>
                <a:ea typeface="Malgun Gothic" pitchFamily="34" charset="-122"/>
                <a:cs typeface="Malgun Gothic" pitchFamily="34" charset="-120"/>
              </a:rPr>
              <a:t> 순서를 </a:t>
            </a:r>
            <a:r>
              <a:rPr lang="en-US" sz="1100" dirty="0" err="1">
                <a:solidFill>
                  <a:schemeClr val="bg1"/>
                </a:solidFill>
                <a:latin typeface="Malgun Gothic" pitchFamily="34" charset="0"/>
                <a:ea typeface="Malgun Gothic" pitchFamily="34" charset="-122"/>
                <a:cs typeface="Malgun Gothic" pitchFamily="34" charset="-120"/>
              </a:rPr>
              <a:t>최적화하지</a:t>
            </a:r>
            <a:r>
              <a:rPr lang="en-US" sz="1100" dirty="0">
                <a:solidFill>
                  <a:schemeClr val="bg1"/>
                </a:solidFill>
                <a:latin typeface="Malgun Gothic" pitchFamily="34" charset="0"/>
                <a:ea typeface="Malgun Gothic" pitchFamily="34" charset="-122"/>
                <a:cs typeface="Malgun Gothic" pitchFamily="34" charset="-120"/>
              </a:rPr>
              <a:t> 않</a:t>
            </a:r>
            <a:r>
              <a:rPr lang="ko-KR" altLang="en-US" sz="1100" dirty="0">
                <a:solidFill>
                  <a:schemeClr val="bg1"/>
                </a:solidFill>
                <a:latin typeface="Malgun Gothic" pitchFamily="34" charset="0"/>
                <a:ea typeface="Malgun Gothic" pitchFamily="34" charset="-122"/>
                <a:cs typeface="Malgun Gothic" pitchFamily="34" charset="-120"/>
              </a:rPr>
              <a:t>고</a:t>
            </a:r>
            <a:r>
              <a:rPr lang="en-US" altLang="ko-KR" sz="1100" dirty="0">
                <a:solidFill>
                  <a:schemeClr val="bg1"/>
                </a:solidFill>
                <a:latin typeface="Malgun Gothic" pitchFamily="34" charset="0"/>
                <a:ea typeface="Malgun Gothic" pitchFamily="34" charset="-122"/>
                <a:cs typeface="Malgun Gothic" pitchFamily="34" charset="-120"/>
              </a:rPr>
              <a:t>, </a:t>
            </a:r>
            <a:r>
              <a:rPr lang="ko-KR" altLang="en-US" sz="1100" dirty="0">
                <a:solidFill>
                  <a:schemeClr val="bg1"/>
                </a:solidFill>
                <a:latin typeface="Malgun Gothic" pitchFamily="34" charset="0"/>
                <a:ea typeface="Malgun Gothic" pitchFamily="34" charset="-122"/>
                <a:cs typeface="Malgun Gothic" pitchFamily="34" charset="-120"/>
              </a:rPr>
              <a:t>데이터 처리 요청오면 한 줄씩 즉시 계산</a:t>
            </a:r>
            <a:endParaRPr lang="en-US" altLang="ko-KR" sz="1100" dirty="0">
              <a:solidFill>
                <a:schemeClr val="bg1"/>
              </a:solidFill>
              <a:latin typeface="Malgun Gothic" pitchFamily="34" charset="0"/>
              <a:ea typeface="Malgun Gothic" pitchFamily="34" charset="-122"/>
              <a:cs typeface="Malgun Gothic" pitchFamily="34" charset="-120"/>
            </a:endParaRPr>
          </a:p>
          <a:p>
            <a:pPr>
              <a:lnSpc>
                <a:spcPts val="1700"/>
              </a:lnSpc>
            </a:pPr>
            <a:endParaRPr lang="en-US" sz="1100" dirty="0">
              <a:solidFill>
                <a:schemeClr val="bg1"/>
              </a:solidFill>
            </a:endParaRPr>
          </a:p>
          <a:p>
            <a:pPr marL="171450" indent="-171450">
              <a:lnSpc>
                <a:spcPts val="1700"/>
              </a:lnSpc>
              <a:buFont typeface="Arial" panose="020B0604020202020204" pitchFamily="34" charset="0"/>
              <a:buChar char="•"/>
            </a:pPr>
            <a:r>
              <a:rPr lang="ko-KR" altLang="en-US" sz="1100" dirty="0">
                <a:solidFill>
                  <a:schemeClr val="bg1"/>
                </a:solidFill>
              </a:rPr>
              <a:t>주피터 노트북 사용했던 것을 떠오르면 쉬움</a:t>
            </a:r>
            <a:r>
              <a:rPr lang="en-US" altLang="ko-KR" sz="1100" dirty="0">
                <a:solidFill>
                  <a:schemeClr val="bg1"/>
                </a:solidFill>
              </a:rPr>
              <a:t>. </a:t>
            </a:r>
            <a:r>
              <a:rPr lang="ko-KR" altLang="en-US" sz="1100" dirty="0">
                <a:solidFill>
                  <a:schemeClr val="bg1"/>
                </a:solidFill>
              </a:rPr>
              <a:t>예를 들어 아래 코드를 치면 뒤에 작업 뭐 올지 신경 안 쓰고 그 순간에 바로 처리</a:t>
            </a:r>
            <a:endParaRPr lang="en-US" altLang="ko-KR" sz="1100" dirty="0">
              <a:solidFill>
                <a:schemeClr val="bg1"/>
              </a:solidFill>
            </a:endParaRPr>
          </a:p>
          <a:p>
            <a:pPr marL="171450" indent="-171450">
              <a:lnSpc>
                <a:spcPts val="1700"/>
              </a:lnSpc>
              <a:buFont typeface="Arial" panose="020B0604020202020204" pitchFamily="34" charset="0"/>
              <a:buChar char="•"/>
            </a:pPr>
            <a:r>
              <a:rPr lang="en-US" sz="1100" dirty="0" err="1">
                <a:solidFill>
                  <a:schemeClr val="bg1"/>
                </a:solidFill>
              </a:rPr>
              <a:t>df</a:t>
            </a:r>
            <a:r>
              <a:rPr lang="en-US" sz="1100" dirty="0">
                <a:solidFill>
                  <a:schemeClr val="bg1"/>
                </a:solidFill>
              </a:rPr>
              <a:t>[</a:t>
            </a:r>
            <a:r>
              <a:rPr lang="en-US" sz="1100" dirty="0" err="1">
                <a:solidFill>
                  <a:schemeClr val="bg1"/>
                </a:solidFill>
              </a:rPr>
              <a:t>df</a:t>
            </a:r>
            <a:r>
              <a:rPr lang="en-US" sz="1100" dirty="0">
                <a:solidFill>
                  <a:schemeClr val="bg1"/>
                </a:solidFill>
              </a:rPr>
              <a:t>["status"] == 500]</a:t>
            </a:r>
          </a:p>
        </p:txBody>
      </p:sp>
      <p:sp>
        <p:nvSpPr>
          <p:cNvPr id="18" name="Shape 16"/>
          <p:cNvSpPr/>
          <p:nvPr/>
        </p:nvSpPr>
        <p:spPr>
          <a:xfrm>
            <a:off x="822960" y="5385816"/>
            <a:ext cx="10545775" cy="1234440"/>
          </a:xfrm>
          <a:prstGeom prst="rect">
            <a:avLst/>
          </a:prstGeom>
          <a:solidFill>
            <a:srgbClr val="121110"/>
          </a:solidFill>
          <a:ln w="12700">
            <a:solidFill>
              <a:srgbClr val="4A4430"/>
            </a:solidFill>
            <a:prstDash val="solid"/>
          </a:ln>
        </p:spPr>
      </p:sp>
      <p:sp>
        <p:nvSpPr>
          <p:cNvPr id="19" name="Text 17"/>
          <p:cNvSpPr/>
          <p:nvPr/>
        </p:nvSpPr>
        <p:spPr>
          <a:xfrm>
            <a:off x="1097280" y="5605272"/>
            <a:ext cx="9997135" cy="201168"/>
          </a:xfrm>
          <a:prstGeom prst="rect">
            <a:avLst/>
          </a:prstGeom>
          <a:noFill/>
          <a:ln/>
        </p:spPr>
        <p:txBody>
          <a:bodyPr wrap="square" lIns="0" tIns="0" rIns="0" bIns="0" rtlCol="0" anchor="ctr"/>
          <a:lstStyle/>
          <a:p>
            <a:pPr marL="0" indent="0">
              <a:buNone/>
            </a:pPr>
            <a:r>
              <a:rPr lang="en-US" sz="900" b="1" kern="0" spc="140" dirty="0">
                <a:solidFill>
                  <a:srgbClr val="FFD733"/>
                </a:solidFill>
                <a:latin typeface="Malgun Gothic" pitchFamily="34" charset="0"/>
                <a:ea typeface="Malgun Gothic" pitchFamily="34" charset="-122"/>
                <a:cs typeface="Malgun Gothic" pitchFamily="34" charset="-120"/>
              </a:rPr>
              <a:t>pandas 3.0 이후에도 남는 한계</a:t>
            </a:r>
            <a:endParaRPr lang="en-US" sz="900" dirty="0"/>
          </a:p>
        </p:txBody>
      </p:sp>
      <p:sp>
        <p:nvSpPr>
          <p:cNvPr id="20" name="Text 18"/>
          <p:cNvSpPr/>
          <p:nvPr/>
        </p:nvSpPr>
        <p:spPr>
          <a:xfrm>
            <a:off x="1097280" y="5934456"/>
            <a:ext cx="9997135" cy="521208"/>
          </a:xfrm>
          <a:prstGeom prst="rect">
            <a:avLst/>
          </a:prstGeom>
          <a:noFill/>
          <a:ln/>
        </p:spPr>
        <p:txBody>
          <a:bodyPr wrap="square" lIns="0" tIns="0" rIns="0" bIns="0" rtlCol="0" anchor="t"/>
          <a:lstStyle/>
          <a:p>
            <a:pPr marL="0" indent="0">
              <a:lnSpc>
                <a:spcPts val="1900"/>
              </a:lnSpc>
              <a:buNone/>
            </a:pPr>
            <a:r>
              <a:rPr lang="en-US" sz="1100" dirty="0">
                <a:solidFill>
                  <a:srgbClr val="ECE7DC"/>
                </a:solidFill>
                <a:latin typeface="Malgun Gothic" pitchFamily="34" charset="0"/>
                <a:ea typeface="Malgun Gothic" pitchFamily="34" charset="-122"/>
                <a:cs typeface="Malgun Gothic" pitchFamily="34" charset="-120"/>
              </a:rPr>
              <a:t>pandas 3.0(2026년 1월 출시, 현재 3.0.5)부터 문자열이 PyArrow 기반 str 타입 기본값이 되어 문자열 처리는 빨라짐. 다만 위 세 가지 구조는 그대로 </a:t>
            </a:r>
            <a:r>
              <a:rPr lang="en-US" sz="1100" dirty="0" err="1">
                <a:solidFill>
                  <a:srgbClr val="ECE7DC"/>
                </a:solidFill>
                <a:latin typeface="Malgun Gothic" pitchFamily="34" charset="0"/>
                <a:ea typeface="Malgun Gothic" pitchFamily="34" charset="-122"/>
                <a:cs typeface="Malgun Gothic" pitchFamily="34" charset="-120"/>
              </a:rPr>
              <a:t>유지</a:t>
            </a:r>
            <a:r>
              <a:rPr lang="en-US" sz="1100" dirty="0">
                <a:solidFill>
                  <a:srgbClr val="ECE7DC"/>
                </a:solidFill>
                <a:latin typeface="Malgun Gothic" pitchFamily="34" charset="0"/>
                <a:ea typeface="Malgun Gothic" pitchFamily="34" charset="-122"/>
                <a:cs typeface="Malgun Gothic" pitchFamily="34" charset="-120"/>
              </a:rPr>
              <a:t>.</a:t>
            </a:r>
            <a:endParaRPr lang="en-US" sz="1100" dirty="0"/>
          </a:p>
        </p:txBody>
      </p:sp>
      <p:sp>
        <p:nvSpPr>
          <p:cNvPr id="21" name="Text 19"/>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D0D0A"/>
        </a:solidFill>
        <a:effectLst/>
      </p:bgPr>
    </p:bg>
    <p:spTree>
      <p:nvGrpSpPr>
        <p:cNvPr id="1" name=""/>
        <p:cNvGrpSpPr/>
        <p:nvPr/>
      </p:nvGrpSpPr>
      <p:grpSpPr>
        <a:xfrm>
          <a:off x="0" y="0"/>
          <a:ext cx="0" cy="0"/>
          <a:chOff x="0" y="0"/>
          <a:chExt cx="0" cy="0"/>
        </a:xfrm>
      </p:grpSpPr>
      <p:sp>
        <p:nvSpPr>
          <p:cNvPr id="4" name="Text 2"/>
          <p:cNvSpPr/>
          <p:nvPr/>
        </p:nvSpPr>
        <p:spPr>
          <a:xfrm>
            <a:off x="822960" y="713232"/>
            <a:ext cx="10545775" cy="566928"/>
          </a:xfrm>
          <a:prstGeom prst="rect">
            <a:avLst/>
          </a:prstGeom>
          <a:noFill/>
          <a:ln/>
        </p:spPr>
        <p:txBody>
          <a:bodyPr wrap="square" lIns="0" tIns="0" rIns="0" bIns="0" rtlCol="0" anchor="ctr"/>
          <a:lstStyle/>
          <a:p>
            <a:pPr marL="0" indent="0">
              <a:buNone/>
            </a:pPr>
            <a:r>
              <a:rPr lang="en-US" sz="2500" b="1" dirty="0">
                <a:solidFill>
                  <a:srgbClr val="FFD733"/>
                </a:solidFill>
                <a:latin typeface="Malgun Gothic" pitchFamily="34" charset="0"/>
                <a:ea typeface="Malgun Gothic" pitchFamily="34" charset="-122"/>
                <a:cs typeface="Malgun Gothic" pitchFamily="34" charset="-120"/>
              </a:rPr>
              <a:t>해법 1. 한 번에 다 읽지 않고 </a:t>
            </a:r>
            <a:r>
              <a:rPr lang="en-US" sz="2500" b="1" dirty="0" err="1">
                <a:solidFill>
                  <a:srgbClr val="FFD733"/>
                </a:solidFill>
                <a:latin typeface="Malgun Gothic" pitchFamily="34" charset="0"/>
                <a:ea typeface="Malgun Gothic" pitchFamily="34" charset="-122"/>
                <a:cs typeface="Malgun Gothic" pitchFamily="34" charset="-120"/>
              </a:rPr>
              <a:t>나눠서</a:t>
            </a:r>
            <a:r>
              <a:rPr lang="en-US" sz="2500" b="1" dirty="0">
                <a:solidFill>
                  <a:srgbClr val="FFD733"/>
                </a:solidFill>
                <a:latin typeface="Malgun Gothic" pitchFamily="34" charset="0"/>
                <a:ea typeface="Malgun Gothic" pitchFamily="34" charset="-122"/>
                <a:cs typeface="Malgun Gothic" pitchFamily="34" charset="-120"/>
              </a:rPr>
              <a:t> </a:t>
            </a:r>
            <a:r>
              <a:rPr lang="en-US" sz="2500" b="1" dirty="0" err="1">
                <a:solidFill>
                  <a:srgbClr val="FFD733"/>
                </a:solidFill>
                <a:latin typeface="Malgun Gothic" pitchFamily="34" charset="0"/>
                <a:ea typeface="Malgun Gothic" pitchFamily="34" charset="-122"/>
                <a:cs typeface="Malgun Gothic" pitchFamily="34" charset="-120"/>
              </a:rPr>
              <a:t>읽기</a:t>
            </a:r>
            <a:r>
              <a:rPr lang="en-US" sz="2500" b="1" dirty="0">
                <a:solidFill>
                  <a:srgbClr val="FFD733"/>
                </a:solidFill>
                <a:latin typeface="Malgun Gothic" pitchFamily="34" charset="0"/>
                <a:ea typeface="Malgun Gothic" pitchFamily="34" charset="-122"/>
                <a:cs typeface="Malgun Gothic" pitchFamily="34" charset="-120"/>
              </a:rPr>
              <a:t>(chunking)</a:t>
            </a:r>
            <a:endParaRPr lang="en-US" sz="2500" dirty="0"/>
          </a:p>
        </p:txBody>
      </p:sp>
      <p:sp>
        <p:nvSpPr>
          <p:cNvPr id="5" name="Text 3"/>
          <p:cNvSpPr/>
          <p:nvPr/>
        </p:nvSpPr>
        <p:spPr>
          <a:xfrm>
            <a:off x="822960" y="1371600"/>
            <a:ext cx="10545775" cy="612648"/>
          </a:xfrm>
          <a:prstGeom prst="rect">
            <a:avLst/>
          </a:prstGeom>
          <a:noFill/>
          <a:ln/>
        </p:spPr>
        <p:txBody>
          <a:bodyPr wrap="square" lIns="0" tIns="0" rIns="0" bIns="0" rtlCol="0" anchor="t"/>
          <a:lstStyle/>
          <a:p>
            <a:pPr marL="285750" indent="-285750">
              <a:lnSpc>
                <a:spcPts val="2100"/>
              </a:lnSpc>
              <a:buFont typeface="Arial" panose="020B0604020202020204" pitchFamily="34" charset="0"/>
              <a:buChar char="•"/>
            </a:pPr>
            <a:r>
              <a:rPr lang="ko-KR" altLang="en-US" sz="1400" dirty="0">
                <a:solidFill>
                  <a:schemeClr val="bg1"/>
                </a:solidFill>
                <a:latin typeface="Malgun Gothic" pitchFamily="34" charset="0"/>
                <a:ea typeface="Malgun Gothic" pitchFamily="34" charset="-122"/>
                <a:cs typeface="Malgun Gothic" pitchFamily="34" charset="-120"/>
              </a:rPr>
              <a:t>대규모 데이터를 일정한 행 수의 조각으로 나눠</a:t>
            </a:r>
            <a:r>
              <a:rPr lang="en-US" altLang="ko-KR" sz="1400" dirty="0">
                <a:solidFill>
                  <a:schemeClr val="bg1"/>
                </a:solidFill>
                <a:latin typeface="Malgun Gothic" pitchFamily="34" charset="0"/>
                <a:ea typeface="Malgun Gothic" pitchFamily="34" charset="-122"/>
                <a:cs typeface="Malgun Gothic" pitchFamily="34" charset="-120"/>
              </a:rPr>
              <a:t>, </a:t>
            </a:r>
            <a:r>
              <a:rPr lang="ko-KR" altLang="en-US" sz="1400" dirty="0">
                <a:solidFill>
                  <a:schemeClr val="bg1"/>
                </a:solidFill>
                <a:latin typeface="Malgun Gothic" pitchFamily="34" charset="0"/>
                <a:ea typeface="Malgun Gothic" pitchFamily="34" charset="-122"/>
                <a:cs typeface="Malgun Gothic" pitchFamily="34" charset="-120"/>
              </a:rPr>
              <a:t>하나씩 읽고 처리해 결과만 남긴 채 버리고 다음 조각으로 넘어가는 방식</a:t>
            </a:r>
            <a:r>
              <a:rPr lang="en-US" altLang="ko-KR" sz="1400" dirty="0">
                <a:solidFill>
                  <a:schemeClr val="bg1"/>
                </a:solidFill>
                <a:latin typeface="Malgun Gothic" pitchFamily="34" charset="0"/>
                <a:ea typeface="Malgun Gothic" pitchFamily="34" charset="-122"/>
                <a:cs typeface="Malgun Gothic" pitchFamily="34" charset="-120"/>
              </a:rPr>
              <a:t>.</a:t>
            </a:r>
          </a:p>
          <a:p>
            <a:pPr marL="285750" indent="-285750">
              <a:lnSpc>
                <a:spcPts val="2100"/>
              </a:lnSpc>
              <a:buFont typeface="Arial" panose="020B0604020202020204" pitchFamily="34" charset="0"/>
              <a:buChar char="•"/>
            </a:pPr>
            <a:r>
              <a:rPr lang="ko-KR" altLang="en-US" sz="1400" dirty="0">
                <a:solidFill>
                  <a:srgbClr val="FFD733"/>
                </a:solidFill>
                <a:latin typeface="Malgun Gothic" pitchFamily="34" charset="0"/>
                <a:ea typeface="Malgun Gothic" pitchFamily="34" charset="-122"/>
                <a:cs typeface="Malgun Gothic" pitchFamily="34" charset="-120"/>
              </a:rPr>
              <a:t>메모리에는 항상 조각 하나만 올라가며</a:t>
            </a:r>
            <a:r>
              <a:rPr lang="en-US" altLang="ko-KR" sz="1400" dirty="0">
                <a:solidFill>
                  <a:srgbClr val="FFD733"/>
                </a:solidFill>
                <a:latin typeface="Malgun Gothic" pitchFamily="34" charset="0"/>
                <a:ea typeface="Malgun Gothic" pitchFamily="34" charset="-122"/>
                <a:cs typeface="Malgun Gothic" pitchFamily="34" charset="-120"/>
              </a:rPr>
              <a:t>,</a:t>
            </a:r>
            <a:r>
              <a:rPr lang="en-US" altLang="ko-KR" sz="1400" dirty="0">
                <a:solidFill>
                  <a:schemeClr val="bg1"/>
                </a:solidFill>
                <a:latin typeface="Malgun Gothic" pitchFamily="34" charset="0"/>
                <a:ea typeface="Malgun Gothic" pitchFamily="34" charset="-122"/>
                <a:cs typeface="Malgun Gothic" pitchFamily="34" charset="-120"/>
              </a:rPr>
              <a:t> </a:t>
            </a:r>
            <a:r>
              <a:rPr lang="ko-KR" altLang="en-US" sz="1400" dirty="0">
                <a:solidFill>
                  <a:schemeClr val="bg1"/>
                </a:solidFill>
                <a:latin typeface="Malgun Gothic" pitchFamily="34" charset="0"/>
                <a:ea typeface="Malgun Gothic" pitchFamily="34" charset="-122"/>
                <a:cs typeface="Malgun Gothic" pitchFamily="34" charset="-120"/>
              </a:rPr>
              <a:t>이 반복을 끊김 없이 이어가는 스트리밍 처리</a:t>
            </a:r>
            <a:r>
              <a:rPr lang="en-US" altLang="ko-KR" sz="1400" dirty="0">
                <a:solidFill>
                  <a:schemeClr val="bg1"/>
                </a:solidFill>
                <a:latin typeface="Malgun Gothic" pitchFamily="34" charset="0"/>
                <a:ea typeface="Malgun Gothic" pitchFamily="34" charset="-122"/>
                <a:cs typeface="Malgun Gothic" pitchFamily="34" charset="-120"/>
              </a:rPr>
              <a:t>.</a:t>
            </a:r>
            <a:endParaRPr lang="en-US" sz="1400" dirty="0">
              <a:solidFill>
                <a:schemeClr val="bg1"/>
              </a:solidFill>
            </a:endParaRPr>
          </a:p>
        </p:txBody>
      </p:sp>
      <p:sp>
        <p:nvSpPr>
          <p:cNvPr id="6" name="Shape 4"/>
          <p:cNvSpPr/>
          <p:nvPr/>
        </p:nvSpPr>
        <p:spPr>
          <a:xfrm>
            <a:off x="822960" y="2240280"/>
            <a:ext cx="1691640" cy="868680"/>
          </a:xfrm>
          <a:prstGeom prst="rect">
            <a:avLst/>
          </a:prstGeom>
          <a:solidFill>
            <a:srgbClr val="1A1810"/>
          </a:solidFill>
          <a:ln w="12700">
            <a:solidFill>
              <a:srgbClr val="4A4430"/>
            </a:solidFill>
            <a:prstDash val="solid"/>
          </a:ln>
        </p:spPr>
      </p:sp>
      <p:sp>
        <p:nvSpPr>
          <p:cNvPr id="7" name="Text 5"/>
          <p:cNvSpPr/>
          <p:nvPr/>
        </p:nvSpPr>
        <p:spPr>
          <a:xfrm>
            <a:off x="822960" y="2240280"/>
            <a:ext cx="1691640" cy="868680"/>
          </a:xfrm>
          <a:prstGeom prst="rect">
            <a:avLst/>
          </a:prstGeom>
          <a:noFill/>
          <a:ln/>
        </p:spPr>
        <p:txBody>
          <a:bodyPr wrap="square" lIns="0" tIns="0" rIns="0" bIns="0" rtlCol="0" anchor="ctr"/>
          <a:lstStyle/>
          <a:p>
            <a:pPr marL="0" indent="0" algn="ctr">
              <a:buNone/>
            </a:pPr>
            <a:r>
              <a:rPr lang="en-US" sz="1300" b="1" dirty="0">
                <a:solidFill>
                  <a:srgbClr val="FFD733"/>
                </a:solidFill>
                <a:latin typeface="Malgun Gothic" pitchFamily="34" charset="0"/>
                <a:ea typeface="Malgun Gothic" pitchFamily="34" charset="-122"/>
                <a:cs typeface="Malgun Gothic" pitchFamily="34" charset="-120"/>
              </a:rPr>
              <a:t>큰 CSV</a:t>
            </a:r>
            <a:endParaRPr lang="en-US" sz="1300" dirty="0"/>
          </a:p>
        </p:txBody>
      </p:sp>
      <p:sp>
        <p:nvSpPr>
          <p:cNvPr id="8" name="Text 6"/>
          <p:cNvSpPr/>
          <p:nvPr/>
        </p:nvSpPr>
        <p:spPr>
          <a:xfrm>
            <a:off x="2606040" y="2240280"/>
            <a:ext cx="457200" cy="868680"/>
          </a:xfrm>
          <a:prstGeom prst="rect">
            <a:avLst/>
          </a:prstGeom>
          <a:noFill/>
          <a:ln/>
        </p:spPr>
        <p:txBody>
          <a:bodyPr wrap="square" lIns="0" tIns="0" rIns="0" bIns="0" rtlCol="0" anchor="ctr"/>
          <a:lstStyle/>
          <a:p>
            <a:pPr marL="0" indent="0" algn="ctr">
              <a:buNone/>
            </a:pPr>
            <a:r>
              <a:rPr lang="en-US" sz="1300" dirty="0">
                <a:solidFill>
                  <a:srgbClr val="4A4430"/>
                </a:solidFill>
                <a:latin typeface="Malgun Gothic" pitchFamily="34" charset="0"/>
                <a:ea typeface="Malgun Gothic" pitchFamily="34" charset="-122"/>
                <a:cs typeface="Malgun Gothic" pitchFamily="34" charset="-120"/>
              </a:rPr>
              <a:t>▶</a:t>
            </a:r>
            <a:endParaRPr lang="en-US" sz="1300" dirty="0"/>
          </a:p>
        </p:txBody>
      </p:sp>
      <p:sp>
        <p:nvSpPr>
          <p:cNvPr id="9" name="Shape 7"/>
          <p:cNvSpPr/>
          <p:nvPr/>
        </p:nvSpPr>
        <p:spPr>
          <a:xfrm>
            <a:off x="3154680" y="2240280"/>
            <a:ext cx="1298448" cy="868680"/>
          </a:xfrm>
          <a:prstGeom prst="rect">
            <a:avLst/>
          </a:prstGeom>
          <a:solidFill>
            <a:srgbClr val="1A1810"/>
          </a:solidFill>
          <a:ln w="12700">
            <a:solidFill>
              <a:srgbClr val="4A4430"/>
            </a:solidFill>
            <a:prstDash val="solid"/>
          </a:ln>
        </p:spPr>
      </p:sp>
      <p:sp>
        <p:nvSpPr>
          <p:cNvPr id="10" name="Text 8"/>
          <p:cNvSpPr/>
          <p:nvPr/>
        </p:nvSpPr>
        <p:spPr>
          <a:xfrm>
            <a:off x="3154680" y="2240280"/>
            <a:ext cx="1298448" cy="868680"/>
          </a:xfrm>
          <a:prstGeom prst="rect">
            <a:avLst/>
          </a:prstGeom>
          <a:noFill/>
          <a:ln/>
        </p:spPr>
        <p:txBody>
          <a:bodyPr wrap="square" lIns="0" tIns="0" rIns="0" bIns="0" rtlCol="0" anchor="ctr"/>
          <a:lstStyle/>
          <a:p>
            <a:pPr marL="0" indent="0" algn="ctr">
              <a:buNone/>
            </a:pPr>
            <a:r>
              <a:rPr lang="en-US" sz="1150" dirty="0">
                <a:solidFill>
                  <a:srgbClr val="C6BFAD"/>
                </a:solidFill>
                <a:latin typeface="Malgun Gothic" pitchFamily="34" charset="0"/>
                <a:ea typeface="Malgun Gothic" pitchFamily="34" charset="-122"/>
                <a:cs typeface="Malgun Gothic" pitchFamily="34" charset="-120"/>
              </a:rPr>
              <a:t>조각 1</a:t>
            </a:r>
            <a:endParaRPr lang="en-US" sz="1150" dirty="0"/>
          </a:p>
        </p:txBody>
      </p:sp>
      <p:sp>
        <p:nvSpPr>
          <p:cNvPr id="11" name="Shape 9"/>
          <p:cNvSpPr/>
          <p:nvPr/>
        </p:nvSpPr>
        <p:spPr>
          <a:xfrm>
            <a:off x="4581144" y="2240280"/>
            <a:ext cx="1298448" cy="868680"/>
          </a:xfrm>
          <a:prstGeom prst="rect">
            <a:avLst/>
          </a:prstGeom>
          <a:solidFill>
            <a:srgbClr val="1A1810"/>
          </a:solidFill>
          <a:ln w="12700">
            <a:solidFill>
              <a:srgbClr val="4A4430"/>
            </a:solidFill>
            <a:prstDash val="solid"/>
          </a:ln>
        </p:spPr>
      </p:sp>
      <p:sp>
        <p:nvSpPr>
          <p:cNvPr id="12" name="Text 10"/>
          <p:cNvSpPr/>
          <p:nvPr/>
        </p:nvSpPr>
        <p:spPr>
          <a:xfrm>
            <a:off x="4581144" y="2240280"/>
            <a:ext cx="1298448" cy="868680"/>
          </a:xfrm>
          <a:prstGeom prst="rect">
            <a:avLst/>
          </a:prstGeom>
          <a:noFill/>
          <a:ln/>
        </p:spPr>
        <p:txBody>
          <a:bodyPr wrap="square" lIns="0" tIns="0" rIns="0" bIns="0" rtlCol="0" anchor="ctr"/>
          <a:lstStyle/>
          <a:p>
            <a:pPr marL="0" indent="0" algn="ctr">
              <a:buNone/>
            </a:pPr>
            <a:r>
              <a:rPr lang="en-US" sz="1150" dirty="0">
                <a:solidFill>
                  <a:srgbClr val="C6BFAD"/>
                </a:solidFill>
                <a:latin typeface="Malgun Gothic" pitchFamily="34" charset="0"/>
                <a:ea typeface="Malgun Gothic" pitchFamily="34" charset="-122"/>
                <a:cs typeface="Malgun Gothic" pitchFamily="34" charset="-120"/>
              </a:rPr>
              <a:t>조각 2</a:t>
            </a:r>
            <a:endParaRPr lang="en-US" sz="1150" dirty="0"/>
          </a:p>
        </p:txBody>
      </p:sp>
      <p:sp>
        <p:nvSpPr>
          <p:cNvPr id="13" name="Shape 11"/>
          <p:cNvSpPr/>
          <p:nvPr/>
        </p:nvSpPr>
        <p:spPr>
          <a:xfrm>
            <a:off x="6007608" y="2240280"/>
            <a:ext cx="1298448" cy="868680"/>
          </a:xfrm>
          <a:prstGeom prst="rect">
            <a:avLst/>
          </a:prstGeom>
          <a:solidFill>
            <a:srgbClr val="1A1810"/>
          </a:solidFill>
          <a:ln w="12700">
            <a:solidFill>
              <a:srgbClr val="4A4430"/>
            </a:solidFill>
            <a:prstDash val="solid"/>
          </a:ln>
        </p:spPr>
      </p:sp>
      <p:sp>
        <p:nvSpPr>
          <p:cNvPr id="14" name="Text 12"/>
          <p:cNvSpPr/>
          <p:nvPr/>
        </p:nvSpPr>
        <p:spPr>
          <a:xfrm>
            <a:off x="6007608" y="2240280"/>
            <a:ext cx="1298448" cy="868680"/>
          </a:xfrm>
          <a:prstGeom prst="rect">
            <a:avLst/>
          </a:prstGeom>
          <a:noFill/>
          <a:ln/>
        </p:spPr>
        <p:txBody>
          <a:bodyPr wrap="square" lIns="0" tIns="0" rIns="0" bIns="0" rtlCol="0" anchor="ctr"/>
          <a:lstStyle/>
          <a:p>
            <a:pPr marL="0" indent="0" algn="ctr">
              <a:buNone/>
            </a:pPr>
            <a:r>
              <a:rPr lang="en-US" sz="1150" dirty="0">
                <a:solidFill>
                  <a:srgbClr val="C6BFAD"/>
                </a:solidFill>
                <a:latin typeface="Malgun Gothic" pitchFamily="34" charset="0"/>
                <a:ea typeface="Malgun Gothic" pitchFamily="34" charset="-122"/>
                <a:cs typeface="Malgun Gothic" pitchFamily="34" charset="-120"/>
              </a:rPr>
              <a:t>조각 3</a:t>
            </a:r>
            <a:endParaRPr lang="en-US" sz="1150" dirty="0"/>
          </a:p>
        </p:txBody>
      </p:sp>
      <p:sp>
        <p:nvSpPr>
          <p:cNvPr id="15" name="Shape 13"/>
          <p:cNvSpPr/>
          <p:nvPr/>
        </p:nvSpPr>
        <p:spPr>
          <a:xfrm>
            <a:off x="7434072" y="2240280"/>
            <a:ext cx="1298448" cy="868680"/>
          </a:xfrm>
          <a:prstGeom prst="rect">
            <a:avLst/>
          </a:prstGeom>
          <a:solidFill>
            <a:srgbClr val="1A1810"/>
          </a:solidFill>
          <a:ln w="12700">
            <a:solidFill>
              <a:srgbClr val="4A4430"/>
            </a:solidFill>
            <a:prstDash val="solid"/>
          </a:ln>
        </p:spPr>
      </p:sp>
      <p:sp>
        <p:nvSpPr>
          <p:cNvPr id="16" name="Text 14"/>
          <p:cNvSpPr/>
          <p:nvPr/>
        </p:nvSpPr>
        <p:spPr>
          <a:xfrm>
            <a:off x="7434072" y="2240280"/>
            <a:ext cx="1298448" cy="868680"/>
          </a:xfrm>
          <a:prstGeom prst="rect">
            <a:avLst/>
          </a:prstGeom>
          <a:noFill/>
          <a:ln/>
        </p:spPr>
        <p:txBody>
          <a:bodyPr wrap="square" lIns="0" tIns="0" rIns="0" bIns="0" rtlCol="0" anchor="ctr"/>
          <a:lstStyle/>
          <a:p>
            <a:pPr marL="0" indent="0" algn="ctr">
              <a:buNone/>
            </a:pPr>
            <a:r>
              <a:rPr lang="en-US" sz="1150" dirty="0">
                <a:solidFill>
                  <a:srgbClr val="C6BFAD"/>
                </a:solidFill>
                <a:latin typeface="Malgun Gothic" pitchFamily="34" charset="0"/>
                <a:ea typeface="Malgun Gothic" pitchFamily="34" charset="-122"/>
                <a:cs typeface="Malgun Gothic" pitchFamily="34" charset="-120"/>
              </a:rPr>
              <a:t>조각 4</a:t>
            </a:r>
            <a:endParaRPr lang="en-US" sz="1150" dirty="0"/>
          </a:p>
        </p:txBody>
      </p:sp>
      <p:sp>
        <p:nvSpPr>
          <p:cNvPr id="17" name="Text 15"/>
          <p:cNvSpPr/>
          <p:nvPr/>
        </p:nvSpPr>
        <p:spPr>
          <a:xfrm>
            <a:off x="8887968" y="2240280"/>
            <a:ext cx="457200" cy="868680"/>
          </a:xfrm>
          <a:prstGeom prst="rect">
            <a:avLst/>
          </a:prstGeom>
          <a:noFill/>
          <a:ln/>
        </p:spPr>
        <p:txBody>
          <a:bodyPr wrap="square" lIns="0" tIns="0" rIns="0" bIns="0" rtlCol="0" anchor="ctr"/>
          <a:lstStyle/>
          <a:p>
            <a:pPr marL="0" indent="0" algn="ctr">
              <a:buNone/>
            </a:pPr>
            <a:r>
              <a:rPr lang="en-US" sz="1300" dirty="0">
                <a:solidFill>
                  <a:srgbClr val="4A4430"/>
                </a:solidFill>
                <a:latin typeface="Malgun Gothic" pitchFamily="34" charset="0"/>
                <a:ea typeface="Malgun Gothic" pitchFamily="34" charset="-122"/>
                <a:cs typeface="Malgun Gothic" pitchFamily="34" charset="-120"/>
              </a:rPr>
              <a:t>▶</a:t>
            </a:r>
            <a:endParaRPr lang="en-US" sz="1300" dirty="0"/>
          </a:p>
        </p:txBody>
      </p:sp>
      <p:sp>
        <p:nvSpPr>
          <p:cNvPr id="18" name="Shape 16"/>
          <p:cNvSpPr/>
          <p:nvPr/>
        </p:nvSpPr>
        <p:spPr>
          <a:xfrm>
            <a:off x="9418320" y="2240280"/>
            <a:ext cx="1950415" cy="868680"/>
          </a:xfrm>
          <a:prstGeom prst="rect">
            <a:avLst/>
          </a:prstGeom>
          <a:solidFill>
            <a:srgbClr val="FFD733"/>
          </a:solidFill>
          <a:ln w="12700">
            <a:solidFill>
              <a:srgbClr val="FFD733"/>
            </a:solidFill>
            <a:prstDash val="solid"/>
          </a:ln>
        </p:spPr>
      </p:sp>
      <p:sp>
        <p:nvSpPr>
          <p:cNvPr id="19" name="Text 17"/>
          <p:cNvSpPr/>
          <p:nvPr/>
        </p:nvSpPr>
        <p:spPr>
          <a:xfrm>
            <a:off x="9418320" y="2240280"/>
            <a:ext cx="1950415" cy="868680"/>
          </a:xfrm>
          <a:prstGeom prst="rect">
            <a:avLst/>
          </a:prstGeom>
          <a:noFill/>
          <a:ln/>
        </p:spPr>
        <p:txBody>
          <a:bodyPr wrap="square" lIns="0" tIns="0" rIns="0" bIns="0" rtlCol="0" anchor="ctr"/>
          <a:lstStyle/>
          <a:p>
            <a:pPr marL="0" indent="0" algn="ctr">
              <a:buNone/>
            </a:pPr>
            <a:r>
              <a:rPr lang="en-US" sz="1300" b="1" dirty="0">
                <a:solidFill>
                  <a:srgbClr val="141210"/>
                </a:solidFill>
                <a:latin typeface="Malgun Gothic" pitchFamily="34" charset="0"/>
                <a:ea typeface="Malgun Gothic" pitchFamily="34" charset="-122"/>
                <a:cs typeface="Malgun Gothic" pitchFamily="34" charset="-120"/>
              </a:rPr>
              <a:t>처리 · 집계</a:t>
            </a:r>
            <a:endParaRPr lang="en-US" sz="1300" dirty="0"/>
          </a:p>
        </p:txBody>
      </p:sp>
      <p:sp>
        <p:nvSpPr>
          <p:cNvPr id="20" name="Shape 18"/>
          <p:cNvSpPr/>
          <p:nvPr/>
        </p:nvSpPr>
        <p:spPr>
          <a:xfrm>
            <a:off x="822960" y="3611880"/>
            <a:ext cx="5144872" cy="1874520"/>
          </a:xfrm>
          <a:prstGeom prst="rect">
            <a:avLst/>
          </a:prstGeom>
          <a:solidFill>
            <a:srgbClr val="1A1810"/>
          </a:solidFill>
          <a:ln w="12700">
            <a:solidFill>
              <a:srgbClr val="4A4430"/>
            </a:solidFill>
            <a:prstDash val="solid"/>
          </a:ln>
        </p:spPr>
      </p:sp>
      <p:sp>
        <p:nvSpPr>
          <p:cNvPr id="21" name="Text 19"/>
          <p:cNvSpPr/>
          <p:nvPr/>
        </p:nvSpPr>
        <p:spPr>
          <a:xfrm>
            <a:off x="1097280" y="3831336"/>
            <a:ext cx="4596232" cy="201168"/>
          </a:xfrm>
          <a:prstGeom prst="rect">
            <a:avLst/>
          </a:prstGeom>
          <a:noFill/>
          <a:ln/>
        </p:spPr>
        <p:txBody>
          <a:bodyPr wrap="square" lIns="0" tIns="0" rIns="0" bIns="0" rtlCol="0" anchor="ctr"/>
          <a:lstStyle/>
          <a:p>
            <a:pPr marL="0" indent="0">
              <a:buNone/>
            </a:pPr>
            <a:r>
              <a:rPr lang="en-US" sz="1200" b="1" kern="0" spc="140" dirty="0">
                <a:solidFill>
                  <a:srgbClr val="FFD733"/>
                </a:solidFill>
                <a:latin typeface="Malgun Gothic" pitchFamily="34" charset="0"/>
                <a:ea typeface="Malgun Gothic" pitchFamily="34" charset="-122"/>
                <a:cs typeface="Malgun Gothic" pitchFamily="34" charset="-120"/>
              </a:rPr>
              <a:t>해결되는 것</a:t>
            </a:r>
            <a:endParaRPr lang="en-US" sz="1200" dirty="0"/>
          </a:p>
        </p:txBody>
      </p:sp>
      <p:sp>
        <p:nvSpPr>
          <p:cNvPr id="22" name="Text 20"/>
          <p:cNvSpPr/>
          <p:nvPr/>
        </p:nvSpPr>
        <p:spPr>
          <a:xfrm>
            <a:off x="1097280" y="4160520"/>
            <a:ext cx="4596232" cy="502920"/>
          </a:xfrm>
          <a:prstGeom prst="rect">
            <a:avLst/>
          </a:prstGeom>
          <a:noFill/>
          <a:ln/>
        </p:spPr>
        <p:txBody>
          <a:bodyPr wrap="square" lIns="0" tIns="0" rIns="0" bIns="0" rtlCol="0" anchor="t"/>
          <a:lstStyle/>
          <a:p>
            <a:pPr marL="0" indent="0">
              <a:lnSpc>
                <a:spcPts val="1885"/>
              </a:lnSpc>
              <a:buNone/>
            </a:pPr>
            <a:r>
              <a:rPr lang="en-US" sz="1600" b="1" dirty="0">
                <a:solidFill>
                  <a:srgbClr val="FFFFFF"/>
                </a:solidFill>
                <a:latin typeface="Malgun Gothic" pitchFamily="34" charset="0"/>
                <a:ea typeface="Malgun Gothic" pitchFamily="34" charset="-122"/>
                <a:cs typeface="Malgun Gothic" pitchFamily="34" charset="-120"/>
              </a:rPr>
              <a:t>메모리 부족 문제 해소</a:t>
            </a:r>
            <a:endParaRPr lang="en-US" sz="1600" dirty="0"/>
          </a:p>
        </p:txBody>
      </p:sp>
      <p:sp>
        <p:nvSpPr>
          <p:cNvPr id="23" name="Text 21"/>
          <p:cNvSpPr/>
          <p:nvPr/>
        </p:nvSpPr>
        <p:spPr>
          <a:xfrm>
            <a:off x="1097280" y="4585716"/>
            <a:ext cx="4596232" cy="690372"/>
          </a:xfrm>
          <a:prstGeom prst="rect">
            <a:avLst/>
          </a:prstGeom>
          <a:noFill/>
          <a:ln/>
        </p:spPr>
        <p:txBody>
          <a:bodyPr wrap="square" lIns="0" tIns="0" rIns="0" bIns="0" rtlCol="0" anchor="t"/>
          <a:lstStyle/>
          <a:p>
            <a:pPr marL="285750" indent="-285750">
              <a:lnSpc>
                <a:spcPts val="1600"/>
              </a:lnSpc>
              <a:buFont typeface="Arial" panose="020B0604020202020204" pitchFamily="34" charset="0"/>
              <a:buChar char="•"/>
            </a:pPr>
            <a:r>
              <a:rPr lang="ko-KR" altLang="en-US" sz="1400" dirty="0">
                <a:solidFill>
                  <a:srgbClr val="C6BFAD"/>
                </a:solidFill>
                <a:latin typeface="Malgun Gothic" pitchFamily="34" charset="0"/>
                <a:ea typeface="Malgun Gothic" pitchFamily="34" charset="-122"/>
                <a:cs typeface="Malgun Gothic" pitchFamily="34" charset="-120"/>
              </a:rPr>
              <a:t>한 번에 올리는 양이 조각 크기로 고정되어</a:t>
            </a:r>
            <a:r>
              <a:rPr lang="en-US" altLang="ko-KR" sz="1400" dirty="0">
                <a:solidFill>
                  <a:srgbClr val="C6BFAD"/>
                </a:solidFill>
                <a:latin typeface="Malgun Gothic" pitchFamily="34" charset="0"/>
                <a:ea typeface="Malgun Gothic" pitchFamily="34" charset="-122"/>
                <a:cs typeface="Malgun Gothic" pitchFamily="34" charset="-120"/>
              </a:rPr>
              <a:t>, </a:t>
            </a:r>
            <a:r>
              <a:rPr lang="ko-KR" altLang="en-US" sz="1400" dirty="0">
                <a:solidFill>
                  <a:srgbClr val="C6BFAD"/>
                </a:solidFill>
                <a:latin typeface="Malgun Gothic" pitchFamily="34" charset="0"/>
                <a:ea typeface="Malgun Gothic" pitchFamily="34" charset="-122"/>
                <a:cs typeface="Malgun Gothic" pitchFamily="34" charset="-120"/>
              </a:rPr>
              <a:t>파일이 아무리 커져도 메모리가 넘치지 않음</a:t>
            </a:r>
            <a:endParaRPr lang="en-US" altLang="ko-KR" sz="1400" dirty="0">
              <a:solidFill>
                <a:srgbClr val="C6BFAD"/>
              </a:solidFill>
              <a:latin typeface="Malgun Gothic" pitchFamily="34" charset="0"/>
              <a:ea typeface="Malgun Gothic" pitchFamily="34" charset="-122"/>
              <a:cs typeface="Malgun Gothic" pitchFamily="34" charset="-120"/>
            </a:endParaRPr>
          </a:p>
          <a:p>
            <a:pPr marL="285750" indent="-285750">
              <a:lnSpc>
                <a:spcPts val="1600"/>
              </a:lnSpc>
              <a:buFont typeface="Arial" panose="020B0604020202020204" pitchFamily="34" charset="0"/>
              <a:buChar char="•"/>
            </a:pPr>
            <a:r>
              <a:rPr lang="en-US" altLang="ko-KR" sz="1400" dirty="0">
                <a:solidFill>
                  <a:srgbClr val="C6BFAD"/>
                </a:solidFill>
                <a:latin typeface="Malgun Gothic" pitchFamily="34" charset="0"/>
                <a:ea typeface="Malgun Gothic" pitchFamily="34" charset="-122"/>
                <a:cs typeface="Malgun Gothic" pitchFamily="34" charset="-120"/>
              </a:rPr>
              <a:t>100GB</a:t>
            </a:r>
            <a:r>
              <a:rPr lang="ko-KR" altLang="en-US" sz="1400" dirty="0">
                <a:solidFill>
                  <a:srgbClr val="C6BFAD"/>
                </a:solidFill>
                <a:latin typeface="Malgun Gothic" pitchFamily="34" charset="0"/>
                <a:ea typeface="Malgun Gothic" pitchFamily="34" charset="-122"/>
                <a:cs typeface="Malgun Gothic" pitchFamily="34" charset="-120"/>
              </a:rPr>
              <a:t>든 </a:t>
            </a:r>
            <a:r>
              <a:rPr lang="en-US" altLang="ko-KR" sz="1400" dirty="0">
                <a:solidFill>
                  <a:srgbClr val="C6BFAD"/>
                </a:solidFill>
                <a:latin typeface="Malgun Gothic" pitchFamily="34" charset="0"/>
                <a:ea typeface="Malgun Gothic" pitchFamily="34" charset="-122"/>
                <a:cs typeface="Malgun Gothic" pitchFamily="34" charset="-120"/>
              </a:rPr>
              <a:t>1TB</a:t>
            </a:r>
            <a:r>
              <a:rPr lang="ko-KR" altLang="en-US" sz="1400" dirty="0">
                <a:solidFill>
                  <a:srgbClr val="C6BFAD"/>
                </a:solidFill>
                <a:latin typeface="Malgun Gothic" pitchFamily="34" charset="0"/>
                <a:ea typeface="Malgun Gothic" pitchFamily="34" charset="-122"/>
                <a:cs typeface="Malgun Gothic" pitchFamily="34" charset="-120"/>
              </a:rPr>
              <a:t>든 죽지 않고 끝까지 진행함</a:t>
            </a:r>
            <a:endParaRPr lang="en-US" sz="1400" dirty="0"/>
          </a:p>
        </p:txBody>
      </p:sp>
      <p:sp>
        <p:nvSpPr>
          <p:cNvPr id="24" name="Shape 22"/>
          <p:cNvSpPr/>
          <p:nvPr/>
        </p:nvSpPr>
        <p:spPr>
          <a:xfrm>
            <a:off x="6223864" y="3611879"/>
            <a:ext cx="5144872" cy="1874519"/>
          </a:xfrm>
          <a:prstGeom prst="rect">
            <a:avLst/>
          </a:prstGeom>
          <a:solidFill>
            <a:srgbClr val="1A1810"/>
          </a:solidFill>
          <a:ln w="12700">
            <a:solidFill>
              <a:srgbClr val="4A4430"/>
            </a:solidFill>
            <a:prstDash val="solid"/>
          </a:ln>
        </p:spPr>
      </p:sp>
      <p:sp>
        <p:nvSpPr>
          <p:cNvPr id="25" name="Text 23"/>
          <p:cNvSpPr/>
          <p:nvPr/>
        </p:nvSpPr>
        <p:spPr>
          <a:xfrm>
            <a:off x="6498184" y="3831336"/>
            <a:ext cx="4596232" cy="201168"/>
          </a:xfrm>
          <a:prstGeom prst="rect">
            <a:avLst/>
          </a:prstGeom>
          <a:noFill/>
          <a:ln/>
        </p:spPr>
        <p:txBody>
          <a:bodyPr wrap="square" lIns="0" tIns="0" rIns="0" bIns="0" rtlCol="0" anchor="ctr"/>
          <a:lstStyle/>
          <a:p>
            <a:pPr marL="0" indent="0">
              <a:buNone/>
            </a:pPr>
            <a:r>
              <a:rPr lang="ko-KR" altLang="en-US" sz="1200" b="1" kern="0" spc="140" dirty="0">
                <a:solidFill>
                  <a:srgbClr val="FFD733"/>
                </a:solidFill>
                <a:latin typeface="Malgun Gothic" pitchFamily="34" charset="0"/>
                <a:ea typeface="Malgun Gothic" pitchFamily="34" charset="-122"/>
                <a:cs typeface="Malgun Gothic" pitchFamily="34" charset="-120"/>
              </a:rPr>
              <a:t>여전한 한계점</a:t>
            </a:r>
            <a:endParaRPr lang="en-US" sz="1200" dirty="0"/>
          </a:p>
        </p:txBody>
      </p:sp>
      <p:sp>
        <p:nvSpPr>
          <p:cNvPr id="26" name="Text 24"/>
          <p:cNvSpPr/>
          <p:nvPr/>
        </p:nvSpPr>
        <p:spPr>
          <a:xfrm>
            <a:off x="6498184" y="4160520"/>
            <a:ext cx="4596232" cy="502920"/>
          </a:xfrm>
          <a:prstGeom prst="rect">
            <a:avLst/>
          </a:prstGeom>
          <a:noFill/>
          <a:ln/>
        </p:spPr>
        <p:txBody>
          <a:bodyPr wrap="square" lIns="0" tIns="0" rIns="0" bIns="0" rtlCol="0" anchor="t"/>
          <a:lstStyle/>
          <a:p>
            <a:pPr marL="0" indent="0">
              <a:lnSpc>
                <a:spcPts val="1885"/>
              </a:lnSpc>
              <a:buNone/>
            </a:pPr>
            <a:r>
              <a:rPr lang="ko-KR" altLang="en-US" sz="1600" b="1" dirty="0">
                <a:solidFill>
                  <a:srgbClr val="FFFFFF"/>
                </a:solidFill>
                <a:latin typeface="Malgun Gothic" pitchFamily="34" charset="0"/>
                <a:ea typeface="Malgun Gothic" pitchFamily="34" charset="-122"/>
                <a:cs typeface="Malgun Gothic" pitchFamily="34" charset="-120"/>
              </a:rPr>
              <a:t>메모리만 해결</a:t>
            </a:r>
            <a:r>
              <a:rPr lang="en-US" altLang="ko-KR" sz="1600" b="1" dirty="0">
                <a:solidFill>
                  <a:srgbClr val="FFFFFF"/>
                </a:solidFill>
                <a:latin typeface="Malgun Gothic" pitchFamily="34" charset="0"/>
                <a:ea typeface="Malgun Gothic" pitchFamily="34" charset="-122"/>
                <a:cs typeface="Malgun Gothic" pitchFamily="34" charset="-120"/>
              </a:rPr>
              <a:t>, </a:t>
            </a:r>
            <a:r>
              <a:rPr lang="ko-KR" altLang="en-US" sz="1600" b="1" dirty="0">
                <a:solidFill>
                  <a:srgbClr val="FFFFFF"/>
                </a:solidFill>
                <a:latin typeface="Malgun Gothic" pitchFamily="34" charset="0"/>
                <a:ea typeface="Malgun Gothic" pitchFamily="34" charset="-122"/>
                <a:cs typeface="Malgun Gothic" pitchFamily="34" charset="-120"/>
              </a:rPr>
              <a:t>나머지 원인은 그대로</a:t>
            </a:r>
            <a:endParaRPr lang="en-US" sz="1600" dirty="0"/>
          </a:p>
        </p:txBody>
      </p:sp>
      <p:sp>
        <p:nvSpPr>
          <p:cNvPr id="27" name="Text 25"/>
          <p:cNvSpPr/>
          <p:nvPr/>
        </p:nvSpPr>
        <p:spPr>
          <a:xfrm>
            <a:off x="6498184" y="4535424"/>
            <a:ext cx="4596232" cy="713232"/>
          </a:xfrm>
          <a:prstGeom prst="rect">
            <a:avLst/>
          </a:prstGeom>
          <a:noFill/>
          <a:ln/>
        </p:spPr>
        <p:txBody>
          <a:bodyPr wrap="square" lIns="0" tIns="0" rIns="0" bIns="0" rtlCol="0" anchor="t"/>
          <a:lstStyle/>
          <a:p>
            <a:pPr marL="285750" indent="-285750">
              <a:lnSpc>
                <a:spcPts val="1600"/>
              </a:lnSpc>
              <a:buFont typeface="Arial" panose="020B0604020202020204" pitchFamily="34" charset="0"/>
              <a:buChar char="•"/>
            </a:pPr>
            <a:r>
              <a:rPr lang="ko-KR" altLang="en-US" sz="1400" dirty="0">
                <a:solidFill>
                  <a:srgbClr val="C6BFAD"/>
                </a:solidFill>
                <a:latin typeface="Malgun Gothic" pitchFamily="34" charset="0"/>
                <a:ea typeface="Malgun Gothic" pitchFamily="34" charset="-122"/>
                <a:cs typeface="Malgun Gothic" pitchFamily="34" charset="-120"/>
              </a:rPr>
              <a:t>여전히 코어 하나로 처리하고</a:t>
            </a:r>
            <a:r>
              <a:rPr lang="en-US" altLang="ko-KR" sz="1400" dirty="0">
                <a:solidFill>
                  <a:srgbClr val="C6BFAD"/>
                </a:solidFill>
                <a:latin typeface="Malgun Gothic" pitchFamily="34" charset="0"/>
                <a:ea typeface="Malgun Gothic" pitchFamily="34" charset="-122"/>
                <a:cs typeface="Malgun Gothic" pitchFamily="34" charset="-120"/>
              </a:rPr>
              <a:t>, </a:t>
            </a:r>
            <a:r>
              <a:rPr lang="ko-KR" altLang="en-US" sz="1400" dirty="0">
                <a:solidFill>
                  <a:srgbClr val="C6BFAD"/>
                </a:solidFill>
                <a:latin typeface="Malgun Gothic" pitchFamily="34" charset="0"/>
                <a:ea typeface="Malgun Gothic" pitchFamily="34" charset="-122"/>
                <a:cs typeface="Malgun Gothic" pitchFamily="34" charset="-120"/>
              </a:rPr>
              <a:t>데이터 조각마다 필요 없는 컬럼까지 다 읽음</a:t>
            </a:r>
            <a:r>
              <a:rPr lang="en-US" altLang="ko-KR" sz="1400" dirty="0">
                <a:solidFill>
                  <a:srgbClr val="C6BFAD"/>
                </a:solidFill>
                <a:latin typeface="Malgun Gothic" pitchFamily="34" charset="0"/>
                <a:ea typeface="Malgun Gothic" pitchFamily="34" charset="-122"/>
                <a:cs typeface="Malgun Gothic" pitchFamily="34" charset="-120"/>
              </a:rPr>
              <a:t>.</a:t>
            </a:r>
          </a:p>
          <a:p>
            <a:pPr marL="285750" indent="-285750">
              <a:lnSpc>
                <a:spcPts val="1600"/>
              </a:lnSpc>
              <a:buFont typeface="Arial" panose="020B0604020202020204" pitchFamily="34" charset="0"/>
              <a:buChar char="•"/>
            </a:pPr>
            <a:r>
              <a:rPr lang="ko-KR" altLang="en-US" sz="1400" dirty="0">
                <a:solidFill>
                  <a:srgbClr val="C6BFAD"/>
                </a:solidFill>
                <a:latin typeface="Malgun Gothic" pitchFamily="34" charset="0"/>
                <a:ea typeface="Malgun Gothic" pitchFamily="34" charset="-122"/>
                <a:cs typeface="Malgun Gothic" pitchFamily="34" charset="-120"/>
              </a:rPr>
              <a:t>메모리 문제만 코드 복잡도와 맞바꾼 것</a:t>
            </a:r>
            <a:r>
              <a:rPr lang="en-US" altLang="ko-KR" sz="1400" dirty="0">
                <a:solidFill>
                  <a:srgbClr val="C6BFAD"/>
                </a:solidFill>
                <a:latin typeface="Malgun Gothic" pitchFamily="34" charset="0"/>
                <a:ea typeface="Malgun Gothic" pitchFamily="34" charset="-122"/>
                <a:cs typeface="Malgun Gothic" pitchFamily="34" charset="-120"/>
              </a:rPr>
              <a:t>.(</a:t>
            </a:r>
            <a:r>
              <a:rPr lang="ko-KR" altLang="en-US" sz="1400" dirty="0">
                <a:solidFill>
                  <a:srgbClr val="C6BFAD"/>
                </a:solidFill>
                <a:latin typeface="Malgun Gothic" pitchFamily="34" charset="0"/>
                <a:ea typeface="Malgun Gothic" pitchFamily="34" charset="-122"/>
                <a:cs typeface="Malgun Gothic" pitchFamily="34" charset="-120"/>
              </a:rPr>
              <a:t>데이터를 분할해서 순차적으로 읽고 처리하도록 코드 작업 필요</a:t>
            </a:r>
            <a:r>
              <a:rPr lang="en-US" altLang="ko-KR" sz="1400" dirty="0">
                <a:solidFill>
                  <a:srgbClr val="C6BFAD"/>
                </a:solidFill>
                <a:latin typeface="Malgun Gothic" pitchFamily="34" charset="0"/>
                <a:ea typeface="Malgun Gothic" pitchFamily="34" charset="-122"/>
                <a:cs typeface="Malgun Gothic" pitchFamily="34" charset="-120"/>
              </a:rPr>
              <a:t>)</a:t>
            </a:r>
            <a:endParaRPr lang="en-US" sz="1400" dirty="0"/>
          </a:p>
        </p:txBody>
      </p:sp>
      <p:sp>
        <p:nvSpPr>
          <p:cNvPr id="30" name="Text 28"/>
          <p:cNvSpPr/>
          <p:nvPr/>
        </p:nvSpPr>
        <p:spPr>
          <a:xfrm>
            <a:off x="822960" y="6382512"/>
            <a:ext cx="6400800" cy="237744"/>
          </a:xfrm>
          <a:prstGeom prst="rect">
            <a:avLst/>
          </a:prstGeom>
          <a:noFill/>
          <a:ln/>
        </p:spPr>
        <p:txBody>
          <a:bodyPr wrap="square" lIns="0" tIns="0" rIns="0" bIns="0" rtlCol="0" anchor="ctr"/>
          <a:lstStyle/>
          <a:p>
            <a:pPr marL="0" indent="0">
              <a:buNone/>
            </a:pPr>
            <a:r>
              <a:rPr lang="en-US" sz="900" kern="0" spc="50" dirty="0">
                <a:solidFill>
                  <a:srgbClr val="6B675C"/>
                </a:solidFill>
                <a:latin typeface="Malgun Gothic" pitchFamily="34" charset="0"/>
                <a:ea typeface="Malgun Gothic" pitchFamily="34" charset="-122"/>
                <a:cs typeface="Malgun Gothic" pitchFamily="34" charset="-120"/>
              </a:rPr>
              <a:t>AI 활용 대용량 연구데이터 전처리 · 3교시</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해법 2. CSV 대신 Parquet 형식으로 저장하기</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22960" y="1207007"/>
            <a:ext cx="10543032" cy="1629325"/>
          </a:xfrm>
          <a:prstGeom prst="rect">
            <a:avLst/>
          </a:prstGeom>
          <a:noFill/>
          <a:ln/>
        </p:spPr>
        <p:txBody>
          <a:bodyPr wrap="square" lIns="0" tIns="0" rIns="0" bIns="0" rtlCol="0" anchor="ct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CSV는 사람이 읽는 텍스트 형식, </a:t>
            </a:r>
            <a:r>
              <a:rPr kumimoji="0" lang="en-US" sz="13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Parquet은</a:t>
            </a:r>
            <a:r>
              <a:rPr kumimoji="0" 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기계가 읽으라고 만든 형식</a:t>
            </a:r>
            <a:endParaRPr lang="en-US" altLang="ko-KR" sz="1300" dirty="0">
              <a:solidFill>
                <a:schemeClr val="bg1"/>
              </a:solidFill>
              <a:latin typeface="Calibri" panose="020F0502020204030204"/>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배포 강의자료에서 </a:t>
            </a:r>
            <a:r>
              <a:rPr lang="en-US" altLang="ko-KR" sz="1300" dirty="0">
                <a:solidFill>
                  <a:schemeClr val="bg1"/>
                </a:solidFill>
                <a:latin typeface="Malgun Gothic" pitchFamily="34" charset="0"/>
                <a:ea typeface="Malgun Gothic" pitchFamily="34" charset="-122"/>
                <a:cs typeface="Malgun Gothic" pitchFamily="34" charset="-120"/>
              </a:rPr>
              <a:t>d</a:t>
            </a:r>
            <a:r>
              <a:rPr kumimoji="0" lang="en-US" altLang="ko-KR" sz="13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ata</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실습</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4_parquet</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샘플</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.parquet </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파일을 </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vs code</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에서 열어보기</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사람이 못 읽는 바이너리 형태로 이루어져 있음</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a:t>
            </a:r>
          </a:p>
          <a:p>
            <a:pPr marL="285750" lvl="0" indent="-285750">
              <a:lnSpc>
                <a:spcPct val="150000"/>
              </a:lnSpc>
              <a:buFont typeface="Arial" panose="020B0604020202020204" pitchFamily="34" charset="0"/>
              <a:buChar char="•"/>
            </a:pP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Claude</a:t>
            </a:r>
            <a:r>
              <a:rPr kumimoji="0" lang="ko-KR" alt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에게 </a:t>
            </a:r>
            <a:r>
              <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a:t>
            </a:r>
            <a:r>
              <a:rPr lang="en-US" altLang="ko-KR" sz="1300" dirty="0">
                <a:solidFill>
                  <a:schemeClr val="bg1"/>
                </a:solidFill>
                <a:latin typeface="Malgun Gothic" pitchFamily="34" charset="0"/>
                <a:ea typeface="Malgun Gothic" pitchFamily="34" charset="-122"/>
                <a:cs typeface="Malgun Gothic" pitchFamily="34" charset="-120"/>
              </a:rPr>
              <a:t>data/</a:t>
            </a:r>
            <a:r>
              <a:rPr lang="ko-KR" altLang="en-US" sz="1300" dirty="0">
                <a:solidFill>
                  <a:schemeClr val="bg1"/>
                </a:solidFill>
                <a:latin typeface="Malgun Gothic" pitchFamily="34" charset="0"/>
                <a:ea typeface="Malgun Gothic" pitchFamily="34" charset="-122"/>
                <a:cs typeface="Malgun Gothic" pitchFamily="34" charset="-120"/>
              </a:rPr>
              <a:t>실습</a:t>
            </a:r>
            <a:r>
              <a:rPr lang="en-US" altLang="ko-KR" sz="1300" dirty="0">
                <a:solidFill>
                  <a:schemeClr val="bg1"/>
                </a:solidFill>
                <a:latin typeface="Malgun Gothic" pitchFamily="34" charset="0"/>
                <a:ea typeface="Malgun Gothic" pitchFamily="34" charset="-122"/>
                <a:cs typeface="Malgun Gothic" pitchFamily="34" charset="-120"/>
              </a:rPr>
              <a:t>4_parquet</a:t>
            </a:r>
            <a:r>
              <a:rPr lang="ko-KR" altLang="en-US" sz="1300" dirty="0">
                <a:solidFill>
                  <a:schemeClr val="bg1"/>
                </a:solidFill>
                <a:latin typeface="Malgun Gothic" pitchFamily="34" charset="0"/>
                <a:ea typeface="Malgun Gothic" pitchFamily="34" charset="-122"/>
                <a:cs typeface="Malgun Gothic" pitchFamily="34" charset="-120"/>
              </a:rPr>
              <a:t>샘플</a:t>
            </a:r>
            <a:r>
              <a:rPr lang="en-US" altLang="ko-KR" sz="1300" dirty="0">
                <a:solidFill>
                  <a:schemeClr val="bg1"/>
                </a:solidFill>
                <a:latin typeface="Malgun Gothic" pitchFamily="34" charset="0"/>
                <a:ea typeface="Malgun Gothic" pitchFamily="34" charset="-122"/>
                <a:cs typeface="Malgun Gothic" pitchFamily="34" charset="-120"/>
              </a:rPr>
              <a:t>.parquet </a:t>
            </a:r>
            <a:r>
              <a:rPr lang="ko-KR" altLang="en-US" sz="1300" dirty="0">
                <a:solidFill>
                  <a:schemeClr val="bg1"/>
                </a:solidFill>
                <a:latin typeface="Malgun Gothic" pitchFamily="34" charset="0"/>
                <a:ea typeface="Malgun Gothic" pitchFamily="34" charset="-122"/>
                <a:cs typeface="Malgun Gothic" pitchFamily="34" charset="-120"/>
              </a:rPr>
              <a:t>파일 내용을 출력해줘</a:t>
            </a:r>
            <a:r>
              <a:rPr lang="en-US" altLang="ko-KR" sz="1300" dirty="0">
                <a:solidFill>
                  <a:schemeClr val="bg1"/>
                </a:solidFill>
                <a:latin typeface="Malgun Gothic" pitchFamily="34" charset="0"/>
                <a:ea typeface="Malgun Gothic" pitchFamily="34" charset="-122"/>
                <a:cs typeface="Malgun Gothic" pitchFamily="34" charset="-120"/>
              </a:rPr>
              <a:t>‘ </a:t>
            </a:r>
            <a:r>
              <a:rPr lang="ko-KR" altLang="en-US" sz="1300" dirty="0">
                <a:solidFill>
                  <a:schemeClr val="bg1"/>
                </a:solidFill>
                <a:latin typeface="Malgun Gothic" pitchFamily="34" charset="0"/>
                <a:ea typeface="Malgun Gothic" pitchFamily="34" charset="-122"/>
                <a:cs typeface="Malgun Gothic" pitchFamily="34" charset="-120"/>
              </a:rPr>
              <a:t>라고 명령해보면</a:t>
            </a:r>
            <a:r>
              <a:rPr lang="en-US" altLang="ko-KR" sz="1300" dirty="0">
                <a:solidFill>
                  <a:schemeClr val="bg1"/>
                </a:solidFill>
                <a:latin typeface="Malgun Gothic" pitchFamily="34" charset="0"/>
                <a:ea typeface="Malgun Gothic" pitchFamily="34" charset="-122"/>
                <a:cs typeface="Malgun Gothic" pitchFamily="34" charset="-120"/>
              </a:rPr>
              <a:t>, parquet </a:t>
            </a:r>
            <a:r>
              <a:rPr lang="ko-KR" altLang="en-US" sz="1300" dirty="0">
                <a:solidFill>
                  <a:schemeClr val="bg1"/>
                </a:solidFill>
                <a:latin typeface="Malgun Gothic" pitchFamily="34" charset="0"/>
                <a:ea typeface="Malgun Gothic" pitchFamily="34" charset="-122"/>
                <a:cs typeface="Malgun Gothic" pitchFamily="34" charset="-120"/>
              </a:rPr>
              <a:t>파일을 읽는 </a:t>
            </a:r>
            <a:r>
              <a:rPr lang="en-US" altLang="ko-KR" sz="1300" dirty="0">
                <a:solidFill>
                  <a:schemeClr val="bg1"/>
                </a:solidFill>
                <a:latin typeface="Malgun Gothic" pitchFamily="34" charset="0"/>
                <a:ea typeface="Malgun Gothic" pitchFamily="34" charset="-122"/>
                <a:cs typeface="Malgun Gothic" pitchFamily="34" charset="-120"/>
              </a:rPr>
              <a:t>python </a:t>
            </a:r>
            <a:r>
              <a:rPr lang="ko-KR" altLang="en-US" sz="1300" dirty="0">
                <a:solidFill>
                  <a:schemeClr val="bg1"/>
                </a:solidFill>
                <a:latin typeface="Malgun Gothic" pitchFamily="34" charset="0"/>
                <a:ea typeface="Malgun Gothic" pitchFamily="34" charset="-122"/>
                <a:cs typeface="Malgun Gothic" pitchFamily="34" charset="-120"/>
              </a:rPr>
              <a:t>코드를 만든 뒤 파일 내부 내용을 출력해 줌</a:t>
            </a:r>
            <a:r>
              <a:rPr lang="en-US" altLang="ko-KR" sz="1300" dirty="0">
                <a:solidFill>
                  <a:schemeClr val="bg1"/>
                </a:solidFill>
                <a:latin typeface="Malgun Gothic" pitchFamily="34" charset="0"/>
                <a:ea typeface="Malgun Gothic" pitchFamily="34" charset="-122"/>
                <a:cs typeface="Malgun Gothic" pitchFamily="34" charset="-120"/>
              </a:rPr>
              <a:t>. </a:t>
            </a:r>
            <a:r>
              <a:rPr lang="ko-KR" altLang="en-US" sz="1300" dirty="0">
                <a:solidFill>
                  <a:schemeClr val="bg1"/>
                </a:solidFill>
                <a:latin typeface="Malgun Gothic" pitchFamily="34" charset="0"/>
                <a:ea typeface="Malgun Gothic" pitchFamily="34" charset="-122"/>
                <a:cs typeface="Malgun Gothic" pitchFamily="34" charset="-120"/>
              </a:rPr>
              <a:t>이렇게 사람이 읽으려면 별도 변환 과정 필요</a:t>
            </a:r>
            <a:r>
              <a:rPr lang="en-US" altLang="ko-KR" sz="1300" dirty="0">
                <a:solidFill>
                  <a:schemeClr val="bg1"/>
                </a:solidFill>
                <a:latin typeface="Malgun Gothic" pitchFamily="34" charset="0"/>
                <a:ea typeface="Malgun Gothic" pitchFamily="34" charset="-122"/>
                <a:cs typeface="Malgun Gothic" pitchFamily="34" charset="-120"/>
              </a:rPr>
              <a:t>.</a:t>
            </a:r>
            <a:endParaRPr kumimoji="0" lang="en-US" altLang="ko-KR"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90372" y="3053761"/>
            <a:ext cx="5148072" cy="1737360"/>
          </a:xfrm>
          <a:prstGeom prst="roundRect">
            <a:avLst>
              <a:gd name="adj" fmla="val 3158"/>
            </a:avLst>
          </a:prstGeom>
          <a:solidFill>
            <a:srgbClr val="1A1810"/>
          </a:solidFill>
          <a:ln w="9525">
            <a:solidFill>
              <a:srgbClr val="4A4430"/>
            </a:solidFill>
            <a:prstDash val="solid"/>
          </a:ln>
        </p:spPr>
      </p:sp>
      <p:sp>
        <p:nvSpPr>
          <p:cNvPr id="6" name="Text 4"/>
          <p:cNvSpPr/>
          <p:nvPr/>
        </p:nvSpPr>
        <p:spPr>
          <a:xfrm>
            <a:off x="964692" y="3190921"/>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CSV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64692" y="3465241"/>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행(row) 단위 텍스트</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964692" y="3849289"/>
            <a:ext cx="4599432" cy="822960"/>
          </a:xfrm>
          <a:prstGeom prst="rect">
            <a:avLst/>
          </a:prstGeom>
          <a:noFill/>
          <a:ln/>
        </p:spPr>
        <p:txBody>
          <a:bodyPr wrap="square" lIns="0" tIns="0" rIns="0" bIns="0" rtlCol="0" anchor="ctr"/>
          <a:lstStyle/>
          <a:p>
            <a:pPr marL="171450" marR="0" lvl="0" indent="-171450" algn="l" defTabSz="914400" rtl="0" eaLnBrk="1" fontAlgn="auto" latinLnBrk="0" hangingPunct="1">
              <a:lnSpc>
                <a:spcPts val="17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숫자 3.14159가 문자 7개로 적혀 있어, </a:t>
            </a:r>
            <a:r>
              <a:rPr lang="ko-KR" altLang="en-US" sz="1400" dirty="0">
                <a:solidFill>
                  <a:schemeClr val="bg1"/>
                </a:solidFill>
                <a:latin typeface="Malgun Gothic" pitchFamily="34" charset="0"/>
                <a:ea typeface="Malgun Gothic" pitchFamily="34" charset="-122"/>
                <a:cs typeface="Malgun Gothic" pitchFamily="34" charset="-120"/>
              </a:rPr>
              <a:t>데이터를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읽을</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때마다 텍스트를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숫자로</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변환</a:t>
            </a:r>
            <a:r>
              <a:rPr lang="ko-KR" altLang="en-US" sz="1400" dirty="0">
                <a:solidFill>
                  <a:schemeClr val="bg1"/>
                </a:solidFill>
                <a:latin typeface="Malgun Gothic" pitchFamily="34" charset="0"/>
                <a:ea typeface="Malgun Gothic" pitchFamily="34" charset="-122"/>
                <a:cs typeface="Malgun Gothic" pitchFamily="34" charset="-120"/>
              </a:rPr>
              <a:t>하는 작업을</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반복. </a:t>
            </a:r>
          </a:p>
          <a:p>
            <a:pPr marL="171450" marR="0" lvl="0" indent="-171450" algn="l" defTabSz="914400" rtl="0" eaLnBrk="1" fontAlgn="auto" latinLnBrk="0" hangingPunct="1">
              <a:lnSpc>
                <a:spcPts val="17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행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단위라</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전체에서</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2개 컬럼만 필요해도 파일 전체를 훑어야 함.</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9" name="Shape 7"/>
          <p:cNvSpPr/>
          <p:nvPr/>
        </p:nvSpPr>
        <p:spPr>
          <a:xfrm>
            <a:off x="6094476" y="3053761"/>
            <a:ext cx="5148072" cy="1737360"/>
          </a:xfrm>
          <a:prstGeom prst="roundRect">
            <a:avLst>
              <a:gd name="adj" fmla="val 3158"/>
            </a:avLst>
          </a:prstGeom>
          <a:solidFill>
            <a:srgbClr val="221F16"/>
          </a:solidFill>
          <a:ln w="12700">
            <a:solidFill>
              <a:srgbClr val="FFD733"/>
            </a:solidFill>
            <a:prstDash val="solid"/>
          </a:ln>
        </p:spPr>
      </p:sp>
      <p:sp>
        <p:nvSpPr>
          <p:cNvPr id="10" name="Text 8"/>
          <p:cNvSpPr/>
          <p:nvPr/>
        </p:nvSpPr>
        <p:spPr>
          <a:xfrm>
            <a:off x="6368796" y="3190921"/>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PARQUET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368796" y="3465241"/>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열(column) </a:t>
            </a:r>
            <a:r>
              <a:rPr kumimoji="0" lang="en-US" sz="1500" b="1" i="0" u="none" strike="noStrike" kern="1200" cap="none" spc="0" normalizeH="0" baseline="0" noProof="0" dirty="0" err="1">
                <a:ln>
                  <a:noFill/>
                </a:ln>
                <a:solidFill>
                  <a:srgbClr val="FFFFFF"/>
                </a:solidFill>
                <a:effectLst/>
                <a:uLnTx/>
                <a:uFillTx/>
                <a:latin typeface="Malgun Gothic" pitchFamily="34" charset="0"/>
                <a:ea typeface="Malgun Gothic" pitchFamily="34" charset="-122"/>
                <a:cs typeface="Malgun Gothic" pitchFamily="34" charset="-120"/>
              </a:rPr>
              <a:t>단위</a:t>
            </a: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a:t>
            </a:r>
            <a:r>
              <a:rPr kumimoji="0" lang="ko-KR" alt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바이너리</a:t>
            </a: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 형식</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368796" y="3849289"/>
            <a:ext cx="4599432" cy="822960"/>
          </a:xfrm>
          <a:prstGeom prst="rect">
            <a:avLst/>
          </a:prstGeom>
          <a:noFill/>
          <a:ln/>
        </p:spPr>
        <p:txBody>
          <a:bodyPr wrap="square" lIns="0" tIns="0" rIns="0" bIns="0" rtlCol="0" anchor="ctr"/>
          <a:lstStyle/>
          <a:p>
            <a:pPr marL="171450" marR="0" lvl="0" indent="-171450" algn="l" defTabSz="914400" rtl="0" eaLnBrk="1" fontAlgn="auto" latinLnBrk="0" hangingPunct="1">
              <a:lnSpc>
                <a:spcPts val="17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처음부터</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바이너리</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데이터</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로 </a:t>
            </a:r>
            <a:r>
              <a:rPr kumimoji="0" lang="ko-KR" alt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저장하니 변환 처리 필요 없음</a:t>
            </a:r>
            <a:endParaRPr kumimoji="0" lang="en-US" altLang="ko-KR"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endParaRPr>
          </a:p>
          <a:p>
            <a:pPr marL="171450" marR="0" lvl="0" indent="-171450" algn="l" defTabSz="914400" rtl="0" eaLnBrk="1" fontAlgn="auto" latinLnBrk="0" hangingPunct="1">
              <a:lnSpc>
                <a:spcPts val="17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같은</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열끼리</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모아</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압축해</a:t>
            </a:r>
            <a:r>
              <a:rPr kumimoji="0" 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4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저장</a:t>
            </a:r>
            <a:r>
              <a:rPr kumimoji="0" lang="ko-KR" altLang="en-US" sz="14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해서 같은 열끼리 붙어 있으니 필요한 열만 빠르게 꺼낼 수 있음</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27529737-1638-EEA9-B4AC-3AAB4BEFE0EC}"/>
              </a:ext>
            </a:extLst>
          </p:cNvPr>
          <p:cNvSpPr txBox="1"/>
          <p:nvPr/>
        </p:nvSpPr>
        <p:spPr>
          <a:xfrm>
            <a:off x="975360" y="5046472"/>
            <a:ext cx="6096000" cy="292388"/>
          </a:xfrm>
          <a:prstGeom prst="rect">
            <a:avLst/>
          </a:prstGeom>
          <a:noFill/>
        </p:spPr>
        <p:txBody>
          <a:bodyPr wrap="square">
            <a:spAutoFit/>
          </a:bodyPr>
          <a:lstStyle/>
          <a:p>
            <a:pPr marL="285750" indent="-285750">
              <a:buFont typeface="Arial" panose="020B0604020202020204" pitchFamily="34" charset="0"/>
              <a:buChar char="•"/>
            </a:pPr>
            <a:r>
              <a:rPr lang="ko-KR" altLang="en-US" sz="1300" dirty="0">
                <a:solidFill>
                  <a:schemeClr val="bg1"/>
                </a:solidFill>
                <a:latin typeface="Malgun Gothic" pitchFamily="34" charset="0"/>
                <a:ea typeface="Malgun Gothic" pitchFamily="34" charset="-122"/>
                <a:cs typeface="Malgun Gothic" pitchFamily="34" charset="-120"/>
              </a:rPr>
              <a:t>행 단위</a:t>
            </a:r>
            <a:r>
              <a:rPr lang="en-US" altLang="ko-KR" sz="1300" dirty="0">
                <a:solidFill>
                  <a:schemeClr val="bg1"/>
                </a:solidFill>
                <a:latin typeface="Malgun Gothic" pitchFamily="34" charset="0"/>
                <a:ea typeface="Malgun Gothic" pitchFamily="34" charset="-122"/>
                <a:cs typeface="Malgun Gothic" pitchFamily="34" charset="-120"/>
              </a:rPr>
              <a:t>, </a:t>
            </a:r>
            <a:r>
              <a:rPr lang="ko-KR" altLang="en-US" sz="1300" dirty="0">
                <a:solidFill>
                  <a:schemeClr val="bg1"/>
                </a:solidFill>
                <a:latin typeface="Malgun Gothic" pitchFamily="34" charset="0"/>
                <a:ea typeface="Malgun Gothic" pitchFamily="34" charset="-122"/>
                <a:cs typeface="Malgun Gothic" pitchFamily="34" charset="-120"/>
              </a:rPr>
              <a:t>열 단위는 뒷장에서 설명</a:t>
            </a:r>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lvl="0">
              <a:defRPr/>
            </a:pPr>
            <a:r>
              <a:rPr lang="en-US" altLang="ko-KR" sz="2500" b="1" dirty="0" err="1">
                <a:solidFill>
                  <a:srgbClr val="FFD733"/>
                </a:solidFill>
                <a:latin typeface="Malgun Gothic" pitchFamily="34" charset="0"/>
                <a:ea typeface="Malgun Gothic" pitchFamily="34" charset="-122"/>
                <a:cs typeface="Malgun Gothic" pitchFamily="34" charset="-120"/>
              </a:rPr>
              <a:t>해법</a:t>
            </a:r>
            <a:r>
              <a:rPr lang="en-US" altLang="ko-KR" sz="2500" b="1" dirty="0">
                <a:solidFill>
                  <a:srgbClr val="FFD733"/>
                </a:solidFill>
                <a:latin typeface="Malgun Gothic" pitchFamily="34" charset="0"/>
                <a:ea typeface="Malgun Gothic" pitchFamily="34" charset="-122"/>
                <a:cs typeface="Malgun Gothic" pitchFamily="34" charset="-120"/>
              </a:rPr>
              <a:t> 2. CSV </a:t>
            </a:r>
            <a:r>
              <a:rPr lang="en-US" altLang="ko-KR" sz="2500" b="1" dirty="0" err="1">
                <a:solidFill>
                  <a:srgbClr val="FFD733"/>
                </a:solidFill>
                <a:latin typeface="Malgun Gothic" pitchFamily="34" charset="0"/>
                <a:ea typeface="Malgun Gothic" pitchFamily="34" charset="-122"/>
                <a:cs typeface="Malgun Gothic" pitchFamily="34" charset="-120"/>
              </a:rPr>
              <a:t>대신</a:t>
            </a:r>
            <a:r>
              <a:rPr lang="en-US" altLang="ko-KR" sz="2500" b="1" dirty="0">
                <a:solidFill>
                  <a:srgbClr val="FFD733"/>
                </a:solidFill>
                <a:latin typeface="Malgun Gothic" pitchFamily="34" charset="0"/>
                <a:ea typeface="Malgun Gothic" pitchFamily="34" charset="-122"/>
                <a:cs typeface="Malgun Gothic" pitchFamily="34" charset="-120"/>
              </a:rPr>
              <a:t> Parquet </a:t>
            </a:r>
            <a:r>
              <a:rPr lang="en-US" altLang="ko-KR" sz="2500" b="1" dirty="0" err="1">
                <a:solidFill>
                  <a:srgbClr val="FFD733"/>
                </a:solidFill>
                <a:latin typeface="Malgun Gothic" pitchFamily="34" charset="0"/>
                <a:ea typeface="Malgun Gothic" pitchFamily="34" charset="-122"/>
                <a:cs typeface="Malgun Gothic" pitchFamily="34" charset="-120"/>
              </a:rPr>
              <a:t>형식으로</a:t>
            </a:r>
            <a:r>
              <a:rPr lang="en-US" altLang="ko-KR" sz="2500" b="1" dirty="0">
                <a:solidFill>
                  <a:srgbClr val="FFD733"/>
                </a:solidFill>
                <a:latin typeface="Malgun Gothic" pitchFamily="34" charset="0"/>
                <a:ea typeface="Malgun Gothic" pitchFamily="34" charset="-122"/>
                <a:cs typeface="Malgun Gothic" pitchFamily="34" charset="-120"/>
              </a:rPr>
              <a:t> </a:t>
            </a:r>
            <a:r>
              <a:rPr lang="en-US" altLang="ko-KR" sz="2500" b="1" dirty="0" err="1">
                <a:solidFill>
                  <a:srgbClr val="FFD733"/>
                </a:solidFill>
                <a:latin typeface="Malgun Gothic" pitchFamily="34" charset="0"/>
                <a:ea typeface="Malgun Gothic" pitchFamily="34" charset="-122"/>
                <a:cs typeface="Malgun Gothic" pitchFamily="34" charset="-120"/>
              </a:rPr>
              <a:t>저장하기</a:t>
            </a:r>
            <a:endParaRPr lang="en-US" altLang="ko-KR" sz="2500" dirty="0">
              <a:solidFill>
                <a:prstClr val="black"/>
              </a:solidFill>
            </a:endParaRPr>
          </a:p>
        </p:txBody>
      </p:sp>
      <p:sp>
        <p:nvSpPr>
          <p:cNvPr id="3" name="Text 1"/>
          <p:cNvSpPr/>
          <p:nvPr/>
        </p:nvSpPr>
        <p:spPr>
          <a:xfrm>
            <a:off x="822960" y="1207008"/>
            <a:ext cx="1054303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행</a:t>
            </a:r>
            <a:r>
              <a:rPr lang="en-US" sz="1600" dirty="0">
                <a:solidFill>
                  <a:schemeClr val="bg1"/>
                </a:solidFill>
                <a:latin typeface="Malgun Gothic" pitchFamily="34" charset="0"/>
                <a:ea typeface="Malgun Gothic" pitchFamily="34" charset="-122"/>
                <a:cs typeface="Malgun Gothic" pitchFamily="34" charset="-120"/>
              </a:rPr>
              <a:t>(row)</a:t>
            </a: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6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단위</a:t>
            </a:r>
            <a:r>
              <a:rPr kumimoji="0" lang="ko-KR" alt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와</a:t>
            </a: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열 </a:t>
            </a:r>
            <a:r>
              <a:rPr kumimoji="0" lang="en-US" sz="16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단위</a:t>
            </a: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(column) </a:t>
            </a:r>
            <a:r>
              <a:rPr kumimoji="0" lang="ko-KR" alt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읽는 방식 비교</a:t>
            </a: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endParaRPr kumimoji="0" lang="en-US" sz="16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315968" y="1719072"/>
            <a:ext cx="3566160" cy="1298448"/>
          </a:xfrm>
          <a:prstGeom prst="roundRect">
            <a:avLst>
              <a:gd name="adj" fmla="val 4225"/>
            </a:avLst>
          </a:prstGeom>
          <a:solidFill>
            <a:srgbClr val="221F16"/>
          </a:solidFill>
          <a:ln w="9525">
            <a:solidFill>
              <a:srgbClr val="4A4430"/>
            </a:solidFill>
            <a:prstDash val="solid"/>
          </a:ln>
        </p:spPr>
      </p:sp>
      <p:sp>
        <p:nvSpPr>
          <p:cNvPr id="6" name="Text 4"/>
          <p:cNvSpPr/>
          <p:nvPr/>
        </p:nvSpPr>
        <p:spPr>
          <a:xfrm>
            <a:off x="4572000" y="1828800"/>
            <a:ext cx="3054096"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원본</a:t>
            </a: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표</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4572000" y="2084832"/>
            <a:ext cx="3054096" cy="841248"/>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id, name, age, city</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1,  Kim,  25,  Seoul</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2,  Lee,  30,  Busan</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3,  Park, 28,  Daegu</a:t>
            </a:r>
            <a:endParaRPr kumimoji="0" lang="en-US" sz="14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Shape 6"/>
          <p:cNvSpPr/>
          <p:nvPr/>
        </p:nvSpPr>
        <p:spPr>
          <a:xfrm flipH="1">
            <a:off x="3429000" y="3054096"/>
            <a:ext cx="1554480" cy="219456"/>
          </a:xfrm>
          <a:prstGeom prst="line">
            <a:avLst/>
          </a:prstGeom>
          <a:noFill/>
          <a:ln w="15875">
            <a:solidFill>
              <a:srgbClr val="6B675C"/>
            </a:solidFill>
            <a:prstDash val="solid"/>
            <a:tailEnd type="triangle"/>
          </a:ln>
        </p:spPr>
      </p:sp>
      <p:sp>
        <p:nvSpPr>
          <p:cNvPr id="9" name="Shape 7"/>
          <p:cNvSpPr/>
          <p:nvPr/>
        </p:nvSpPr>
        <p:spPr>
          <a:xfrm>
            <a:off x="7178040" y="3054096"/>
            <a:ext cx="1554480" cy="219456"/>
          </a:xfrm>
          <a:prstGeom prst="line">
            <a:avLst/>
          </a:prstGeom>
          <a:noFill/>
          <a:ln w="15875">
            <a:solidFill>
              <a:srgbClr val="6B675C"/>
            </a:solidFill>
            <a:prstDash val="solid"/>
            <a:tailEnd type="triangle"/>
          </a:ln>
        </p:spPr>
      </p:sp>
      <p:sp>
        <p:nvSpPr>
          <p:cNvPr id="10" name="Shape 8"/>
          <p:cNvSpPr/>
          <p:nvPr/>
        </p:nvSpPr>
        <p:spPr>
          <a:xfrm>
            <a:off x="822960" y="3346704"/>
            <a:ext cx="5148072" cy="1975104"/>
          </a:xfrm>
          <a:prstGeom prst="roundRect">
            <a:avLst>
              <a:gd name="adj" fmla="val 2778"/>
            </a:avLst>
          </a:prstGeom>
          <a:solidFill>
            <a:srgbClr val="1A1810"/>
          </a:solidFill>
          <a:ln w="9525">
            <a:solidFill>
              <a:srgbClr val="4A4430"/>
            </a:solidFill>
            <a:prstDash val="solid"/>
          </a:ln>
        </p:spPr>
      </p:sp>
      <p:sp>
        <p:nvSpPr>
          <p:cNvPr id="11" name="Text 9"/>
          <p:cNvSpPr/>
          <p:nvPr/>
        </p:nvSpPr>
        <p:spPr>
          <a:xfrm>
            <a:off x="1097280" y="3474720"/>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행 단위 저장 · ROW-BASED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097280" y="3730752"/>
            <a:ext cx="45994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한 줄씩 이어붙여 저장 — CSV, RDB 테이블</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097280" y="4059936"/>
            <a:ext cx="4599432" cy="64008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1,Kim,</a:t>
            </a:r>
            <a:r>
              <a:rPr kumimoji="0" lang="en-US" sz="1400" b="1" i="0" u="none" strike="noStrike" kern="1200" cap="none" spc="0" normalizeH="0" baseline="0" noProof="0" dirty="0">
                <a:ln>
                  <a:noFill/>
                </a:ln>
                <a:solidFill>
                  <a:srgbClr val="FFD733"/>
                </a:solidFill>
                <a:effectLst/>
                <a:uLnTx/>
                <a:uFillTx/>
                <a:latin typeface="Courier New" pitchFamily="34" charset="0"/>
                <a:ea typeface="Courier New" pitchFamily="34" charset="-122"/>
                <a:cs typeface="Courier New" pitchFamily="34" charset="-120"/>
              </a:rPr>
              <a:t>25</a:t>
            </a: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,Seoul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2,Lee,</a:t>
            </a:r>
            <a:r>
              <a:rPr kumimoji="0" lang="en-US" sz="1400" b="1" i="0" u="none" strike="noStrike" kern="1200" cap="none" spc="0" normalizeH="0" baseline="0" noProof="0" dirty="0">
                <a:ln>
                  <a:noFill/>
                </a:ln>
                <a:solidFill>
                  <a:srgbClr val="FFD733"/>
                </a:solidFill>
                <a:effectLst/>
                <a:uLnTx/>
                <a:uFillTx/>
                <a:latin typeface="Courier New" pitchFamily="34" charset="0"/>
                <a:ea typeface="Courier New" pitchFamily="34" charset="-122"/>
                <a:cs typeface="Courier New" pitchFamily="34" charset="-120"/>
              </a:rPr>
              <a:t>30</a:t>
            </a: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,Busan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3,Park,</a:t>
            </a:r>
            <a:r>
              <a:rPr kumimoji="0" lang="en-US" sz="1400" b="1" i="0" u="none" strike="noStrike" kern="1200" cap="none" spc="0" normalizeH="0" baseline="0" noProof="0" dirty="0">
                <a:ln>
                  <a:noFill/>
                </a:ln>
                <a:solidFill>
                  <a:srgbClr val="FFD733"/>
                </a:solidFill>
                <a:effectLst/>
                <a:uLnTx/>
                <a:uFillTx/>
                <a:latin typeface="Courier New" pitchFamily="34" charset="0"/>
                <a:ea typeface="Courier New" pitchFamily="34" charset="-122"/>
                <a:cs typeface="Courier New" pitchFamily="34" charset="-120"/>
              </a:rPr>
              <a:t>28</a:t>
            </a: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,Daegu</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097280" y="4828032"/>
            <a:ext cx="479552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Age</a:t>
            </a:r>
            <a:r>
              <a:rPr kumimoji="0" lang="ko-KR" alt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값이</a:t>
            </a: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줄마다 흩어져 있어, age </a:t>
            </a:r>
            <a:r>
              <a:rPr kumimoji="0" lang="ko-KR" alt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관련 통계를 내려면 </a:t>
            </a:r>
            <a:r>
              <a:rPr kumimoji="0" lang="en-US" sz="140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파일</a:t>
            </a: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전체를 훑어야 함.</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6227064" y="3346704"/>
            <a:ext cx="5148072" cy="1975104"/>
          </a:xfrm>
          <a:prstGeom prst="roundRect">
            <a:avLst>
              <a:gd name="adj" fmla="val 2778"/>
            </a:avLst>
          </a:prstGeom>
          <a:solidFill>
            <a:srgbClr val="221F16"/>
          </a:solidFill>
          <a:ln w="12700">
            <a:solidFill>
              <a:srgbClr val="FFD733"/>
            </a:solidFill>
            <a:prstDash val="solid"/>
          </a:ln>
        </p:spPr>
      </p:sp>
      <p:sp>
        <p:nvSpPr>
          <p:cNvPr id="16" name="Text 14"/>
          <p:cNvSpPr/>
          <p:nvPr/>
        </p:nvSpPr>
        <p:spPr>
          <a:xfrm>
            <a:off x="6501384" y="3474720"/>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열 단위 저장 · COLUMN-BASED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501384" y="3730752"/>
            <a:ext cx="45994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같은 컬럼끼리 모아 저장 — Parquet, ORC</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501384" y="4059936"/>
            <a:ext cx="4599432" cy="841248"/>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id:   [1, 2, 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name: [Kim, Lee, Park]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D733"/>
                </a:solidFill>
                <a:effectLst/>
                <a:uLnTx/>
                <a:uFillTx/>
                <a:latin typeface="Courier New" pitchFamily="34" charset="0"/>
                <a:ea typeface="Courier New" pitchFamily="34" charset="-122"/>
                <a:cs typeface="Courier New" pitchFamily="34" charset="-120"/>
              </a:rPr>
              <a:t>age:  [25, 30, 28]</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Courier New" pitchFamily="34" charset="0"/>
                <a:ea typeface="Courier New" pitchFamily="34" charset="-122"/>
                <a:cs typeface="Courier New" pitchFamily="34" charset="-120"/>
              </a:rPr>
              <a:t>city: [Seoul, Busan, Daegu]</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501384" y="4956048"/>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Age </a:t>
            </a:r>
            <a:r>
              <a:rPr kumimoji="0" lang="ko-KR" alt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값이</a:t>
            </a: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한 덩어리로 붙어 있어, 이 묶음만 읽으면 끝.</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822960" y="5504688"/>
            <a:ext cx="10543032" cy="731520"/>
          </a:xfrm>
          <a:prstGeom prst="roundRect">
            <a:avLst>
              <a:gd name="adj" fmla="val 7500"/>
            </a:avLst>
          </a:prstGeom>
          <a:solidFill>
            <a:srgbClr val="121110"/>
          </a:solidFill>
          <a:ln w="9525">
            <a:solidFill>
              <a:srgbClr val="4A4430"/>
            </a:solidFill>
            <a:prstDash val="solid"/>
          </a:ln>
        </p:spPr>
      </p:sp>
      <p:sp>
        <p:nvSpPr>
          <p:cNvPr id="21" name="Text 19"/>
          <p:cNvSpPr/>
          <p:nvPr/>
        </p:nvSpPr>
        <p:spPr>
          <a:xfrm>
            <a:off x="1115568" y="5504688"/>
            <a:ext cx="9957816"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분석 쿼리는 보통 일부 컬럼만 쓴다 — </a:t>
            </a:r>
            <a:r>
              <a:rPr kumimoji="0" lang="en-US" sz="1250" b="0" i="0" u="none" strike="noStrike" kern="1200" cap="none" spc="0" normalizeH="0" baseline="0" noProof="0" dirty="0">
                <a:ln>
                  <a:noFill/>
                </a:ln>
                <a:solidFill>
                  <a:srgbClr val="FFD733"/>
                </a:solidFill>
                <a:effectLst/>
                <a:uLnTx/>
                <a:uFillTx/>
                <a:latin typeface="Courier New" pitchFamily="34" charset="0"/>
                <a:ea typeface="Courier New" pitchFamily="34" charset="-122"/>
                <a:cs typeface="Courier New" pitchFamily="34" charset="-120"/>
              </a:rPr>
              <a:t>SELECT AVG(age) FROM users</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행 단위는 전체를 </a:t>
            </a:r>
            <a:r>
              <a:rPr kumimoji="0" lang="en-US" sz="125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훑어야</a:t>
            </a:r>
            <a:r>
              <a:rPr kumimoji="0" lang="en-US" sz="125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lang="ko-KR" altLang="en-US" sz="1250" dirty="0">
                <a:solidFill>
                  <a:schemeClr val="bg1"/>
                </a:solidFill>
                <a:latin typeface="Malgun Gothic" pitchFamily="34" charset="0"/>
                <a:ea typeface="Malgun Gothic" pitchFamily="34" charset="-122"/>
                <a:cs typeface="Malgun Gothic" pitchFamily="34" charset="-120"/>
              </a:rPr>
              <a:t>모든 </a:t>
            </a:r>
            <a:r>
              <a:rPr lang="en-US" altLang="ko-KR" sz="1250" dirty="0">
                <a:solidFill>
                  <a:schemeClr val="bg1"/>
                </a:solidFill>
                <a:latin typeface="Malgun Gothic" pitchFamily="34" charset="0"/>
                <a:ea typeface="Malgun Gothic" pitchFamily="34" charset="-122"/>
                <a:cs typeface="Malgun Gothic" pitchFamily="34" charset="-120"/>
              </a:rPr>
              <a:t>age </a:t>
            </a:r>
            <a:r>
              <a:rPr lang="ko-KR" altLang="en-US" sz="1250" dirty="0">
                <a:solidFill>
                  <a:schemeClr val="bg1"/>
                </a:solidFill>
                <a:latin typeface="Malgun Gothic" pitchFamily="34" charset="0"/>
                <a:ea typeface="Malgun Gothic" pitchFamily="34" charset="-122"/>
                <a:cs typeface="Malgun Gothic" pitchFamily="34" charset="-120"/>
              </a:rPr>
              <a:t>값을 알 수 있</a:t>
            </a:r>
            <a:r>
              <a:rPr kumimoji="0" lang="en-US" sz="125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고, 열 단위는 age 묶음 하나만 꺼내면 된다.</a:t>
            </a:r>
            <a:endParaRPr kumimoji="0" lang="en-US" sz="125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592C5584-9334-0C68-3E33-EBA79F57693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5BAC4B-1E10-9DE3-6BA0-4C67CE7E5ED6}"/>
              </a:ext>
            </a:extLst>
          </p:cNvPr>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해법 2. CSV 대신 Parquet 형식으로 저장하기</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8747B90-E9B0-C4EA-C071-3023247E700F}"/>
              </a:ext>
            </a:extLst>
          </p:cNvPr>
          <p:cNvSpPr/>
          <p:nvPr/>
        </p:nvSpPr>
        <p:spPr>
          <a:xfrm>
            <a:off x="822960" y="1207008"/>
            <a:ext cx="10543032" cy="457200"/>
          </a:xfrm>
          <a:prstGeom prst="rect">
            <a:avLst/>
          </a:prstGeom>
          <a:noFill/>
          <a:ln/>
        </p:spPr>
        <p:txBody>
          <a:bodyPr wrap="square"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Parquet </a:t>
            </a:r>
            <a:r>
              <a:rPr kumimoji="0" lang="ko-KR" altLang="en-US" sz="16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형식으로 저장하면 개선되는 점</a:t>
            </a:r>
            <a:endParaRPr kumimoji="0" lang="en-US" sz="16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graphicFrame>
        <p:nvGraphicFramePr>
          <p:cNvPr id="13" name="Table 0">
            <a:extLst>
              <a:ext uri="{FF2B5EF4-FFF2-40B4-BE49-F238E27FC236}">
                <a16:creationId xmlns:a16="http://schemas.microsoft.com/office/drawing/2014/main" id="{92A015ED-905F-C055-8B69-9AFE0359C339}"/>
              </a:ext>
            </a:extLst>
          </p:cNvPr>
          <p:cNvGraphicFramePr>
            <a:graphicFrameLocks noGrp="1"/>
          </p:cNvGraphicFramePr>
          <p:nvPr>
            <p:extLst>
              <p:ext uri="{D42A27DB-BD31-4B8C-83A1-F6EECF244321}">
                <p14:modId xmlns:p14="http://schemas.microsoft.com/office/powerpoint/2010/main" val="708947219"/>
              </p:ext>
            </p:extLst>
          </p:nvPr>
        </p:nvGraphicFramePr>
        <p:xfrm>
          <a:off x="579289" y="1954935"/>
          <a:ext cx="11030373" cy="2394807"/>
        </p:xfrm>
        <a:graphic>
          <a:graphicData uri="http://schemas.openxmlformats.org/drawingml/2006/table">
            <a:tbl>
              <a:tblPr/>
              <a:tblGrid>
                <a:gridCol w="2111587">
                  <a:extLst>
                    <a:ext uri="{9D8B030D-6E8A-4147-A177-3AD203B41FA5}">
                      <a16:colId xmlns:a16="http://schemas.microsoft.com/office/drawing/2014/main" val="20000"/>
                    </a:ext>
                  </a:extLst>
                </a:gridCol>
                <a:gridCol w="8918786">
                  <a:extLst>
                    <a:ext uri="{9D8B030D-6E8A-4147-A177-3AD203B41FA5}">
                      <a16:colId xmlns:a16="http://schemas.microsoft.com/office/drawing/2014/main" val="20001"/>
                    </a:ext>
                  </a:extLst>
                </a:gridCol>
              </a:tblGrid>
              <a:tr h="401284">
                <a:tc>
                  <a:txBody>
                    <a:bodyPr/>
                    <a:lstStyle/>
                    <a:p>
                      <a:pPr marL="0" indent="0" algn="ctr">
                        <a:buNone/>
                      </a:pPr>
                      <a:r>
                        <a:rPr lang="en-US" sz="1600" b="1">
                          <a:solidFill>
                            <a:srgbClr val="FFD733"/>
                          </a:solidFill>
                          <a:latin typeface="Malgun Gothic" pitchFamily="34" charset="0"/>
                          <a:ea typeface="Malgun Gothic" pitchFamily="34" charset="-122"/>
                          <a:cs typeface="Malgun Gothic" pitchFamily="34" charset="-120"/>
                        </a:rPr>
                        <a:t>개선되는 점</a:t>
                      </a:r>
                      <a:endParaRPr lang="en-US" sz="16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tc>
                  <a:txBody>
                    <a:bodyPr/>
                    <a:lstStyle/>
                    <a:p>
                      <a:pPr marL="0" indent="0" algn="ctr">
                        <a:buNone/>
                      </a:pPr>
                      <a:r>
                        <a:rPr lang="en-US" sz="1600" b="1">
                          <a:solidFill>
                            <a:srgbClr val="FFD733"/>
                          </a:solidFill>
                          <a:latin typeface="Malgun Gothic" pitchFamily="34" charset="0"/>
                          <a:ea typeface="Malgun Gothic" pitchFamily="34" charset="-122"/>
                          <a:cs typeface="Malgun Gothic" pitchFamily="34" charset="-120"/>
                        </a:rPr>
                        <a:t>내용</a:t>
                      </a:r>
                      <a:endParaRPr lang="en-US" sz="16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extLst>
                  <a:ext uri="{0D108BD9-81ED-4DB2-BD59-A6C34878D82A}">
                    <a16:rowId xmlns:a16="http://schemas.microsoft.com/office/drawing/2014/main" val="10000"/>
                  </a:ext>
                </a:extLst>
              </a:tr>
              <a:tr h="663134">
                <a:tc>
                  <a:txBody>
                    <a:bodyPr/>
                    <a:lstStyle/>
                    <a:p>
                      <a:pPr marL="0" indent="0" algn="ctr">
                        <a:buNone/>
                      </a:pPr>
                      <a:r>
                        <a:rPr lang="en-US" sz="1400" b="1" dirty="0" err="1">
                          <a:solidFill>
                            <a:srgbClr val="FFD733"/>
                          </a:solidFill>
                          <a:latin typeface="Malgun Gothic" pitchFamily="34" charset="0"/>
                          <a:ea typeface="Malgun Gothic" pitchFamily="34" charset="-122"/>
                          <a:cs typeface="Malgun Gothic" pitchFamily="34" charset="-120"/>
                        </a:rPr>
                        <a:t>필요한</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열만</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읽음</a:t>
                      </a:r>
                      <a:endParaRPr lang="en-US" sz="1400" dirty="0">
                        <a:solidFill>
                          <a:srgbClr val="FFD733"/>
                        </a:solidFill>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285750" indent="-285750">
                        <a:lnSpc>
                          <a:spcPct val="150000"/>
                        </a:lnSpc>
                        <a:buFont typeface="Arial" panose="020B0604020202020204" pitchFamily="34" charset="0"/>
                        <a:buChar char="•"/>
                      </a:pPr>
                      <a:r>
                        <a:rPr lang="en-US" sz="1400" dirty="0">
                          <a:solidFill>
                            <a:srgbClr val="ECE7DC"/>
                          </a:solidFill>
                          <a:latin typeface="Malgun Gothic" pitchFamily="34" charset="0"/>
                          <a:ea typeface="Malgun Gothic" pitchFamily="34" charset="-122"/>
                          <a:cs typeface="Malgun Gothic" pitchFamily="34" charset="-120"/>
                        </a:rPr>
                        <a:t>열 </a:t>
                      </a:r>
                      <a:r>
                        <a:rPr lang="en-US" sz="1400" dirty="0" err="1">
                          <a:solidFill>
                            <a:srgbClr val="ECE7DC"/>
                          </a:solidFill>
                          <a:latin typeface="Malgun Gothic" pitchFamily="34" charset="0"/>
                          <a:ea typeface="Malgun Gothic" pitchFamily="34" charset="-122"/>
                          <a:cs typeface="Malgun Gothic" pitchFamily="34" charset="-120"/>
                        </a:rPr>
                        <a:t>단위</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저장이라</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분석에</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쓰는</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컬럼만</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골라</a:t>
                      </a:r>
                      <a:r>
                        <a:rPr lang="en-US" sz="1400" dirty="0">
                          <a:solidFill>
                            <a:srgbClr val="ECE7DC"/>
                          </a:solidFill>
                          <a:latin typeface="Malgun Gothic" pitchFamily="34" charset="0"/>
                          <a:ea typeface="Malgun Gothic" pitchFamily="34" charset="-122"/>
                          <a:cs typeface="Malgun Gothic" pitchFamily="34" charset="-120"/>
                        </a:rPr>
                        <a:t> </a:t>
                      </a:r>
                      <a:r>
                        <a:rPr lang="en-US" sz="1400" dirty="0" err="1">
                          <a:solidFill>
                            <a:srgbClr val="ECE7DC"/>
                          </a:solidFill>
                          <a:latin typeface="Malgun Gothic" pitchFamily="34" charset="0"/>
                          <a:ea typeface="Malgun Gothic" pitchFamily="34" charset="-122"/>
                          <a:cs typeface="Malgun Gothic" pitchFamily="34" charset="-120"/>
                        </a:rPr>
                        <a:t>읽음</a:t>
                      </a:r>
                      <a:r>
                        <a:rPr lang="en-US" sz="1400" dirty="0">
                          <a:solidFill>
                            <a:srgbClr val="ECE7DC"/>
                          </a:solidFill>
                          <a:latin typeface="Malgun Gothic" pitchFamily="34" charset="0"/>
                          <a:ea typeface="Malgun Gothic" pitchFamily="34" charset="-122"/>
                          <a:cs typeface="Malgun Gothic" pitchFamily="34" charset="-120"/>
                        </a:rPr>
                        <a:t>. 50개 중 2개 </a:t>
                      </a:r>
                      <a:r>
                        <a:rPr lang="ko-KR" altLang="en-US" sz="1400" dirty="0">
                          <a:solidFill>
                            <a:srgbClr val="ECE7DC"/>
                          </a:solidFill>
                          <a:latin typeface="Malgun Gothic" pitchFamily="34" charset="0"/>
                          <a:ea typeface="Malgun Gothic" pitchFamily="34" charset="-122"/>
                          <a:cs typeface="Malgun Gothic" pitchFamily="34" charset="-120"/>
                        </a:rPr>
                        <a:t>컬럼만 필요하면 </a:t>
                      </a:r>
                      <a:r>
                        <a:rPr lang="en-US" sz="1400" dirty="0">
                          <a:solidFill>
                            <a:srgbClr val="ECE7DC"/>
                          </a:solidFill>
                          <a:latin typeface="Malgun Gothic" pitchFamily="34" charset="0"/>
                          <a:ea typeface="Malgun Gothic" pitchFamily="34" charset="-122"/>
                          <a:cs typeface="Malgun Gothic" pitchFamily="34" charset="-120"/>
                        </a:rPr>
                        <a:t>그 2개만 </a:t>
                      </a:r>
                      <a:r>
                        <a:rPr lang="ko-KR" altLang="en-US" sz="1400" dirty="0">
                          <a:solidFill>
                            <a:srgbClr val="ECE7DC"/>
                          </a:solidFill>
                          <a:latin typeface="Malgun Gothic" pitchFamily="34" charset="0"/>
                          <a:ea typeface="Malgun Gothic" pitchFamily="34" charset="-122"/>
                          <a:cs typeface="Malgun Gothic" pitchFamily="34" charset="-120"/>
                        </a:rPr>
                        <a:t>불러와서 작업</a:t>
                      </a:r>
                      <a:endParaRPr lang="en-US" altLang="ko-KR" sz="1400" dirty="0">
                        <a:solidFill>
                          <a:srgbClr val="ECE7DC"/>
                        </a:solidFill>
                        <a:latin typeface="Malgun Gothic" pitchFamily="34" charset="0"/>
                        <a:ea typeface="Malgun Gothic" pitchFamily="34" charset="-122"/>
                        <a:cs typeface="Malgun Gothic" pitchFamily="34" charset="-12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1"/>
                  </a:ext>
                </a:extLst>
              </a:tr>
              <a:tr h="1264780">
                <a:tc>
                  <a:txBody>
                    <a:bodyPr/>
                    <a:lstStyle/>
                    <a:p>
                      <a:pPr marL="0" indent="0" algn="ctr">
                        <a:buNone/>
                      </a:pPr>
                      <a:r>
                        <a:rPr lang="en-US" sz="1400" b="1" dirty="0" err="1">
                          <a:solidFill>
                            <a:srgbClr val="FFD733"/>
                          </a:solidFill>
                          <a:latin typeface="Malgun Gothic" pitchFamily="34" charset="0"/>
                          <a:ea typeface="Malgun Gothic" pitchFamily="34" charset="-122"/>
                          <a:cs typeface="Malgun Gothic" pitchFamily="34" charset="-120"/>
                        </a:rPr>
                        <a:t>필요</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없는</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행은</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건너뜀</a:t>
                      </a:r>
                      <a:endParaRPr lang="en-US" sz="1400" dirty="0">
                        <a:solidFill>
                          <a:srgbClr val="FFD733"/>
                        </a:solidFill>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285750" indent="-285750">
                        <a:lnSpc>
                          <a:spcPct val="150000"/>
                        </a:lnSpc>
                        <a:buFont typeface="Arial" panose="020B0604020202020204" pitchFamily="34" charset="0"/>
                        <a:buChar char="•"/>
                      </a:pPr>
                      <a:r>
                        <a:rPr lang="ko-KR" altLang="en-US" sz="1400" dirty="0">
                          <a:solidFill>
                            <a:srgbClr val="ECE7DC"/>
                          </a:solidFill>
                          <a:latin typeface="Malgun Gothic" pitchFamily="34" charset="0"/>
                          <a:ea typeface="Malgun Gothic" pitchFamily="34" charset="-122"/>
                          <a:cs typeface="Malgun Gothic" pitchFamily="34" charset="-120"/>
                        </a:rPr>
                        <a:t>데이터 블록</a:t>
                      </a:r>
                      <a:r>
                        <a:rPr lang="en-US" altLang="ko-KR" sz="1400" dirty="0">
                          <a:solidFill>
                            <a:srgbClr val="ECE7DC"/>
                          </a:solidFill>
                          <a:latin typeface="Malgun Gothic" pitchFamily="34" charset="0"/>
                          <a:ea typeface="Malgun Gothic" pitchFamily="34" charset="-122"/>
                          <a:cs typeface="Malgun Gothic" pitchFamily="34" charset="-120"/>
                        </a:rPr>
                        <a:t>(row group)</a:t>
                      </a:r>
                      <a:r>
                        <a:rPr lang="ko-KR" altLang="en-US" sz="1400" dirty="0">
                          <a:solidFill>
                            <a:srgbClr val="ECE7DC"/>
                          </a:solidFill>
                          <a:latin typeface="Malgun Gothic" pitchFamily="34" charset="0"/>
                          <a:ea typeface="Malgun Gothic" pitchFamily="34" charset="-122"/>
                          <a:cs typeface="Malgun Gothic" pitchFamily="34" charset="-120"/>
                        </a:rPr>
                        <a:t>마다 최소</a:t>
                      </a:r>
                      <a:r>
                        <a:rPr lang="en-US" altLang="ko-KR" sz="1400" dirty="0">
                          <a:solidFill>
                            <a:srgbClr val="ECE7DC"/>
                          </a:solidFill>
                          <a:latin typeface="Malgun Gothic" pitchFamily="34" charset="0"/>
                          <a:ea typeface="Malgun Gothic" pitchFamily="34" charset="-122"/>
                          <a:cs typeface="Malgun Gothic" pitchFamily="34" charset="-120"/>
                        </a:rPr>
                        <a:t>·</a:t>
                      </a:r>
                      <a:r>
                        <a:rPr lang="ko-KR" altLang="en-US" sz="1400" dirty="0">
                          <a:solidFill>
                            <a:srgbClr val="ECE7DC"/>
                          </a:solidFill>
                          <a:latin typeface="Malgun Gothic" pitchFamily="34" charset="0"/>
                          <a:ea typeface="Malgun Gothic" pitchFamily="34" charset="-122"/>
                          <a:cs typeface="Malgun Gothic" pitchFamily="34" charset="-120"/>
                        </a:rPr>
                        <a:t>최대값이 라벨처럼 붙어 있어</a:t>
                      </a:r>
                      <a:r>
                        <a:rPr lang="en-US" altLang="ko-KR" sz="1400" dirty="0">
                          <a:solidFill>
                            <a:srgbClr val="ECE7DC"/>
                          </a:solidFill>
                          <a:latin typeface="Malgun Gothic" pitchFamily="34" charset="0"/>
                          <a:ea typeface="Malgun Gothic" pitchFamily="34" charset="-122"/>
                          <a:cs typeface="Malgun Gothic" pitchFamily="34" charset="-120"/>
                        </a:rPr>
                        <a:t>, </a:t>
                      </a:r>
                      <a:r>
                        <a:rPr lang="ko-KR" altLang="en-US" sz="1400" dirty="0">
                          <a:solidFill>
                            <a:srgbClr val="FFD733"/>
                          </a:solidFill>
                          <a:latin typeface="Malgun Gothic" pitchFamily="34" charset="0"/>
                          <a:ea typeface="Malgun Gothic" pitchFamily="34" charset="-122"/>
                          <a:cs typeface="Malgun Gothic" pitchFamily="34" charset="-120"/>
                        </a:rPr>
                        <a:t>조건에 안 맞는 블록은 열지 않고 통과</a:t>
                      </a:r>
                      <a:r>
                        <a:rPr lang="en-US" altLang="ko-KR" sz="1400" dirty="0">
                          <a:solidFill>
                            <a:srgbClr val="ECE7DC"/>
                          </a:solidFill>
                          <a:latin typeface="Malgun Gothic" pitchFamily="34" charset="0"/>
                          <a:ea typeface="Malgun Gothic" pitchFamily="34" charset="-122"/>
                          <a:cs typeface="Malgun Gothic" pitchFamily="34" charset="-120"/>
                        </a:rPr>
                        <a:t>. </a:t>
                      </a:r>
                    </a:p>
                    <a:p>
                      <a:pPr marL="285750" indent="-285750">
                        <a:lnSpc>
                          <a:spcPct val="150000"/>
                        </a:lnSpc>
                        <a:buFont typeface="Arial" panose="020B0604020202020204" pitchFamily="34" charset="0"/>
                        <a:buChar char="•"/>
                      </a:pPr>
                      <a:endParaRPr lang="en-US" altLang="ko-KR" sz="1400" dirty="0">
                        <a:solidFill>
                          <a:srgbClr val="ECE7DC"/>
                        </a:solidFill>
                        <a:latin typeface="Malgun Gothic" pitchFamily="34" charset="0"/>
                        <a:ea typeface="Malgun Gothic" pitchFamily="34" charset="-122"/>
                        <a:cs typeface="Malgun Gothic" pitchFamily="34" charset="-120"/>
                      </a:endParaRPr>
                    </a:p>
                    <a:p>
                      <a:pPr marL="285750" indent="-285750">
                        <a:lnSpc>
                          <a:spcPct val="150000"/>
                        </a:lnSpc>
                        <a:buFont typeface="Arial" panose="020B0604020202020204" pitchFamily="34" charset="0"/>
                        <a:buChar char="•"/>
                      </a:pPr>
                      <a:r>
                        <a:rPr lang="ko-KR" altLang="en-US" sz="1400" dirty="0">
                          <a:solidFill>
                            <a:srgbClr val="ECE7DC"/>
                          </a:solidFill>
                          <a:latin typeface="Malgun Gothic" pitchFamily="34" charset="0"/>
                          <a:ea typeface="Malgun Gothic" pitchFamily="34" charset="-122"/>
                          <a:cs typeface="Malgun Gothic" pitchFamily="34" charset="-120"/>
                        </a:rPr>
                        <a:t>아래 그림 예시로 설명</a:t>
                      </a:r>
                      <a:r>
                        <a:rPr lang="en-US" altLang="ko-KR" sz="1400" dirty="0">
                          <a:solidFill>
                            <a:srgbClr val="ECE7DC"/>
                          </a:solidFill>
                          <a:latin typeface="Malgun Gothic" pitchFamily="34" charset="0"/>
                          <a:ea typeface="Malgun Gothic" pitchFamily="34" charset="-122"/>
                          <a:cs typeface="Malgun Gothic" pitchFamily="34" charset="-120"/>
                        </a:rPr>
                        <a:t>) Parquet</a:t>
                      </a:r>
                      <a:r>
                        <a:rPr lang="ko-KR" altLang="en-US" sz="1400" dirty="0">
                          <a:solidFill>
                            <a:srgbClr val="ECE7DC"/>
                          </a:solidFill>
                          <a:latin typeface="Malgun Gothic" pitchFamily="34" charset="0"/>
                          <a:ea typeface="Malgun Gothic" pitchFamily="34" charset="-122"/>
                          <a:cs typeface="Malgun Gothic" pitchFamily="34" charset="-120"/>
                        </a:rPr>
                        <a:t>은 파일을 덩어리로 잘라 저장하고</a:t>
                      </a:r>
                      <a:r>
                        <a:rPr lang="en-US" altLang="ko-KR" sz="1400" dirty="0">
                          <a:solidFill>
                            <a:srgbClr val="ECE7DC"/>
                          </a:solidFill>
                          <a:latin typeface="Malgun Gothic" pitchFamily="34" charset="0"/>
                          <a:ea typeface="Malgun Gothic" pitchFamily="34" charset="-122"/>
                          <a:cs typeface="Malgun Gothic" pitchFamily="34" charset="-120"/>
                        </a:rPr>
                        <a:t>, </a:t>
                      </a:r>
                      <a:r>
                        <a:rPr lang="ko-KR" altLang="en-US" sz="1400" dirty="0">
                          <a:solidFill>
                            <a:srgbClr val="ECE7DC"/>
                          </a:solidFill>
                          <a:latin typeface="Malgun Gothic" pitchFamily="34" charset="0"/>
                          <a:ea typeface="Malgun Gothic" pitchFamily="34" charset="-122"/>
                          <a:cs typeface="Malgun Gothic" pitchFamily="34" charset="-120"/>
                        </a:rPr>
                        <a:t>덩어리마다 </a:t>
                      </a:r>
                      <a:r>
                        <a:rPr lang="en-US" altLang="ko-KR" sz="1400" dirty="0">
                          <a:solidFill>
                            <a:srgbClr val="ECE7DC"/>
                          </a:solidFill>
                          <a:latin typeface="Malgun Gothic" pitchFamily="34" charset="0"/>
                          <a:ea typeface="Malgun Gothic" pitchFamily="34" charset="-122"/>
                          <a:cs typeface="Malgun Gothic" pitchFamily="34" charset="-120"/>
                        </a:rPr>
                        <a:t>"</a:t>
                      </a:r>
                      <a:r>
                        <a:rPr lang="ko-KR" altLang="en-US" sz="1400" dirty="0">
                          <a:solidFill>
                            <a:srgbClr val="ECE7DC"/>
                          </a:solidFill>
                          <a:latin typeface="Malgun Gothic" pitchFamily="34" charset="0"/>
                          <a:ea typeface="Malgun Gothic" pitchFamily="34" charset="-122"/>
                          <a:cs typeface="Malgun Gothic" pitchFamily="34" charset="-120"/>
                        </a:rPr>
                        <a:t>여기엔 </a:t>
                      </a:r>
                      <a:r>
                        <a:rPr lang="en-US" altLang="ko-KR" sz="1400" dirty="0">
                          <a:solidFill>
                            <a:srgbClr val="ECE7DC"/>
                          </a:solidFill>
                          <a:latin typeface="Malgun Gothic" pitchFamily="34" charset="0"/>
                          <a:ea typeface="Malgun Gothic" pitchFamily="34" charset="-122"/>
                          <a:cs typeface="Malgun Gothic" pitchFamily="34" charset="-120"/>
                        </a:rPr>
                        <a:t>1</a:t>
                      </a:r>
                      <a:r>
                        <a:rPr lang="ko-KR" altLang="en-US" sz="1400" dirty="0">
                          <a:solidFill>
                            <a:srgbClr val="ECE7DC"/>
                          </a:solidFill>
                          <a:latin typeface="Malgun Gothic" pitchFamily="34" charset="0"/>
                          <a:ea typeface="Malgun Gothic" pitchFamily="34" charset="-122"/>
                          <a:cs typeface="Malgun Gothic" pitchFamily="34" charset="-120"/>
                        </a:rPr>
                        <a:t>월부터 </a:t>
                      </a:r>
                      <a:r>
                        <a:rPr lang="en-US" altLang="ko-KR" sz="1400" dirty="0">
                          <a:solidFill>
                            <a:srgbClr val="ECE7DC"/>
                          </a:solidFill>
                          <a:latin typeface="Malgun Gothic" pitchFamily="34" charset="0"/>
                          <a:ea typeface="Malgun Gothic" pitchFamily="34" charset="-122"/>
                          <a:cs typeface="Malgun Gothic" pitchFamily="34" charset="-120"/>
                        </a:rPr>
                        <a:t>1</a:t>
                      </a:r>
                      <a:r>
                        <a:rPr lang="ko-KR" altLang="en-US" sz="1400" dirty="0">
                          <a:solidFill>
                            <a:srgbClr val="ECE7DC"/>
                          </a:solidFill>
                          <a:latin typeface="Malgun Gothic" pitchFamily="34" charset="0"/>
                          <a:ea typeface="Malgun Gothic" pitchFamily="34" charset="-122"/>
                          <a:cs typeface="Malgun Gothic" pitchFamily="34" charset="-120"/>
                        </a:rPr>
                        <a:t>월까지 들어 있다</a:t>
                      </a:r>
                      <a:r>
                        <a:rPr lang="en-US" altLang="ko-KR" sz="1400" dirty="0">
                          <a:solidFill>
                            <a:srgbClr val="ECE7DC"/>
                          </a:solidFill>
                          <a:latin typeface="Malgun Gothic" pitchFamily="34" charset="0"/>
                          <a:ea typeface="Malgun Gothic" pitchFamily="34" charset="-122"/>
                          <a:cs typeface="Malgun Gothic" pitchFamily="34" charset="-120"/>
                        </a:rPr>
                        <a:t>"</a:t>
                      </a:r>
                      <a:r>
                        <a:rPr lang="ko-KR" altLang="en-US" sz="1400" dirty="0">
                          <a:solidFill>
                            <a:srgbClr val="ECE7DC"/>
                          </a:solidFill>
                          <a:latin typeface="Malgun Gothic" pitchFamily="34" charset="0"/>
                          <a:ea typeface="Malgun Gothic" pitchFamily="34" charset="-122"/>
                          <a:cs typeface="Malgun Gothic" pitchFamily="34" charset="-120"/>
                        </a:rPr>
                        <a:t>는 라벨을 </a:t>
                      </a:r>
                      <a:r>
                        <a:rPr lang="ko-KR" altLang="en-US" sz="1400" dirty="0" err="1">
                          <a:solidFill>
                            <a:srgbClr val="ECE7DC"/>
                          </a:solidFill>
                          <a:latin typeface="Malgun Gothic" pitchFamily="34" charset="0"/>
                          <a:ea typeface="Malgun Gothic" pitchFamily="34" charset="-122"/>
                          <a:cs typeface="Malgun Gothic" pitchFamily="34" charset="-120"/>
                        </a:rPr>
                        <a:t>붙여둡니다</a:t>
                      </a:r>
                      <a:r>
                        <a:rPr lang="en-US" altLang="ko-KR" sz="1400" dirty="0">
                          <a:solidFill>
                            <a:srgbClr val="ECE7DC"/>
                          </a:solidFill>
                          <a:latin typeface="Malgun Gothic" pitchFamily="34" charset="0"/>
                          <a:ea typeface="Malgun Gothic" pitchFamily="34" charset="-122"/>
                          <a:cs typeface="Malgun Gothic" pitchFamily="34" charset="-120"/>
                        </a:rPr>
                        <a:t>. 3</a:t>
                      </a:r>
                      <a:r>
                        <a:rPr lang="ko-KR" altLang="en-US" sz="1400" dirty="0">
                          <a:solidFill>
                            <a:srgbClr val="ECE7DC"/>
                          </a:solidFill>
                          <a:latin typeface="Malgun Gothic" pitchFamily="34" charset="0"/>
                          <a:ea typeface="Malgun Gothic" pitchFamily="34" charset="-122"/>
                          <a:cs typeface="Malgun Gothic" pitchFamily="34" charset="-120"/>
                        </a:rPr>
                        <a:t>월을 찾을 때 이 라벨만 보고 열지 않고 지나갈 수 있죠</a:t>
                      </a:r>
                      <a:endParaRPr lang="en-US" sz="14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2"/>
                  </a:ext>
                </a:extLst>
              </a:tr>
            </a:tbl>
          </a:graphicData>
        </a:graphic>
      </p:graphicFrame>
      <p:pic>
        <p:nvPicPr>
          <p:cNvPr id="19" name="그림 18">
            <a:extLst>
              <a:ext uri="{FF2B5EF4-FFF2-40B4-BE49-F238E27FC236}">
                <a16:creationId xmlns:a16="http://schemas.microsoft.com/office/drawing/2014/main" id="{73BD6C31-174B-1C59-1E1E-8CE5A490DA1B}"/>
              </a:ext>
            </a:extLst>
          </p:cNvPr>
          <p:cNvPicPr>
            <a:picLocks noChangeAspect="1"/>
          </p:cNvPicPr>
          <p:nvPr/>
        </p:nvPicPr>
        <p:blipFill>
          <a:blip r:embed="rId3"/>
          <a:stretch>
            <a:fillRect/>
          </a:stretch>
        </p:blipFill>
        <p:spPr>
          <a:xfrm>
            <a:off x="1352254" y="4675987"/>
            <a:ext cx="9484442" cy="1785773"/>
          </a:xfrm>
          <a:prstGeom prst="rect">
            <a:avLst/>
          </a:prstGeom>
        </p:spPr>
      </p:pic>
    </p:spTree>
    <p:extLst>
      <p:ext uri="{BB962C8B-B14F-4D97-AF65-F5344CB8AC3E}">
        <p14:creationId xmlns:p14="http://schemas.microsoft.com/office/powerpoint/2010/main" val="379240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a:extLst>
            <a:ext uri="{FF2B5EF4-FFF2-40B4-BE49-F238E27FC236}">
              <a16:creationId xmlns:a16="http://schemas.microsoft.com/office/drawing/2014/main" id="{FEA08F48-9455-368E-551C-53B0596807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288A07-1CBC-62BD-B9E8-915080799BB2}"/>
              </a:ext>
            </a:extLst>
          </p:cNvPr>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해법 2. CSV 대신 Parquet 형식으로 저장하기</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F207887-0D16-2133-7F54-599E100DDBB3}"/>
              </a:ext>
            </a:extLst>
          </p:cNvPr>
          <p:cNvSpPr/>
          <p:nvPr/>
        </p:nvSpPr>
        <p:spPr>
          <a:xfrm>
            <a:off x="822960" y="1207008"/>
            <a:ext cx="10543032" cy="457200"/>
          </a:xfrm>
          <a:prstGeom prst="rect">
            <a:avLst/>
          </a:prstGeom>
          <a:noFill/>
          <a:ln/>
        </p:spPr>
        <p:txBody>
          <a:bodyPr wrap="square"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Malgun Gothic" pitchFamily="34" charset="0"/>
                <a:ea typeface="Malgun Gothic" pitchFamily="34" charset="-122"/>
                <a:cs typeface="Malgun Gothic" pitchFamily="34" charset="-120"/>
              </a:rPr>
              <a:t>Parquet </a:t>
            </a:r>
            <a:r>
              <a:rPr kumimoji="0" lang="ko-KR" altLang="en-US" sz="1600" b="0" i="0" u="none" strike="noStrike" kern="1200" cap="none" spc="0" normalizeH="0" baseline="0" noProof="0" dirty="0">
                <a:ln>
                  <a:noFill/>
                </a:ln>
                <a:solidFill>
                  <a:prstClr val="white"/>
                </a:solidFill>
                <a:effectLst/>
                <a:uLnTx/>
                <a:uFillTx/>
                <a:latin typeface="Malgun Gothic" pitchFamily="34" charset="0"/>
                <a:ea typeface="Malgun Gothic" pitchFamily="34" charset="-122"/>
                <a:cs typeface="Malgun Gothic" pitchFamily="34" charset="-120"/>
              </a:rPr>
              <a:t>형식으로 저장하면 개선되는 점</a:t>
            </a:r>
            <a:endPar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13" name="Table 0">
            <a:extLst>
              <a:ext uri="{FF2B5EF4-FFF2-40B4-BE49-F238E27FC236}">
                <a16:creationId xmlns:a16="http://schemas.microsoft.com/office/drawing/2014/main" id="{FF168791-3ED0-F97A-C8E8-C34CB55C2465}"/>
              </a:ext>
            </a:extLst>
          </p:cNvPr>
          <p:cNvGraphicFramePr>
            <a:graphicFrameLocks noGrp="1"/>
          </p:cNvGraphicFramePr>
          <p:nvPr>
            <p:extLst>
              <p:ext uri="{D42A27DB-BD31-4B8C-83A1-F6EECF244321}">
                <p14:modId xmlns:p14="http://schemas.microsoft.com/office/powerpoint/2010/main" val="2052217947"/>
              </p:ext>
            </p:extLst>
          </p:nvPr>
        </p:nvGraphicFramePr>
        <p:xfrm>
          <a:off x="579289" y="1943775"/>
          <a:ext cx="11030373" cy="2721358"/>
        </p:xfrm>
        <a:graphic>
          <a:graphicData uri="http://schemas.openxmlformats.org/drawingml/2006/table">
            <a:tbl>
              <a:tblPr/>
              <a:tblGrid>
                <a:gridCol w="2111587">
                  <a:extLst>
                    <a:ext uri="{9D8B030D-6E8A-4147-A177-3AD203B41FA5}">
                      <a16:colId xmlns:a16="http://schemas.microsoft.com/office/drawing/2014/main" val="20000"/>
                    </a:ext>
                  </a:extLst>
                </a:gridCol>
                <a:gridCol w="8918786">
                  <a:extLst>
                    <a:ext uri="{9D8B030D-6E8A-4147-A177-3AD203B41FA5}">
                      <a16:colId xmlns:a16="http://schemas.microsoft.com/office/drawing/2014/main" val="20001"/>
                    </a:ext>
                  </a:extLst>
                </a:gridCol>
              </a:tblGrid>
              <a:tr h="452805">
                <a:tc>
                  <a:txBody>
                    <a:bodyPr/>
                    <a:lstStyle/>
                    <a:p>
                      <a:pPr marL="0" indent="0" algn="ctr">
                        <a:buNone/>
                      </a:pPr>
                      <a:r>
                        <a:rPr lang="en-US" sz="1600" b="1">
                          <a:solidFill>
                            <a:srgbClr val="FFD733"/>
                          </a:solidFill>
                          <a:latin typeface="Malgun Gothic" pitchFamily="34" charset="0"/>
                          <a:ea typeface="Malgun Gothic" pitchFamily="34" charset="-122"/>
                          <a:cs typeface="Malgun Gothic" pitchFamily="34" charset="-120"/>
                        </a:rPr>
                        <a:t>개선되는 점</a:t>
                      </a:r>
                      <a:endParaRPr lang="en-US" sz="16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tc>
                  <a:txBody>
                    <a:bodyPr/>
                    <a:lstStyle/>
                    <a:p>
                      <a:pPr marL="0" indent="0" algn="ctr">
                        <a:buNone/>
                      </a:pPr>
                      <a:r>
                        <a:rPr lang="en-US" sz="1600" b="1">
                          <a:solidFill>
                            <a:srgbClr val="FFD733"/>
                          </a:solidFill>
                          <a:latin typeface="Malgun Gothic" pitchFamily="34" charset="0"/>
                          <a:ea typeface="Malgun Gothic" pitchFamily="34" charset="-122"/>
                          <a:cs typeface="Malgun Gothic" pitchFamily="34" charset="-120"/>
                        </a:rPr>
                        <a:t>내용</a:t>
                      </a:r>
                      <a:endParaRPr lang="en-US" sz="16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extLst>
                  <a:ext uri="{0D108BD9-81ED-4DB2-BD59-A6C34878D82A}">
                    <a16:rowId xmlns:a16="http://schemas.microsoft.com/office/drawing/2014/main" val="10000"/>
                  </a:ext>
                </a:extLst>
              </a:tr>
              <a:tr h="1250215">
                <a:tc>
                  <a:txBody>
                    <a:bodyPr/>
                    <a:lstStyle/>
                    <a:p>
                      <a:pPr marL="0" indent="0" algn="ctr">
                        <a:buNone/>
                      </a:pPr>
                      <a:r>
                        <a:rPr lang="en-US" sz="1400" b="1" dirty="0" err="1">
                          <a:solidFill>
                            <a:srgbClr val="FFD733"/>
                          </a:solidFill>
                          <a:latin typeface="Malgun Gothic" pitchFamily="34" charset="0"/>
                          <a:ea typeface="Malgun Gothic" pitchFamily="34" charset="-122"/>
                          <a:cs typeface="Malgun Gothic" pitchFamily="34" charset="-120"/>
                        </a:rPr>
                        <a:t>파일이</a:t>
                      </a:r>
                      <a:r>
                        <a:rPr lang="en-US" sz="1400" b="1" dirty="0">
                          <a:solidFill>
                            <a:srgbClr val="FFD733"/>
                          </a:solidFill>
                          <a:latin typeface="Malgun Gothic" pitchFamily="34" charset="0"/>
                          <a:ea typeface="Malgun Gothic" pitchFamily="34" charset="-122"/>
                          <a:cs typeface="Malgun Gothic" pitchFamily="34" charset="-120"/>
                        </a:rPr>
                        <a:t> </a:t>
                      </a:r>
                      <a:r>
                        <a:rPr lang="en-US" sz="1400" b="1" dirty="0" err="1">
                          <a:solidFill>
                            <a:srgbClr val="FFD733"/>
                          </a:solidFill>
                          <a:latin typeface="Malgun Gothic" pitchFamily="34" charset="0"/>
                          <a:ea typeface="Malgun Gothic" pitchFamily="34" charset="-122"/>
                          <a:cs typeface="Malgun Gothic" pitchFamily="34" charset="-120"/>
                        </a:rPr>
                        <a:t>작아짐</a:t>
                      </a:r>
                      <a:endParaRPr lang="en-US" sz="1400" dirty="0">
                        <a:solidFill>
                          <a:srgbClr val="FFD733"/>
                        </a:solidFill>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285750" indent="-285750">
                        <a:lnSpc>
                          <a:spcPct val="150000"/>
                        </a:lnSpc>
                        <a:buFont typeface="Arial" panose="020B0604020202020204" pitchFamily="34" charset="0"/>
                        <a:buChar char="•"/>
                      </a:pPr>
                      <a:r>
                        <a:rPr lang="ko-KR" altLang="en-US" sz="1400" dirty="0">
                          <a:solidFill>
                            <a:srgbClr val="ECE7DC"/>
                          </a:solidFill>
                          <a:latin typeface="Malgun Gothic" pitchFamily="34" charset="0"/>
                          <a:ea typeface="Malgun Gothic" pitchFamily="34" charset="-122"/>
                          <a:cs typeface="Malgun Gothic" pitchFamily="34" charset="-120"/>
                        </a:rPr>
                        <a:t>같은 열은 자료형과 값이 비슷해 규칙이 잘 드러나서 </a:t>
                      </a:r>
                      <a:r>
                        <a:rPr lang="ko-KR" altLang="en-US" sz="1400" dirty="0">
                          <a:solidFill>
                            <a:srgbClr val="FFD733"/>
                          </a:solidFill>
                          <a:latin typeface="Malgun Gothic" pitchFamily="34" charset="0"/>
                          <a:ea typeface="Malgun Gothic" pitchFamily="34" charset="-122"/>
                          <a:cs typeface="Malgun Gothic" pitchFamily="34" charset="-120"/>
                        </a:rPr>
                        <a:t>압축 효율이 좋음</a:t>
                      </a:r>
                      <a:endParaRPr lang="en-US" altLang="ko-KR" sz="1400" dirty="0">
                        <a:solidFill>
                          <a:srgbClr val="FFD733"/>
                        </a:solidFill>
                        <a:latin typeface="Malgun Gothic" pitchFamily="34" charset="0"/>
                        <a:ea typeface="Malgun Gothic" pitchFamily="34" charset="-122"/>
                        <a:cs typeface="Malgun Gothic" pitchFamily="34" charset="-120"/>
                      </a:endParaRPr>
                    </a:p>
                    <a:p>
                      <a:pPr marL="285750" indent="-285750">
                        <a:lnSpc>
                          <a:spcPct val="150000"/>
                        </a:lnSpc>
                        <a:buFont typeface="Arial" panose="020B0604020202020204" pitchFamily="34" charset="0"/>
                        <a:buChar char="•"/>
                      </a:pPr>
                      <a:r>
                        <a:rPr lang="ko-KR" altLang="en-US" sz="1400" dirty="0">
                          <a:solidFill>
                            <a:srgbClr val="ECE7DC"/>
                          </a:solidFill>
                          <a:latin typeface="Malgun Gothic" pitchFamily="34" charset="0"/>
                          <a:ea typeface="Malgun Gothic" pitchFamily="34" charset="-122"/>
                          <a:cs typeface="Malgun Gothic" pitchFamily="34" charset="-120"/>
                        </a:rPr>
                        <a:t>숫자 위주 데이터는 </a:t>
                      </a:r>
                      <a:r>
                        <a:rPr lang="en-US" altLang="ko-KR" sz="1400" dirty="0">
                          <a:solidFill>
                            <a:srgbClr val="ECE7DC"/>
                          </a:solidFill>
                          <a:latin typeface="Malgun Gothic" pitchFamily="34" charset="0"/>
                          <a:ea typeface="Malgun Gothic" pitchFamily="34" charset="-122"/>
                          <a:cs typeface="Malgun Gothic" pitchFamily="34" charset="-120"/>
                        </a:rPr>
                        <a:t>CSV</a:t>
                      </a:r>
                      <a:r>
                        <a:rPr lang="ko-KR" altLang="en-US" sz="1400" dirty="0">
                          <a:solidFill>
                            <a:srgbClr val="ECE7DC"/>
                          </a:solidFill>
                          <a:latin typeface="Malgun Gothic" pitchFamily="34" charset="0"/>
                          <a:ea typeface="Malgun Gothic" pitchFamily="34" charset="-122"/>
                          <a:cs typeface="Malgun Gothic" pitchFamily="34" charset="-120"/>
                        </a:rPr>
                        <a:t>의 </a:t>
                      </a:r>
                      <a:r>
                        <a:rPr lang="en-US" altLang="ko-KR" sz="1400" dirty="0">
                          <a:solidFill>
                            <a:srgbClr val="ECE7DC"/>
                          </a:solidFill>
                          <a:latin typeface="Malgun Gothic" pitchFamily="34" charset="0"/>
                          <a:ea typeface="Malgun Gothic" pitchFamily="34" charset="-122"/>
                          <a:cs typeface="Malgun Gothic" pitchFamily="34" charset="-120"/>
                        </a:rPr>
                        <a:t>1/5~1/10 </a:t>
                      </a:r>
                      <a:r>
                        <a:rPr lang="ko-KR" altLang="en-US" sz="1400" dirty="0">
                          <a:solidFill>
                            <a:srgbClr val="ECE7DC"/>
                          </a:solidFill>
                          <a:latin typeface="Malgun Gothic" pitchFamily="34" charset="0"/>
                          <a:ea typeface="Malgun Gothic" pitchFamily="34" charset="-122"/>
                          <a:cs typeface="Malgun Gothic" pitchFamily="34" charset="-120"/>
                        </a:rPr>
                        <a:t>수준</a:t>
                      </a:r>
                      <a:r>
                        <a:rPr lang="en-US" altLang="ko-KR" sz="1400" dirty="0">
                          <a:solidFill>
                            <a:srgbClr val="ECE7DC"/>
                          </a:solidFill>
                          <a:latin typeface="Malgun Gothic" pitchFamily="34" charset="0"/>
                          <a:ea typeface="Malgun Gothic" pitchFamily="34" charset="-122"/>
                          <a:cs typeface="Malgun Gothic" pitchFamily="34" charset="-120"/>
                        </a:rPr>
                        <a:t>. </a:t>
                      </a:r>
                      <a:r>
                        <a:rPr lang="ko-KR" altLang="en-US" sz="1400" dirty="0">
                          <a:solidFill>
                            <a:srgbClr val="FFD733"/>
                          </a:solidFill>
                          <a:latin typeface="Malgun Gothic" pitchFamily="34" charset="0"/>
                          <a:ea typeface="Malgun Gothic" pitchFamily="34" charset="-122"/>
                          <a:cs typeface="Malgun Gothic" pitchFamily="34" charset="-120"/>
                        </a:rPr>
                        <a:t>단</a:t>
                      </a:r>
                      <a:r>
                        <a:rPr lang="en-US" altLang="ko-KR" sz="1400" dirty="0">
                          <a:solidFill>
                            <a:srgbClr val="FFD733"/>
                          </a:solidFill>
                          <a:latin typeface="Malgun Gothic" pitchFamily="34" charset="0"/>
                          <a:ea typeface="Malgun Gothic" pitchFamily="34" charset="-122"/>
                          <a:cs typeface="Malgun Gothic" pitchFamily="34" charset="-120"/>
                        </a:rPr>
                        <a:t>,</a:t>
                      </a:r>
                      <a:r>
                        <a:rPr lang="ko-KR" altLang="en-US" sz="1400" dirty="0">
                          <a:solidFill>
                            <a:srgbClr val="FFD733"/>
                          </a:solidFill>
                          <a:latin typeface="Malgun Gothic" pitchFamily="34" charset="0"/>
                          <a:ea typeface="Malgun Gothic" pitchFamily="34" charset="-122"/>
                          <a:cs typeface="Malgun Gothic" pitchFamily="34" charset="-120"/>
                        </a:rPr>
                        <a:t> 읽고 처리하려면 결국 압축을 풀어서 복원해야 하기에 처리할 때 메모리에 올라가는 </a:t>
                      </a:r>
                      <a:r>
                        <a:rPr lang="ko-KR" altLang="en-US" sz="1400">
                          <a:solidFill>
                            <a:srgbClr val="FFD733"/>
                          </a:solidFill>
                          <a:latin typeface="Malgun Gothic" pitchFamily="34" charset="0"/>
                          <a:ea typeface="Malgun Gothic" pitchFamily="34" charset="-122"/>
                          <a:cs typeface="Malgun Gothic" pitchFamily="34" charset="-120"/>
                        </a:rPr>
                        <a:t>용량은 유사함</a:t>
                      </a:r>
                      <a:endParaRPr lang="en-US" sz="1400" dirty="0">
                        <a:solidFill>
                          <a:srgbClr val="FFD733"/>
                        </a:solidFill>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3"/>
                  </a:ext>
                </a:extLst>
              </a:tr>
              <a:tr h="1018338">
                <a:tc>
                  <a:txBody>
                    <a:bodyPr/>
                    <a:lstStyle/>
                    <a:p>
                      <a:pPr marL="0" indent="0" algn="ctr">
                        <a:buNone/>
                      </a:pPr>
                      <a:r>
                        <a:rPr lang="ko-KR" altLang="en-US" sz="1400" b="1" dirty="0">
                          <a:solidFill>
                            <a:srgbClr val="FFD733"/>
                          </a:solidFill>
                          <a:latin typeface="Malgun Gothic" pitchFamily="34" charset="0"/>
                          <a:ea typeface="Malgun Gothic" pitchFamily="34" charset="-122"/>
                          <a:cs typeface="Malgun Gothic" pitchFamily="34" charset="-120"/>
                        </a:rPr>
                        <a:t>데이터 읽을 때마다 바이너리 변환하는 과정 없음</a:t>
                      </a:r>
                      <a:endParaRPr lang="en-US" sz="1400" dirty="0">
                        <a:solidFill>
                          <a:srgbClr val="FFD733"/>
                        </a:solidFill>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285750" indent="-285750">
                        <a:lnSpc>
                          <a:spcPct val="150000"/>
                        </a:lnSpc>
                        <a:buFont typeface="Arial" panose="020B0604020202020204" pitchFamily="34" charset="0"/>
                        <a:buChar char="•"/>
                      </a:pPr>
                      <a:r>
                        <a:rPr lang="ko-KR" altLang="en-US" sz="1400" dirty="0">
                          <a:solidFill>
                            <a:srgbClr val="ECE7DC"/>
                          </a:solidFill>
                          <a:latin typeface="Malgun Gothic" pitchFamily="34" charset="0"/>
                          <a:ea typeface="Malgun Gothic" pitchFamily="34" charset="-122"/>
                          <a:cs typeface="Malgun Gothic" pitchFamily="34" charset="-120"/>
                        </a:rPr>
                        <a:t>이미 </a:t>
                      </a:r>
                      <a:r>
                        <a:rPr lang="ko-KR" altLang="en-US" sz="1400" dirty="0" err="1">
                          <a:solidFill>
                            <a:srgbClr val="ECE7DC"/>
                          </a:solidFill>
                          <a:latin typeface="Malgun Gothic" pitchFamily="34" charset="0"/>
                          <a:ea typeface="Malgun Gothic" pitchFamily="34" charset="-122"/>
                          <a:cs typeface="Malgun Gothic" pitchFamily="34" charset="-120"/>
                        </a:rPr>
                        <a:t>이진값으로</a:t>
                      </a:r>
                      <a:r>
                        <a:rPr lang="ko-KR" altLang="en-US" sz="1400" dirty="0">
                          <a:solidFill>
                            <a:srgbClr val="ECE7DC"/>
                          </a:solidFill>
                          <a:latin typeface="Malgun Gothic" pitchFamily="34" charset="0"/>
                          <a:ea typeface="Malgun Gothic" pitchFamily="34" charset="-122"/>
                          <a:cs typeface="Malgun Gothic" pitchFamily="34" charset="-120"/>
                        </a:rPr>
                        <a:t> 저장되어 있어</a:t>
                      </a:r>
                      <a:r>
                        <a:rPr lang="en-US" altLang="ko-KR" sz="1400" dirty="0">
                          <a:solidFill>
                            <a:srgbClr val="ECE7DC"/>
                          </a:solidFill>
                          <a:latin typeface="Malgun Gothic" pitchFamily="34" charset="0"/>
                          <a:ea typeface="Malgun Gothic" pitchFamily="34" charset="-122"/>
                          <a:cs typeface="Malgun Gothic" pitchFamily="34" charset="-120"/>
                        </a:rPr>
                        <a:t>, </a:t>
                      </a:r>
                      <a:r>
                        <a:rPr lang="ko-KR" altLang="en-US" sz="1400" dirty="0">
                          <a:solidFill>
                            <a:srgbClr val="ECE7DC"/>
                          </a:solidFill>
                          <a:latin typeface="Malgun Gothic" pitchFamily="34" charset="0"/>
                          <a:ea typeface="Malgun Gothic" pitchFamily="34" charset="-122"/>
                          <a:cs typeface="Malgun Gothic" pitchFamily="34" charset="-120"/>
                        </a:rPr>
                        <a:t>텍스트를 숫자로 바꾸는 과정 없이 그대로 메모리에 올림</a:t>
                      </a:r>
                      <a:r>
                        <a:rPr lang="en-US" altLang="ko-KR" sz="1400" dirty="0">
                          <a:solidFill>
                            <a:srgbClr val="ECE7DC"/>
                          </a:solidFill>
                          <a:latin typeface="Malgun Gothic" pitchFamily="34" charset="0"/>
                          <a:ea typeface="Malgun Gothic" pitchFamily="34" charset="-122"/>
                          <a:cs typeface="Malgun Gothic" pitchFamily="34" charset="-120"/>
                        </a:rPr>
                        <a:t>.</a:t>
                      </a:r>
                      <a:endParaRPr lang="en-US" sz="1400" dirty="0">
                        <a:latin typeface="Malgun Gothic" charset="0"/>
                        <a:ea typeface="Malgun Gothic" charset="0"/>
                        <a:cs typeface="Malgun Gothic" charset="0"/>
                      </a:endParaRPr>
                    </a:p>
                  </a:txBody>
                  <a:tcPr marL="109728" marR="109728"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7777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해법 3. </a:t>
            </a:r>
            <a:r>
              <a:rPr kumimoji="0" lang="ko-KR" alt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지연 평가</a:t>
            </a:r>
            <a:r>
              <a:rPr kumimoji="0" lang="en-US" altLang="ko-KR"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lazy evaluation) - </a:t>
            </a:r>
            <a:r>
              <a:rPr kumimoji="0" lang="en-US" sz="25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명령을</a:t>
            </a: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모아서 한 번에 실행하기</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22960" y="1207008"/>
            <a:ext cx="10543032" cy="660888"/>
          </a:xfrm>
          <a:prstGeom prst="rect">
            <a:avLst/>
          </a:prstGeom>
          <a:noFill/>
          <a:ln/>
        </p:spPr>
        <p:txBody>
          <a:bodyPr wrap="square" lIns="0" tIns="0" rIns="0" bIns="0" rtlCol="0" anchor="ctr"/>
          <a:lstStyle/>
          <a:p>
            <a:pPr marL="342900" marR="0" lvl="0" indent="-342900" algn="l" defTabSz="914400" rtl="0" eaLnBrk="1" fontAlgn="auto" latinLnBrk="0" hangingPunct="1">
              <a:lnSpc>
                <a:spcPct val="15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받은 명령을 즉시 실행하지 않고, 계획으로 쌓아두다가 결과가 필요한 순간 전체를 </a:t>
            </a:r>
            <a:r>
              <a:rPr kumimoji="0" lang="en-US" sz="13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보고</a:t>
            </a:r>
            <a:r>
              <a:rPr kumimoji="0" 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3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실행</a:t>
            </a:r>
            <a:endParaRPr kumimoji="0" lang="en-US" sz="13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endParaRPr>
          </a:p>
          <a:p>
            <a:pPr marL="342900" marR="0" lvl="0" indent="-342900" algn="l" defTabSz="914400" rtl="0" eaLnBrk="1" fontAlgn="auto" latinLnBrk="0" hangingPunct="1">
              <a:lnSpc>
                <a:spcPct val="150000"/>
              </a:lnSpc>
              <a:spcBef>
                <a:spcPts val="0"/>
              </a:spcBef>
              <a:spcAft>
                <a:spcPts val="0"/>
              </a:spcAft>
              <a:buClrTx/>
              <a:buSzPct val="100000"/>
              <a:buFontTx/>
              <a:buChar char="•"/>
              <a:tabLst/>
              <a:defRPr/>
            </a:pPr>
            <a:r>
              <a:rPr lang="ko-KR" altLang="en-US" sz="1300" dirty="0">
                <a:solidFill>
                  <a:schemeClr val="bg1"/>
                </a:solidFill>
                <a:latin typeface="Malgun Gothic" pitchFamily="34" charset="0"/>
                <a:ea typeface="Malgun Gothic" pitchFamily="34" charset="-122"/>
                <a:cs typeface="Malgun Gothic" pitchFamily="34" charset="-120"/>
              </a:rPr>
              <a:t>아래는 </a:t>
            </a:r>
            <a:r>
              <a:rPr lang="en-US" altLang="ko-KR" sz="1300" dirty="0">
                <a:solidFill>
                  <a:schemeClr val="bg1"/>
                </a:solidFill>
                <a:latin typeface="Malgun Gothic" pitchFamily="34" charset="0"/>
                <a:ea typeface="Malgun Gothic" pitchFamily="34" charset="-122"/>
                <a:cs typeface="Malgun Gothic" pitchFamily="34" charset="-120"/>
              </a:rPr>
              <a:t>Pandas</a:t>
            </a:r>
            <a:r>
              <a:rPr lang="ko-KR" altLang="en-US" sz="1300" dirty="0">
                <a:solidFill>
                  <a:schemeClr val="bg1"/>
                </a:solidFill>
                <a:latin typeface="Malgun Gothic" pitchFamily="34" charset="0"/>
                <a:ea typeface="Malgun Gothic" pitchFamily="34" charset="-122"/>
                <a:cs typeface="Malgun Gothic" pitchFamily="34" charset="-120"/>
              </a:rPr>
              <a:t>와 </a:t>
            </a:r>
            <a:r>
              <a:rPr lang="en-US" altLang="ko-KR" sz="1300" dirty="0">
                <a:solidFill>
                  <a:schemeClr val="bg1"/>
                </a:solidFill>
                <a:latin typeface="Malgun Gothic" pitchFamily="34" charset="0"/>
                <a:ea typeface="Malgun Gothic" pitchFamily="34" charset="-122"/>
                <a:cs typeface="Malgun Gothic" pitchFamily="34" charset="-120"/>
              </a:rPr>
              <a:t>Polars </a:t>
            </a:r>
            <a:r>
              <a:rPr lang="ko-KR" altLang="en-US" sz="1300" dirty="0">
                <a:solidFill>
                  <a:schemeClr val="bg1"/>
                </a:solidFill>
                <a:latin typeface="Malgun Gothic" pitchFamily="34" charset="0"/>
                <a:ea typeface="Malgun Gothic" pitchFamily="34" charset="-122"/>
                <a:cs typeface="Malgun Gothic" pitchFamily="34" charset="-120"/>
              </a:rPr>
              <a:t>의 작동 방식 비교 </a:t>
            </a:r>
            <a:r>
              <a:rPr lang="en-US" altLang="ko-KR" sz="1300" dirty="0">
                <a:solidFill>
                  <a:schemeClr val="bg1"/>
                </a:solidFill>
                <a:latin typeface="Malgun Gothic" pitchFamily="34" charset="0"/>
                <a:ea typeface="Malgun Gothic" pitchFamily="34" charset="-122"/>
                <a:cs typeface="Malgun Gothic" pitchFamily="34" charset="-120"/>
              </a:rPr>
              <a:t>– 3</a:t>
            </a:r>
            <a:r>
              <a:rPr lang="ko-KR" altLang="en-US" sz="1300" dirty="0">
                <a:solidFill>
                  <a:schemeClr val="bg1"/>
                </a:solidFill>
                <a:latin typeface="Malgun Gothic" pitchFamily="34" charset="0"/>
                <a:ea typeface="Malgun Gothic" pitchFamily="34" charset="-122"/>
                <a:cs typeface="Malgun Gothic" pitchFamily="34" charset="-120"/>
              </a:rPr>
              <a:t>월부터 </a:t>
            </a:r>
            <a:r>
              <a:rPr lang="en-US" altLang="ko-KR" sz="1300" dirty="0">
                <a:solidFill>
                  <a:schemeClr val="bg1"/>
                </a:solidFill>
                <a:latin typeface="Malgun Gothic" pitchFamily="34" charset="0"/>
                <a:ea typeface="Malgun Gothic" pitchFamily="34" charset="-122"/>
                <a:cs typeface="Malgun Gothic" pitchFamily="34" charset="-120"/>
              </a:rPr>
              <a:t>12</a:t>
            </a:r>
            <a:r>
              <a:rPr lang="ko-KR" altLang="en-US" sz="1300" dirty="0">
                <a:solidFill>
                  <a:schemeClr val="bg1"/>
                </a:solidFill>
                <a:latin typeface="Malgun Gothic" pitchFamily="34" charset="0"/>
                <a:ea typeface="Malgun Gothic" pitchFamily="34" charset="-122"/>
                <a:cs typeface="Malgun Gothic" pitchFamily="34" charset="-120"/>
              </a:rPr>
              <a:t>월까지 데이터 중 최종적으로 </a:t>
            </a:r>
            <a:r>
              <a:rPr lang="en-US" altLang="ko-KR" sz="1300" dirty="0">
                <a:solidFill>
                  <a:schemeClr val="bg1"/>
                </a:solidFill>
                <a:latin typeface="Malgun Gothic" pitchFamily="34" charset="0"/>
                <a:ea typeface="Malgun Gothic" pitchFamily="34" charset="-122"/>
                <a:cs typeface="Malgun Gothic" pitchFamily="34" charset="-120"/>
              </a:rPr>
              <a:t>3</a:t>
            </a:r>
            <a:r>
              <a:rPr lang="ko-KR" altLang="en-US" sz="1300" dirty="0">
                <a:solidFill>
                  <a:schemeClr val="bg1"/>
                </a:solidFill>
                <a:latin typeface="Malgun Gothic" pitchFamily="34" charset="0"/>
                <a:ea typeface="Malgun Gothic" pitchFamily="34" charset="-122"/>
                <a:cs typeface="Malgun Gothic" pitchFamily="34" charset="-120"/>
              </a:rPr>
              <a:t>월 데이터와 일부 컬럼만 사용할 때 시나리오</a:t>
            </a:r>
            <a:endParaRPr kumimoji="0" lang="en-US" sz="13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Shape 3"/>
          <p:cNvSpPr/>
          <p:nvPr/>
        </p:nvSpPr>
        <p:spPr>
          <a:xfrm>
            <a:off x="813816" y="1959336"/>
            <a:ext cx="5148072" cy="3967669"/>
          </a:xfrm>
          <a:prstGeom prst="roundRect">
            <a:avLst>
              <a:gd name="adj" fmla="val 1935"/>
            </a:avLst>
          </a:prstGeom>
          <a:solidFill>
            <a:srgbClr val="1A1810"/>
          </a:solidFill>
          <a:ln w="9525">
            <a:solidFill>
              <a:srgbClr val="4A4430"/>
            </a:solidFill>
            <a:prstDash val="solid"/>
          </a:ln>
        </p:spPr>
      </p:sp>
      <p:sp>
        <p:nvSpPr>
          <p:cNvPr id="6" name="Text 4"/>
          <p:cNvSpPr/>
          <p:nvPr/>
        </p:nvSpPr>
        <p:spPr>
          <a:xfrm>
            <a:off x="1003470" y="2136459"/>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pandas · </a:t>
            </a:r>
            <a:r>
              <a:rPr kumimoji="0" lang="en-US" sz="16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즉시</a:t>
            </a:r>
            <a:r>
              <a:rPr kumimoji="0" lang="en-US" sz="16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6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실행</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88136" y="3512989"/>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한 줄마다 그 자리에서 실행</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88136" y="3933613"/>
            <a:ext cx="4599432" cy="7772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df = pd.read_csv("logs.csv")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10개월치 전부 읽음</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df = df[df["month"] == 3]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9개월치를 버림</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df = df[["ts", "url"]]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필요한</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컬럼</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외에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버림</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9" name="Text 7"/>
          <p:cNvSpPr/>
          <p:nvPr/>
        </p:nvSpPr>
        <p:spPr>
          <a:xfrm>
            <a:off x="1088136" y="4893733"/>
            <a:ext cx="45994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한 줄을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실행하는</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시점에</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다음</a:t>
            </a:r>
            <a:r>
              <a:rPr kumimoji="0" lang="ko-KR" alt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에 무슨 작업을 할지 알 수 없음</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1" name="Shape 9"/>
          <p:cNvSpPr/>
          <p:nvPr/>
        </p:nvSpPr>
        <p:spPr>
          <a:xfrm>
            <a:off x="6217920" y="1959336"/>
            <a:ext cx="5148072" cy="3967669"/>
          </a:xfrm>
          <a:prstGeom prst="roundRect">
            <a:avLst>
              <a:gd name="adj" fmla="val 1935"/>
            </a:avLst>
          </a:prstGeom>
          <a:solidFill>
            <a:srgbClr val="221F16"/>
          </a:solidFill>
          <a:ln w="12700">
            <a:solidFill>
              <a:srgbClr val="FFD733"/>
            </a:solidFill>
            <a:prstDash val="solid"/>
          </a:ln>
        </p:spPr>
      </p:sp>
      <p:sp>
        <p:nvSpPr>
          <p:cNvPr id="12" name="Text 10"/>
          <p:cNvSpPr/>
          <p:nvPr/>
        </p:nvSpPr>
        <p:spPr>
          <a:xfrm>
            <a:off x="6407574" y="2136459"/>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Polars · </a:t>
            </a:r>
            <a:r>
              <a:rPr kumimoji="0" lang="en-US" sz="16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지연</a:t>
            </a:r>
            <a:r>
              <a:rPr kumimoji="0" lang="en-US" sz="16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600" b="1" i="0" u="none" strike="noStrike" kern="0" cap="none" spc="10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평가</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92240" y="3512989"/>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계획으로 쌓아두고, 마지막에 한꺼번에 실행</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492240" y="3933613"/>
            <a:ext cx="4599432" cy="10058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q = pl.scan_parquet("logs.parquet")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계획만 기록</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q = q.filter(pl.col("month") == 3)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계획만 기록</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q = q.select(["ts", "url"])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계획만 기록</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ourier New" pitchFamily="34" charset="0"/>
                <a:ea typeface="Courier New" pitchFamily="34" charset="-122"/>
                <a:cs typeface="Courier New" pitchFamily="34" charset="-120"/>
              </a:rPr>
              <a:t>df = q.collect()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이때 처음 실행</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5" name="Text 13"/>
          <p:cNvSpPr/>
          <p:nvPr/>
        </p:nvSpPr>
        <p:spPr>
          <a:xfrm>
            <a:off x="6492240" y="5067469"/>
            <a:ext cx="4599432"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계획 전체를 보고: 3월 블록, 2개 컬럼만 읽음</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92240" y="5442373"/>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실행 계획은 q.explain()으로 눈으로 확인 가능.</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8D83793-78E8-7856-B19B-D56028915A78}"/>
              </a:ext>
            </a:extLst>
          </p:cNvPr>
          <p:cNvSpPr txBox="1"/>
          <p:nvPr/>
        </p:nvSpPr>
        <p:spPr>
          <a:xfrm>
            <a:off x="1003470" y="2432695"/>
            <a:ext cx="2482251" cy="948978"/>
          </a:xfrm>
          <a:prstGeom prst="rect">
            <a:avLst/>
          </a:prstGeom>
          <a:noFill/>
        </p:spPr>
        <p:txBody>
          <a:bodyPr wrap="square">
            <a:spAutoFit/>
          </a:body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“3월부터 12월까지 </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읽어줘</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10개월치를 </a:t>
            </a:r>
            <a:r>
              <a:rPr kumimoji="0" lang="en-US" altLang="ko-KR" sz="120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전부</a:t>
            </a:r>
            <a:r>
              <a:rPr kumimoji="0" lang="en-US" altLang="ko-KR"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a:t>
            </a:r>
            <a:r>
              <a:rPr kumimoji="0" lang="en-US" altLang="ko-KR" sz="120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읽음</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그중</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3월만 </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남겨줘</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a:t>
            </a:r>
            <a:r>
              <a:rPr kumimoji="0" lang="ko-KR" alt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나머지 </a:t>
            </a:r>
            <a:r>
              <a:rPr kumimoji="0" lang="en-US" altLang="ko-KR"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9개월치를 </a:t>
            </a:r>
            <a:r>
              <a:rPr kumimoji="0" lang="en-US" altLang="ko-KR" sz="120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버림</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FE02D64-BE58-9894-0B41-17BAF459AD8E}"/>
              </a:ext>
            </a:extLst>
          </p:cNvPr>
          <p:cNvSpPr txBox="1"/>
          <p:nvPr/>
        </p:nvSpPr>
        <p:spPr>
          <a:xfrm>
            <a:off x="6688667" y="2550396"/>
            <a:ext cx="3539067" cy="730969"/>
          </a:xfrm>
          <a:prstGeom prst="rect">
            <a:avLst/>
          </a:prstGeom>
          <a:noFill/>
        </p:spPr>
        <p:txBody>
          <a:bodyPr wrap="square">
            <a:spAutoFit/>
          </a:bodyPr>
          <a:lstStyle/>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“3월부터 12월까지 </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읽고</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그중</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3월만 </a:t>
            </a:r>
            <a:r>
              <a:rPr kumimoji="0" lang="en-US" altLang="ko-KR" sz="12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남겨줘</a:t>
            </a:r>
            <a:r>
              <a:rPr kumimoji="0" lang="en-US" altLang="ko-KR" sz="12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어차피</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3월만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쓴다는</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걸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실행</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전에</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파악</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7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처음부터</a:t>
            </a:r>
            <a:r>
              <a:rPr kumimoji="0" lang="en-US" altLang="ko-KR" sz="12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3월만 </a:t>
            </a:r>
            <a:r>
              <a:rPr kumimoji="0" lang="en-US" altLang="ko-KR" sz="12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읽음</a:t>
            </a:r>
            <a:endParaRPr kumimoji="0" lang="en-US" altLang="ko-KR"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해법 3. 계획을 본 엔진이 실행 전에 하는 일</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22960" y="1207008"/>
            <a:ext cx="10543032" cy="45720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실행 계획을 고쳐 쓰는 네 가지 최적화 — 전부 “안 해도 될 일 지우기”</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p:cNvGraphicFramePr>
            <a:graphicFrameLocks noGrp="1"/>
          </p:cNvGraphicFramePr>
          <p:nvPr/>
        </p:nvGraphicFramePr>
        <p:xfrm>
          <a:off x="822960" y="1828800"/>
          <a:ext cx="10543032" cy="3337560"/>
        </p:xfrm>
        <a:graphic>
          <a:graphicData uri="http://schemas.openxmlformats.org/drawingml/2006/table">
            <a:tbl>
              <a:tblPr/>
              <a:tblGrid>
                <a:gridCol w="2468880">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365760">
                <a:tc>
                  <a:txBody>
                    <a:bodyPr/>
                    <a:lstStyle/>
                    <a:p>
                      <a:pPr marL="0" indent="0" algn="ctr">
                        <a:buNone/>
                      </a:pPr>
                      <a:r>
                        <a:rPr lang="en-US" sz="1200" b="1" dirty="0">
                          <a:solidFill>
                            <a:srgbClr val="FFD733"/>
                          </a:solidFill>
                          <a:latin typeface="Malgun Gothic" pitchFamily="34" charset="0"/>
                          <a:ea typeface="Malgun Gothic" pitchFamily="34" charset="-122"/>
                          <a:cs typeface="Malgun Gothic" pitchFamily="34" charset="-120"/>
                        </a:rPr>
                        <a:t>실행 전에 하는 일</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tc>
                  <a:txBody>
                    <a:bodyPr/>
                    <a:lstStyle/>
                    <a:p>
                      <a:pPr marL="0" indent="0" algn="ctr">
                        <a:buNone/>
                      </a:pPr>
                      <a:r>
                        <a:rPr lang="en-US" sz="1200" b="1" dirty="0">
                          <a:solidFill>
                            <a:srgbClr val="FFD733"/>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extLst>
                  <a:ext uri="{0D108BD9-81ED-4DB2-BD59-A6C34878D82A}">
                    <a16:rowId xmlns:a16="http://schemas.microsoft.com/office/drawing/2014/main" val="10000"/>
                  </a:ext>
                </a:extLst>
              </a:tr>
              <a:tr h="777240">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필요한 컬럼만</a:t>
                      </a:r>
                      <a:endParaRPr lang="en-US" sz="1200" dirty="0">
                        <a:latin typeface="Malgun Gothic" charset="0"/>
                        <a:ea typeface="Malgun Gothic" charset="0"/>
                        <a:cs typeface="Malgun Gothic" charset="0"/>
                      </a:endParaRPr>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읽도록 계획 수정</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342900" indent="-342900">
                        <a:spcAft>
                          <a:spcPts val="400"/>
                        </a:spcAft>
                        <a:buSzPct val="100000"/>
                        <a:buChar char="•"/>
                      </a:pPr>
                      <a:r>
                        <a:rPr lang="en-US" sz="1200" dirty="0">
                          <a:solidFill>
                            <a:srgbClr val="ECE7DC"/>
                          </a:solidFill>
                          <a:latin typeface="Malgun Gothic" pitchFamily="34" charset="0"/>
                          <a:ea typeface="Malgun Gothic" pitchFamily="34" charset="-122"/>
                          <a:cs typeface="Malgun Gothic" pitchFamily="34" charset="-120"/>
                        </a:rPr>
                        <a:t>끝까지 쓰는 컬럼이 ts, url 2개뿐임을 파악해, 읽기 단계를 “2개만 읽기”로 고침 (projection pushdown)</a:t>
                      </a:r>
                      <a:endParaRPr lang="en-US" sz="1200" dirty="0">
                        <a:latin typeface="Malgun Gothic" charset="0"/>
                        <a:ea typeface="Malgun Gothic" charset="0"/>
                        <a:cs typeface="Malgun Gothic" charset="0"/>
                      </a:endParaRPr>
                    </a:p>
                    <a:p>
                      <a:pPr marL="342900" indent="-342900">
                        <a:buSzPct val="100000"/>
                        <a:buChar char="•"/>
                      </a:pPr>
                      <a:r>
                        <a:rPr lang="en-US" sz="1200" dirty="0">
                          <a:solidFill>
                            <a:srgbClr val="ECE7DC"/>
                          </a:solidFill>
                          <a:latin typeface="Malgun Gothic" pitchFamily="34" charset="0"/>
                          <a:ea typeface="Malgun Gothic" pitchFamily="34" charset="-122"/>
                          <a:cs typeface="Malgun Gothic" pitchFamily="34" charset="-120"/>
                        </a:rPr>
                        <a:t>해법 2의 열 단위 저장 덕분에 골라 읽기가 실제로 가능</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1"/>
                  </a:ext>
                </a:extLst>
              </a:tr>
              <a:tr h="777240">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필요 없는 블록은</a:t>
                      </a:r>
                      <a:endParaRPr lang="en-US" sz="1200" dirty="0">
                        <a:latin typeface="Malgun Gothic" charset="0"/>
                        <a:ea typeface="Malgun Gothic" charset="0"/>
                        <a:cs typeface="Malgun Gothic" charset="0"/>
                      </a:endParaRPr>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건너뛰도록 조건 전달</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342900" indent="-342900">
                        <a:spcAft>
                          <a:spcPts val="400"/>
                        </a:spcAft>
                        <a:buSzPct val="100000"/>
                        <a:buChar char="•"/>
                      </a:pPr>
                      <a:r>
                        <a:rPr lang="en-US" sz="1200" dirty="0">
                          <a:solidFill>
                            <a:srgbClr val="ECE7DC"/>
                          </a:solidFill>
                          <a:latin typeface="Malgun Gothic" pitchFamily="34" charset="0"/>
                          <a:ea typeface="Malgun Gothic" pitchFamily="34" charset="-122"/>
                          <a:cs typeface="Malgun Gothic" pitchFamily="34" charset="-120"/>
                        </a:rPr>
                        <a:t>month == 3 조건을 읽기 단계까지 내려보내, 블록 라벨(최소·최대값)과 대조 (predicate pushdown)</a:t>
                      </a:r>
                      <a:endParaRPr lang="en-US" sz="1200" dirty="0">
                        <a:latin typeface="Malgun Gothic" charset="0"/>
                        <a:ea typeface="Malgun Gothic" charset="0"/>
                        <a:cs typeface="Malgun Gothic" charset="0"/>
                      </a:endParaRPr>
                    </a:p>
                    <a:p>
                      <a:pPr marL="342900" indent="-342900">
                        <a:buSzPct val="100000"/>
                        <a:buChar char="•"/>
                      </a:pPr>
                      <a:r>
                        <a:rPr lang="en-US" sz="1200" dirty="0">
                          <a:solidFill>
                            <a:srgbClr val="ECE7DC"/>
                          </a:solidFill>
                          <a:latin typeface="Malgun Gothic" pitchFamily="34" charset="0"/>
                          <a:ea typeface="Malgun Gothic" pitchFamily="34" charset="-122"/>
                          <a:cs typeface="Malgun Gothic" pitchFamily="34" charset="-120"/>
                        </a:rPr>
                        <a:t>해법 2에서 본 그 라벨 — 조건에 안 맞는 블록은 열지 않고 통과</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2"/>
                  </a:ext>
                </a:extLst>
              </a:tr>
              <a:tr h="777240">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중간 결과를</a:t>
                      </a:r>
                      <a:endParaRPr lang="en-US" sz="1200" dirty="0">
                        <a:latin typeface="Malgun Gothic" charset="0"/>
                        <a:ea typeface="Malgun Gothic" charset="0"/>
                        <a:cs typeface="Malgun Gothic" charset="0"/>
                      </a:endParaRPr>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만들지 않음</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342900" indent="-342900">
                        <a:spcAft>
                          <a:spcPts val="400"/>
                        </a:spcAft>
                        <a:buSzPct val="100000"/>
                        <a:buChar char="•"/>
                      </a:pPr>
                      <a:r>
                        <a:rPr lang="en-US" sz="1200" dirty="0">
                          <a:solidFill>
                            <a:srgbClr val="ECE7DC"/>
                          </a:solidFill>
                          <a:latin typeface="Malgun Gothic" pitchFamily="34" charset="0"/>
                          <a:ea typeface="Malgun Gothic" pitchFamily="34" charset="-122"/>
                          <a:cs typeface="Malgun Gothic" pitchFamily="34" charset="-120"/>
                        </a:rPr>
                        <a:t>읽기 → 필터 → 선택을 한 흐름으로 이어붙여, 단계마다 통째로 생기던 중간 결과가 사라짐</a:t>
                      </a:r>
                      <a:endParaRPr lang="en-US" sz="1200" dirty="0">
                        <a:latin typeface="Malgun Gothic" charset="0"/>
                        <a:ea typeface="Malgun Gothic" charset="0"/>
                        <a:cs typeface="Malgun Gothic" charset="0"/>
                      </a:endParaRPr>
                    </a:p>
                    <a:p>
                      <a:pPr marL="342900" indent="-342900">
                        <a:buSzPct val="100000"/>
                        <a:buChar char="•"/>
                      </a:pPr>
                      <a:r>
                        <a:rPr lang="en-US" sz="1200" dirty="0">
                          <a:solidFill>
                            <a:srgbClr val="ECE7DC"/>
                          </a:solidFill>
                          <a:latin typeface="Malgun Gothic" pitchFamily="34" charset="0"/>
                          <a:ea typeface="Malgun Gothic" pitchFamily="34" charset="-122"/>
                          <a:cs typeface="Malgun Gothic" pitchFamily="34" charset="-120"/>
                        </a:rPr>
                        <a:t>최대 메모리 사용량이 “원본 + 중간 결과”에서 최종 결과 수준으로 줄어듦</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3"/>
                  </a:ext>
                </a:extLst>
              </a:tr>
              <a:tr h="640080">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조각 단위로 실행</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342900" indent="-342900">
                        <a:spcAft>
                          <a:spcPts val="400"/>
                        </a:spcAft>
                        <a:buSzPct val="100000"/>
                        <a:buChar char="•"/>
                      </a:pPr>
                      <a:r>
                        <a:rPr lang="en-US" sz="1200" dirty="0">
                          <a:solidFill>
                            <a:srgbClr val="ECE7DC"/>
                          </a:solidFill>
                          <a:latin typeface="Malgun Gothic" pitchFamily="34" charset="0"/>
                          <a:ea typeface="Malgun Gothic" pitchFamily="34" charset="-122"/>
                          <a:cs typeface="Malgun Gothic" pitchFamily="34" charset="-120"/>
                        </a:rPr>
                        <a:t>완성된 계획을 조각 단위 스트리밍으로 실행 — 해법 1의 청크 처리를 엔진이 자동 수행</a:t>
                      </a:r>
                      <a:endParaRPr lang="en-US" sz="1200" dirty="0">
                        <a:latin typeface="Malgun Gothic" charset="0"/>
                        <a:ea typeface="Malgun Gothic" charset="0"/>
                        <a:cs typeface="Malgun Gothic" charset="0"/>
                      </a:endParaRPr>
                    </a:p>
                    <a:p>
                      <a:pPr marL="342900" indent="-342900">
                        <a:buSzPct val="100000"/>
                        <a:buChar char="•"/>
                      </a:pPr>
                      <a:r>
                        <a:rPr lang="en-US" sz="1200" dirty="0">
                          <a:solidFill>
                            <a:srgbClr val="ECE7DC"/>
                          </a:solidFill>
                          <a:latin typeface="Malgun Gothic" pitchFamily="34" charset="0"/>
                          <a:ea typeface="Malgun Gothic" pitchFamily="34" charset="-122"/>
                          <a:cs typeface="Malgun Gothic" pitchFamily="34" charset="-120"/>
                        </a:rPr>
                        <a:t>메모리보다 큰 데이터도 죽지 않고 끝까지 처리</a:t>
                      </a:r>
                      <a:endParaRPr lang="en-US" sz="1200" dirty="0">
                        <a:latin typeface="Malgun Gothic" charset="0"/>
                        <a:ea typeface="Malgun Gothic" charset="0"/>
                        <a:cs typeface="Malgun Gothic" charset="0"/>
                      </a:endParaRPr>
                    </a:p>
                  </a:txBody>
                  <a:tcPr marL="128016" marR="128016"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4"/>
                  </a:ext>
                </a:extLst>
              </a:tr>
            </a:tbl>
          </a:graphicData>
        </a:graphic>
      </p:graphicFrame>
      <p:sp>
        <p:nvSpPr>
          <p:cNvPr id="6" name="Shape 3"/>
          <p:cNvSpPr/>
          <p:nvPr/>
        </p:nvSpPr>
        <p:spPr>
          <a:xfrm>
            <a:off x="822960" y="5486400"/>
            <a:ext cx="10543032" cy="777240"/>
          </a:xfrm>
          <a:prstGeom prst="roundRect">
            <a:avLst>
              <a:gd name="adj" fmla="val 7059"/>
            </a:avLst>
          </a:prstGeom>
          <a:solidFill>
            <a:srgbClr val="121110"/>
          </a:solidFill>
          <a:ln w="9525">
            <a:solidFill>
              <a:srgbClr val="4A4430"/>
            </a:solidFill>
            <a:prstDash val="solid"/>
          </a:ln>
        </p:spPr>
      </p:sp>
      <p:sp>
        <p:nvSpPr>
          <p:cNvPr id="7" name="Text 4"/>
          <p:cNvSpPr/>
          <p:nvPr/>
        </p:nvSpPr>
        <p:spPr>
          <a:xfrm>
            <a:off x="1115568" y="5486400"/>
            <a:ext cx="9957816" cy="777240"/>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빨라지는 이유는 하드웨어가 아니라 읽는 양. </a:t>
            </a:r>
            <a:r>
              <a:rPr kumimoji="0" lang="en-US" sz="12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해법 2(형식)가 건너뛸 수 있는 능력을, 해법 3(계획)이 무엇을 건너뛸지 아는 판단을, 해법 1(조각)이 실행 방식을 맡는다 — 세 해법이 여기서 하나로 합쳐진다.</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그래서 쓰는 도구 — 해법 1·2·3을 내장한 DuckDB와 Polars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p:cNvGraphicFramePr>
            <a:graphicFrameLocks noGrp="1"/>
          </p:cNvGraphicFramePr>
          <p:nvPr>
            <p:extLst>
              <p:ext uri="{D42A27DB-BD31-4B8C-83A1-F6EECF244321}">
                <p14:modId xmlns:p14="http://schemas.microsoft.com/office/powerpoint/2010/main" val="2455414489"/>
              </p:ext>
            </p:extLst>
          </p:nvPr>
        </p:nvGraphicFramePr>
        <p:xfrm>
          <a:off x="822959" y="1810512"/>
          <a:ext cx="9599507" cy="2679192"/>
        </p:xfrm>
        <a:graphic>
          <a:graphicData uri="http://schemas.openxmlformats.org/drawingml/2006/table">
            <a:tbl>
              <a:tblPr/>
              <a:tblGrid>
                <a:gridCol w="4132629">
                  <a:extLst>
                    <a:ext uri="{9D8B030D-6E8A-4147-A177-3AD203B41FA5}">
                      <a16:colId xmlns:a16="http://schemas.microsoft.com/office/drawing/2014/main" val="20000"/>
                    </a:ext>
                  </a:extLst>
                </a:gridCol>
                <a:gridCol w="5466878">
                  <a:extLst>
                    <a:ext uri="{9D8B030D-6E8A-4147-A177-3AD203B41FA5}">
                      <a16:colId xmlns:a16="http://schemas.microsoft.com/office/drawing/2014/main" val="20002"/>
                    </a:ext>
                  </a:extLst>
                </a:gridCol>
              </a:tblGrid>
              <a:tr h="347472">
                <a:tc>
                  <a:txBody>
                    <a:bodyPr/>
                    <a:lstStyle/>
                    <a:p>
                      <a:pPr marL="0" indent="0" algn="ctr">
                        <a:buNone/>
                      </a:pPr>
                      <a:r>
                        <a:rPr lang="en-US" sz="1200" b="1" dirty="0">
                          <a:solidFill>
                            <a:srgbClr val="FFD733"/>
                          </a:solidFill>
                          <a:latin typeface="Malgun Gothic" pitchFamily="34" charset="0"/>
                          <a:ea typeface="Malgun Gothic" pitchFamily="34" charset="-122"/>
                          <a:cs typeface="Malgun Gothic" pitchFamily="34" charset="-120"/>
                        </a:rPr>
                        <a:t>pandas의 원인</a:t>
                      </a:r>
                      <a:endParaRPr lang="en-US" sz="1200" dirty="0">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tc>
                  <a:txBody>
                    <a:bodyPr/>
                    <a:lstStyle/>
                    <a:p>
                      <a:pPr marL="0" indent="0" algn="ctr">
                        <a:buNone/>
                      </a:pPr>
                      <a:r>
                        <a:rPr lang="en-US" sz="1200" b="1" dirty="0">
                          <a:solidFill>
                            <a:srgbClr val="FFD733"/>
                          </a:solidFill>
                          <a:latin typeface="Malgun Gothic" pitchFamily="34" charset="0"/>
                          <a:ea typeface="Malgun Gothic" pitchFamily="34" charset="-122"/>
                          <a:cs typeface="Malgun Gothic" pitchFamily="34" charset="-120"/>
                        </a:rPr>
                        <a:t>DuckDB · Polars에서는</a:t>
                      </a:r>
                      <a:endParaRPr lang="en-US" sz="1200" dirty="0">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221F16"/>
                    </a:solidFill>
                  </a:tcPr>
                </a:tc>
                <a:extLst>
                  <a:ext uri="{0D108BD9-81ED-4DB2-BD59-A6C34878D82A}">
                    <a16:rowId xmlns:a16="http://schemas.microsoft.com/office/drawing/2014/main" val="10000"/>
                  </a:ext>
                </a:extLst>
              </a:tr>
              <a:tr h="77724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원인 1 · 전체를 </a:t>
                      </a:r>
                      <a:r>
                        <a:rPr lang="en-US" sz="1200" b="1" dirty="0" err="1">
                          <a:solidFill>
                            <a:srgbClr val="FFFFFF"/>
                          </a:solidFill>
                          <a:latin typeface="Malgun Gothic" pitchFamily="34" charset="0"/>
                          <a:ea typeface="Malgun Gothic" pitchFamily="34" charset="-122"/>
                          <a:cs typeface="Malgun Gothic" pitchFamily="34" charset="-120"/>
                        </a:rPr>
                        <a:t>메모리에</a:t>
                      </a:r>
                      <a:r>
                        <a:rPr lang="en-US" sz="1200" b="1" dirty="0">
                          <a:solidFill>
                            <a:srgbClr val="FFFFFF"/>
                          </a:solidFill>
                          <a:latin typeface="Malgun Gothic" pitchFamily="34" charset="0"/>
                          <a:ea typeface="Malgun Gothic" pitchFamily="34" charset="-122"/>
                          <a:cs typeface="Malgun Gothic" pitchFamily="34" charset="-120"/>
                        </a:rPr>
                        <a:t> </a:t>
                      </a:r>
                      <a:r>
                        <a:rPr lang="en-US" sz="1200" b="1" dirty="0" err="1">
                          <a:solidFill>
                            <a:srgbClr val="FFFFFF"/>
                          </a:solidFill>
                          <a:latin typeface="Malgun Gothic" pitchFamily="34" charset="0"/>
                          <a:ea typeface="Malgun Gothic" pitchFamily="34" charset="-122"/>
                          <a:cs typeface="Malgun Gothic" pitchFamily="34" charset="-120"/>
                        </a:rPr>
                        <a:t>적재</a:t>
                      </a:r>
                      <a:endParaRPr lang="en-US" sz="1200" dirty="0">
                        <a:latin typeface="Malgun Gothic" charset="0"/>
                        <a:ea typeface="Malgun Gothic" charset="0"/>
                        <a:cs typeface="Malgun Gothic" charset="0"/>
                      </a:endParaRPr>
                    </a:p>
                    <a:p>
                      <a:pPr marL="0" indent="0">
                        <a:buNone/>
                      </a:pPr>
                      <a:r>
                        <a:rPr lang="ko-KR" altLang="en-US" sz="1200" dirty="0">
                          <a:solidFill>
                            <a:schemeClr val="bg1"/>
                          </a:solidFill>
                          <a:latin typeface="Malgun Gothic" pitchFamily="34" charset="0"/>
                          <a:ea typeface="Malgun Gothic" pitchFamily="34" charset="-122"/>
                          <a:cs typeface="Malgun Gothic" pitchFamily="34" charset="-120"/>
                        </a:rPr>
                        <a:t>데이터 크기가 </a:t>
                      </a:r>
                      <a:r>
                        <a:rPr lang="en-US" sz="1200" dirty="0">
                          <a:solidFill>
                            <a:schemeClr val="bg1"/>
                          </a:solidFill>
                          <a:latin typeface="Malgun Gothic" pitchFamily="34" charset="0"/>
                          <a:ea typeface="Malgun Gothic" pitchFamily="34" charset="-122"/>
                          <a:cs typeface="Malgun Gothic" pitchFamily="34" charset="-120"/>
                        </a:rPr>
                        <a:t>RAM </a:t>
                      </a:r>
                      <a:r>
                        <a:rPr lang="ko-KR" altLang="en-US" sz="1200" dirty="0">
                          <a:solidFill>
                            <a:schemeClr val="bg1"/>
                          </a:solidFill>
                          <a:latin typeface="Malgun Gothic" pitchFamily="34" charset="0"/>
                          <a:ea typeface="Malgun Gothic" pitchFamily="34" charset="-122"/>
                          <a:cs typeface="Malgun Gothic" pitchFamily="34" charset="-120"/>
                        </a:rPr>
                        <a:t>한계를</a:t>
                      </a:r>
                      <a:r>
                        <a:rPr lang="en-US" sz="1200" dirty="0">
                          <a:solidFill>
                            <a:schemeClr val="bg1"/>
                          </a:solidFill>
                          <a:latin typeface="Malgun Gothic" pitchFamily="34" charset="0"/>
                          <a:ea typeface="Malgun Gothic" pitchFamily="34" charset="-122"/>
                          <a:cs typeface="Malgun Gothic" pitchFamily="34" charset="-120"/>
                        </a:rPr>
                        <a:t> 넘기면 죽는다</a:t>
                      </a:r>
                      <a:endParaRPr lang="en-US" sz="1200" dirty="0">
                        <a:solidFill>
                          <a:schemeClr val="bg1"/>
                        </a:solidFill>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0" indent="0">
                        <a:buNone/>
                      </a:pPr>
                      <a:r>
                        <a:rPr lang="en-US" sz="1200" dirty="0" err="1">
                          <a:solidFill>
                            <a:srgbClr val="FFD733"/>
                          </a:solidFill>
                          <a:latin typeface="Malgun Gothic" pitchFamily="34" charset="0"/>
                          <a:ea typeface="Malgun Gothic" pitchFamily="34" charset="-122"/>
                          <a:cs typeface="Malgun Gothic" pitchFamily="34" charset="-120"/>
                        </a:rPr>
                        <a:t>조각</a:t>
                      </a:r>
                      <a:r>
                        <a:rPr lang="en-US" sz="1200" dirty="0">
                          <a:solidFill>
                            <a:srgbClr val="FFD733"/>
                          </a:solidFill>
                          <a:latin typeface="Malgun Gothic" pitchFamily="34" charset="0"/>
                          <a:ea typeface="Malgun Gothic" pitchFamily="34" charset="-122"/>
                          <a:cs typeface="Malgun Gothic" pitchFamily="34" charset="-120"/>
                        </a:rPr>
                        <a:t> 처리를 엔진이 자동 수행. </a:t>
                      </a:r>
                      <a:r>
                        <a:rPr lang="en-US" sz="1200" dirty="0" err="1">
                          <a:solidFill>
                            <a:srgbClr val="FFD733"/>
                          </a:solidFill>
                          <a:latin typeface="Malgun Gothic" pitchFamily="34" charset="0"/>
                          <a:ea typeface="Malgun Gothic" pitchFamily="34" charset="-122"/>
                          <a:cs typeface="Malgun Gothic" pitchFamily="34" charset="-120"/>
                        </a:rPr>
                        <a:t>메모리</a:t>
                      </a:r>
                      <a:r>
                        <a:rPr lang="en-US" sz="1200" dirty="0">
                          <a:solidFill>
                            <a:srgbClr val="FFD733"/>
                          </a:solidFill>
                          <a:latin typeface="Malgun Gothic" pitchFamily="34" charset="0"/>
                          <a:ea typeface="Malgun Gothic" pitchFamily="34" charset="-122"/>
                          <a:cs typeface="Malgun Gothic" pitchFamily="34" charset="-120"/>
                        </a:rPr>
                        <a:t> </a:t>
                      </a:r>
                      <a:r>
                        <a:rPr lang="ko-KR" altLang="en-US" sz="1200" dirty="0">
                          <a:solidFill>
                            <a:srgbClr val="FFD733"/>
                          </a:solidFill>
                          <a:latin typeface="Malgun Gothic" pitchFamily="34" charset="0"/>
                          <a:ea typeface="Malgun Gothic" pitchFamily="34" charset="-122"/>
                          <a:cs typeface="Malgun Gothic" pitchFamily="34" charset="-120"/>
                        </a:rPr>
                        <a:t>한계</a:t>
                      </a:r>
                      <a:r>
                        <a:rPr lang="en-US" sz="1200" dirty="0">
                          <a:solidFill>
                            <a:srgbClr val="FFD733"/>
                          </a:solidFill>
                          <a:latin typeface="Malgun Gothic" pitchFamily="34" charset="0"/>
                          <a:ea typeface="Malgun Gothic" pitchFamily="34" charset="-122"/>
                          <a:cs typeface="Malgun Gothic" pitchFamily="34" charset="-120"/>
                        </a:rPr>
                        <a:t>를 넘기면 </a:t>
                      </a:r>
                      <a:r>
                        <a:rPr lang="en-US" sz="1200" dirty="0" err="1">
                          <a:solidFill>
                            <a:srgbClr val="FFD733"/>
                          </a:solidFill>
                          <a:latin typeface="Malgun Gothic" pitchFamily="34" charset="0"/>
                          <a:ea typeface="Malgun Gothic" pitchFamily="34" charset="-122"/>
                          <a:cs typeface="Malgun Gothic" pitchFamily="34" charset="-120"/>
                        </a:rPr>
                        <a:t>디스크를</a:t>
                      </a:r>
                      <a:r>
                        <a:rPr lang="en-US" sz="1200" dirty="0">
                          <a:solidFill>
                            <a:srgbClr val="FFD733"/>
                          </a:solidFill>
                          <a:latin typeface="Malgun Gothic" pitchFamily="34" charset="0"/>
                          <a:ea typeface="Malgun Gothic" pitchFamily="34" charset="-122"/>
                          <a:cs typeface="Malgun Gothic" pitchFamily="34" charset="-120"/>
                        </a:rPr>
                        <a:t> </a:t>
                      </a:r>
                      <a:r>
                        <a:rPr lang="en-US" sz="1200" dirty="0" err="1">
                          <a:solidFill>
                            <a:srgbClr val="FFD733"/>
                          </a:solidFill>
                          <a:latin typeface="Malgun Gothic" pitchFamily="34" charset="0"/>
                          <a:ea typeface="Malgun Gothic" pitchFamily="34" charset="-122"/>
                          <a:cs typeface="Malgun Gothic" pitchFamily="34" charset="-120"/>
                        </a:rPr>
                        <a:t>빌려</a:t>
                      </a:r>
                      <a:r>
                        <a:rPr lang="ko-KR" altLang="en-US" sz="1200" dirty="0">
                          <a:solidFill>
                            <a:srgbClr val="FFD733"/>
                          </a:solidFill>
                          <a:latin typeface="Malgun Gothic" pitchFamily="34" charset="0"/>
                          <a:ea typeface="Malgun Gothic" pitchFamily="34" charset="-122"/>
                          <a:cs typeface="Malgun Gothic" pitchFamily="34" charset="-120"/>
                        </a:rPr>
                        <a:t>서 사용</a:t>
                      </a:r>
                      <a:r>
                        <a:rPr lang="en-US" altLang="ko-KR" sz="1200" dirty="0">
                          <a:solidFill>
                            <a:srgbClr val="FFD733"/>
                          </a:solidFill>
                          <a:latin typeface="Malgun Gothic" pitchFamily="34" charset="0"/>
                          <a:ea typeface="Malgun Gothic" pitchFamily="34" charset="-122"/>
                          <a:cs typeface="Malgun Gothic" pitchFamily="34" charset="-120"/>
                        </a:rPr>
                        <a:t>.</a:t>
                      </a:r>
                      <a:r>
                        <a:rPr lang="en-US" sz="1200" dirty="0">
                          <a:solidFill>
                            <a:srgbClr val="FFD733"/>
                          </a:solidFill>
                          <a:latin typeface="Malgun Gothic" pitchFamily="34" charset="0"/>
                          <a:ea typeface="Malgun Gothic" pitchFamily="34" charset="-122"/>
                          <a:cs typeface="Malgun Gothic" pitchFamily="34" charset="-120"/>
                        </a:rPr>
                        <a:t> 죽는 대신 느려질 뿐</a:t>
                      </a:r>
                      <a:endParaRPr lang="en-US" sz="1200" dirty="0">
                        <a:solidFill>
                          <a:srgbClr val="FFD733"/>
                        </a:solidFill>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1"/>
                  </a:ext>
                </a:extLst>
              </a:tr>
              <a:tr h="77724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원인 2 · </a:t>
                      </a:r>
                      <a:r>
                        <a:rPr lang="ko-KR" altLang="en-US" sz="1200" b="1" dirty="0">
                          <a:solidFill>
                            <a:srgbClr val="FFFFFF"/>
                          </a:solidFill>
                          <a:latin typeface="Malgun Gothic" pitchFamily="34" charset="0"/>
                          <a:ea typeface="Malgun Gothic" pitchFamily="34" charset="-122"/>
                          <a:cs typeface="Malgun Gothic" pitchFamily="34" charset="-120"/>
                        </a:rPr>
                        <a:t>스레드 </a:t>
                      </a:r>
                      <a:r>
                        <a:rPr lang="en-US" sz="1200" b="1" dirty="0" err="1">
                          <a:solidFill>
                            <a:srgbClr val="FFFFFF"/>
                          </a:solidFill>
                          <a:latin typeface="Malgun Gothic" pitchFamily="34" charset="0"/>
                          <a:ea typeface="Malgun Gothic" pitchFamily="34" charset="-122"/>
                          <a:cs typeface="Malgun Gothic" pitchFamily="34" charset="-120"/>
                        </a:rPr>
                        <a:t>코어</a:t>
                      </a:r>
                      <a:r>
                        <a:rPr lang="en-US" sz="1200" b="1" dirty="0">
                          <a:solidFill>
                            <a:srgbClr val="FFFFFF"/>
                          </a:solidFill>
                          <a:latin typeface="Malgun Gothic" pitchFamily="34" charset="0"/>
                          <a:ea typeface="Malgun Gothic" pitchFamily="34" charset="-122"/>
                          <a:cs typeface="Malgun Gothic" pitchFamily="34" charset="-120"/>
                        </a:rPr>
                        <a:t> </a:t>
                      </a:r>
                      <a:r>
                        <a:rPr lang="en-US" sz="1200" b="1" dirty="0" err="1">
                          <a:solidFill>
                            <a:srgbClr val="FFFFFF"/>
                          </a:solidFill>
                          <a:latin typeface="Malgun Gothic" pitchFamily="34" charset="0"/>
                          <a:ea typeface="Malgun Gothic" pitchFamily="34" charset="-122"/>
                          <a:cs typeface="Malgun Gothic" pitchFamily="34" charset="-120"/>
                        </a:rPr>
                        <a:t>하나만</a:t>
                      </a:r>
                      <a:r>
                        <a:rPr lang="en-US" sz="1200" b="1" dirty="0">
                          <a:solidFill>
                            <a:srgbClr val="FFFFFF"/>
                          </a:solidFill>
                          <a:latin typeface="Malgun Gothic" pitchFamily="34" charset="0"/>
                          <a:ea typeface="Malgun Gothic" pitchFamily="34" charset="-122"/>
                          <a:cs typeface="Malgun Gothic" pitchFamily="34" charset="-120"/>
                        </a:rPr>
                        <a:t> </a:t>
                      </a:r>
                      <a:r>
                        <a:rPr lang="en-US" sz="1200" b="1" dirty="0" err="1">
                          <a:solidFill>
                            <a:srgbClr val="FFFFFF"/>
                          </a:solidFill>
                          <a:latin typeface="Malgun Gothic" pitchFamily="34" charset="0"/>
                          <a:ea typeface="Malgun Gothic" pitchFamily="34" charset="-122"/>
                          <a:cs typeface="Malgun Gothic" pitchFamily="34" charset="-120"/>
                        </a:rPr>
                        <a:t>사용</a:t>
                      </a:r>
                      <a:endParaRPr lang="en-US" sz="1200" dirty="0">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0" indent="0">
                        <a:buNone/>
                      </a:pPr>
                      <a:r>
                        <a:rPr lang="en-US" sz="1200" dirty="0" err="1">
                          <a:solidFill>
                            <a:srgbClr val="FFD733"/>
                          </a:solidFill>
                          <a:latin typeface="Malgun Gothic" pitchFamily="34" charset="0"/>
                          <a:ea typeface="Malgun Gothic" pitchFamily="34" charset="-122"/>
                          <a:cs typeface="Malgun Gothic" pitchFamily="34" charset="-120"/>
                        </a:rPr>
                        <a:t>작업을</a:t>
                      </a:r>
                      <a:r>
                        <a:rPr lang="en-US" sz="1200" dirty="0">
                          <a:solidFill>
                            <a:srgbClr val="FFD733"/>
                          </a:solidFill>
                          <a:latin typeface="Malgun Gothic" pitchFamily="34" charset="0"/>
                          <a:ea typeface="Malgun Gothic" pitchFamily="34" charset="-122"/>
                          <a:cs typeface="Malgun Gothic" pitchFamily="34" charset="-120"/>
                        </a:rPr>
                        <a:t> 모든 CPU 코어에 나눠 동시에 처리</a:t>
                      </a:r>
                      <a:endParaRPr lang="en-US" sz="1200" dirty="0">
                        <a:solidFill>
                          <a:srgbClr val="FFD733"/>
                        </a:solidFill>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2"/>
                  </a:ext>
                </a:extLst>
              </a:tr>
              <a:tr h="77724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원인 3 · 계획 없이 </a:t>
                      </a:r>
                      <a:r>
                        <a:rPr lang="en-US" sz="1200" b="1" dirty="0" err="1">
                          <a:solidFill>
                            <a:srgbClr val="FFFFFF"/>
                          </a:solidFill>
                          <a:latin typeface="Malgun Gothic" pitchFamily="34" charset="0"/>
                          <a:ea typeface="Malgun Gothic" pitchFamily="34" charset="-122"/>
                          <a:cs typeface="Malgun Gothic" pitchFamily="34" charset="-120"/>
                        </a:rPr>
                        <a:t>그때그때</a:t>
                      </a:r>
                      <a:r>
                        <a:rPr lang="en-US" sz="1200" b="1" dirty="0">
                          <a:solidFill>
                            <a:srgbClr val="FFFFFF"/>
                          </a:solidFill>
                          <a:latin typeface="Malgun Gothic" pitchFamily="34" charset="0"/>
                          <a:ea typeface="Malgun Gothic" pitchFamily="34" charset="-122"/>
                          <a:cs typeface="Malgun Gothic" pitchFamily="34" charset="-120"/>
                        </a:rPr>
                        <a:t> </a:t>
                      </a:r>
                      <a:r>
                        <a:rPr lang="en-US" sz="1200" b="1" dirty="0" err="1">
                          <a:solidFill>
                            <a:srgbClr val="FFFFFF"/>
                          </a:solidFill>
                          <a:latin typeface="Malgun Gothic" pitchFamily="34" charset="0"/>
                          <a:ea typeface="Malgun Gothic" pitchFamily="34" charset="-122"/>
                          <a:cs typeface="Malgun Gothic" pitchFamily="34" charset="-120"/>
                        </a:rPr>
                        <a:t>실행</a:t>
                      </a:r>
                      <a:endParaRPr lang="en-US" sz="1200" dirty="0">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tc>
                  <a:txBody>
                    <a:bodyPr/>
                    <a:lstStyle/>
                    <a:p>
                      <a:pPr marL="0" indent="0">
                        <a:buNone/>
                      </a:pPr>
                      <a:r>
                        <a:rPr lang="en-US" sz="1200" dirty="0" err="1">
                          <a:solidFill>
                            <a:srgbClr val="FFD733"/>
                          </a:solidFill>
                          <a:latin typeface="Malgun Gothic" pitchFamily="34" charset="0"/>
                          <a:ea typeface="Malgun Gothic" pitchFamily="34" charset="-122"/>
                          <a:cs typeface="Malgun Gothic" pitchFamily="34" charset="-120"/>
                        </a:rPr>
                        <a:t>계획을</a:t>
                      </a:r>
                      <a:r>
                        <a:rPr lang="en-US" sz="1200" dirty="0">
                          <a:solidFill>
                            <a:srgbClr val="FFD733"/>
                          </a:solidFill>
                          <a:latin typeface="Malgun Gothic" pitchFamily="34" charset="0"/>
                          <a:ea typeface="Malgun Gothic" pitchFamily="34" charset="-122"/>
                          <a:cs typeface="Malgun Gothic" pitchFamily="34" charset="-120"/>
                        </a:rPr>
                        <a:t> 보고 필요한 컬럼과 블록만 읽음</a:t>
                      </a:r>
                      <a:endParaRPr lang="en-US" sz="1200" dirty="0">
                        <a:solidFill>
                          <a:srgbClr val="FFD733"/>
                        </a:solidFill>
                        <a:latin typeface="Malgun Gothic" charset="0"/>
                        <a:ea typeface="Malgun Gothic" charset="0"/>
                        <a:cs typeface="Malgun Gothic" charset="0"/>
                      </a:endParaRPr>
                    </a:p>
                  </a:txBody>
                  <a:tcPr marL="109728" marR="109728" marT="54864" marB="54864" anchor="ctr">
                    <a:lnL w="9525" cap="flat" cmpd="sng" algn="ctr">
                      <a:solidFill>
                        <a:srgbClr val="2E2A1E"/>
                      </a:solidFill>
                      <a:prstDash val="solid"/>
                      <a:round/>
                      <a:headEnd type="none" w="med" len="med"/>
                      <a:tailEnd type="none" w="med" len="med"/>
                    </a:lnL>
                    <a:lnR w="9525" cap="flat" cmpd="sng" algn="ctr">
                      <a:solidFill>
                        <a:srgbClr val="2E2A1E"/>
                      </a:solidFill>
                      <a:prstDash val="solid"/>
                      <a:round/>
                      <a:headEnd type="none" w="med" len="med"/>
                      <a:tailEnd type="none" w="med" len="med"/>
                    </a:lnR>
                    <a:lnT w="9525" cap="flat" cmpd="sng" algn="ctr">
                      <a:solidFill>
                        <a:srgbClr val="2E2A1E"/>
                      </a:solidFill>
                      <a:prstDash val="solid"/>
                      <a:round/>
                      <a:headEnd type="none" w="med" len="med"/>
                      <a:tailEnd type="none" w="med" len="med"/>
                    </a:lnT>
                    <a:lnB w="9525" cap="flat" cmpd="sng" algn="ctr">
                      <a:solidFill>
                        <a:srgbClr val="2E2A1E"/>
                      </a:solidFill>
                      <a:prstDash val="solid"/>
                      <a:round/>
                      <a:headEnd type="none" w="med" len="med"/>
                      <a:tailEnd type="none" w="med" len="med"/>
                    </a:lnB>
                    <a:solidFill>
                      <a:srgbClr val="1A1810"/>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두 도구의 차이는 질문하는 방식 하나</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22960" y="1207008"/>
            <a:ext cx="10543032" cy="45720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3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하는 일은 같다 — 계획을 세워 필요한 것만 읽기. 그 계획을 SQL 문장으로 말하느냐, 파이썬 코드로 쌓느냐만 다름.</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822960" y="1810512"/>
            <a:ext cx="5148072" cy="2880360"/>
          </a:xfrm>
          <a:prstGeom prst="roundRect">
            <a:avLst>
              <a:gd name="adj" fmla="val 1905"/>
            </a:avLst>
          </a:prstGeom>
          <a:solidFill>
            <a:srgbClr val="221F16"/>
          </a:solidFill>
          <a:ln w="12700">
            <a:solidFill>
              <a:srgbClr val="FFD733"/>
            </a:solidFill>
            <a:prstDash val="solid"/>
          </a:ln>
        </p:spPr>
      </p:sp>
      <p:sp>
        <p:nvSpPr>
          <p:cNvPr id="6" name="Text 4"/>
          <p:cNvSpPr/>
          <p:nvPr/>
        </p:nvSpPr>
        <p:spPr>
          <a:xfrm>
            <a:off x="1097280" y="1956816"/>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DuckDB — 오늘의 주력</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097280" y="2231136"/>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원하는 것을 SQL 문장으로 말한다</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097280" y="2651760"/>
            <a:ext cx="4599432" cy="12344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duckdb.sql("""          </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SELECT ts, url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컬럼들을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FROM 'logs.parquet'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파일에서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WHERE month = 3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조건으로 줘</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""").df()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결과는 pandas 표로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097280" y="4041648"/>
            <a:ext cx="4599432" cy="502920"/>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문장 전체가 하나의 계획. 파일을 미리 열어둘 필요도, 실행 버튼(collect)도 따로 없음.</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227064" y="1810512"/>
            <a:ext cx="5148072" cy="2880360"/>
          </a:xfrm>
          <a:prstGeom prst="roundRect">
            <a:avLst>
              <a:gd name="adj" fmla="val 1905"/>
            </a:avLst>
          </a:prstGeom>
          <a:solidFill>
            <a:srgbClr val="1A1810"/>
          </a:solidFill>
          <a:ln w="9525">
            <a:solidFill>
              <a:srgbClr val="4A4430"/>
            </a:solidFill>
            <a:prstDash val="solid"/>
          </a:ln>
        </p:spPr>
      </p:sp>
      <p:sp>
        <p:nvSpPr>
          <p:cNvPr id="11" name="Text 9"/>
          <p:cNvSpPr/>
          <p:nvPr/>
        </p:nvSpPr>
        <p:spPr>
          <a:xfrm>
            <a:off x="6501384" y="1956816"/>
            <a:ext cx="459943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Polars — 비교 시연</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501384" y="2231136"/>
            <a:ext cx="459943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원하는 것을 파이썬 코드로 쌓는다</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501384" y="2651760"/>
            <a:ext cx="4599432" cy="10058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(pl.scan_parquet("logs.parquet")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파일에서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.filter(pl.col("month") == 3)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조건으로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.select(["ts", "url"])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 컬럼들을</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E7DC"/>
                </a:solidFill>
                <a:effectLst/>
                <a:uLnTx/>
                <a:uFillTx/>
                <a:latin typeface="Courier New" pitchFamily="34" charset="0"/>
                <a:ea typeface="Courier New" pitchFamily="34" charset="-122"/>
                <a:cs typeface="Courier New" pitchFamily="34" charset="-120"/>
              </a:rPr>
              <a:t>   .collect())                    </a:t>
            </a: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이제 실행해 줘</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501384" y="4041648"/>
            <a:ext cx="4599432" cy="502920"/>
          </a:xfrm>
          <a:prstGeom prst="rect">
            <a:avLst/>
          </a:prstGeom>
          <a:noFill/>
          <a:ln/>
        </p:spPr>
        <p:txBody>
          <a:bodyPr wrap="square" lIns="0" tIns="0" rIns="0" bIns="0" rtlCol="0" anchor="ctr"/>
          <a:lstStyle/>
          <a:p>
            <a:pPr marL="0" marR="0" lvl="0" indent="0" algn="l" defTabSz="914400" rtl="0" eaLnBrk="1" fontAlgn="auto" latinLnBrk="0" hangingPunct="1">
              <a:lnSpc>
                <a:spcPts val="16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collect() 전까지는 계획만 쌓임. pandas를 써 본 사람에게 익숙한 모양새.</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822960" y="548640"/>
            <a:ext cx="1054303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오늘</a:t>
            </a: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25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실습</a:t>
            </a:r>
            <a:r>
              <a:rPr kumimoji="0" lang="ko-KR" alt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은</a:t>
            </a: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25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DuckDB</a:t>
            </a:r>
            <a:r>
              <a:rPr kumimoji="0" 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25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위주</a:t>
            </a:r>
            <a:r>
              <a:rPr kumimoji="0" lang="ko-KR" altLang="en-US" sz="25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로 진행</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822959" y="1207008"/>
            <a:ext cx="10954173" cy="2602992"/>
          </a:xfrm>
          <a:prstGeom prst="rect">
            <a:avLst/>
          </a:prstGeom>
          <a:noFill/>
          <a:ln/>
        </p:spPr>
        <p:txBody>
          <a:bodyPr wrap="square" lIns="0" tIns="0" rIns="0" bIns="0" rtlCol="0" anchor="ctr"/>
          <a:lstStyle/>
          <a:p>
            <a:pPr marL="342900" marR="0" lvl="0" indent="-342900" algn="l" defTabSz="914400" rtl="0" eaLnBrk="1" fontAlgn="auto" latinLnBrk="0" hangingPunct="1">
              <a:lnSpc>
                <a:spcPct val="150000"/>
              </a:lnSpc>
              <a:spcBef>
                <a:spcPts val="0"/>
              </a:spcBef>
              <a:spcAft>
                <a:spcPts val="0"/>
              </a:spcAft>
              <a:buClrTx/>
              <a:buSzPct val="100000"/>
              <a:buFontTx/>
              <a:buChar char="•"/>
              <a:tabLst/>
              <a:defRPr/>
            </a:pP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성능은 비슷한 수준이나</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데이터 분석 현장에서 </a:t>
            </a:r>
            <a:r>
              <a:rPr kumimoji="0" lang="en-US" altLang="ko-KR" sz="1400" b="0" i="0" u="none" strike="noStrike" kern="1200" cap="none" spc="0" normalizeH="0" baseline="0" noProof="0" dirty="0" err="1">
                <a:ln>
                  <a:noFill/>
                </a:ln>
                <a:solidFill>
                  <a:schemeClr val="bg1"/>
                </a:solidFill>
                <a:effectLst/>
                <a:uLnTx/>
                <a:uFillTx/>
                <a:latin typeface="+mn-ea"/>
                <a:cs typeface="Malgun Gothic" pitchFamily="34" charset="-120"/>
              </a:rPr>
              <a:t>DuckDB</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가 좀 더 자리를 잡아 </a:t>
            </a:r>
            <a:r>
              <a:rPr kumimoji="0" lang="en-US" altLang="ko-KR" sz="1400" b="0" i="0" u="none" strike="noStrike" kern="1200" cap="none" spc="0" normalizeH="0" baseline="0" noProof="0" dirty="0" err="1">
                <a:ln>
                  <a:noFill/>
                </a:ln>
                <a:solidFill>
                  <a:schemeClr val="bg1"/>
                </a:solidFill>
                <a:effectLst/>
                <a:uLnTx/>
                <a:uFillTx/>
                <a:latin typeface="+mn-ea"/>
                <a:cs typeface="Malgun Gothic" pitchFamily="34" charset="-120"/>
              </a:rPr>
              <a:t>DuckDB</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위주로 진행하고 </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Polars</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는 보조 실습으로 다룸</a:t>
            </a:r>
            <a:endPar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endParaRPr>
          </a:p>
          <a:p>
            <a:pPr marL="342900" marR="0" lvl="0" indent="-342900" algn="l" defTabSz="914400" rtl="0" eaLnBrk="1" fontAlgn="auto" latinLnBrk="0" hangingPunct="1">
              <a:lnSpc>
                <a:spcPct val="150000"/>
              </a:lnSpc>
              <a:spcBef>
                <a:spcPts val="0"/>
              </a:spcBef>
              <a:spcAft>
                <a:spcPts val="0"/>
              </a:spcAft>
              <a:buClrTx/>
              <a:buSzPct val="100000"/>
              <a:buFontTx/>
              <a:buChar char="•"/>
              <a:tabLst/>
              <a:defRPr/>
            </a:pPr>
            <a:endParaRPr lang="en-US" altLang="ko-KR" sz="1400" dirty="0">
              <a:solidFill>
                <a:schemeClr val="bg1"/>
              </a:solidFill>
              <a:latin typeface="+mn-ea"/>
              <a:cs typeface="Malgun Gothic" pitchFamily="34" charset="-120"/>
            </a:endParaRPr>
          </a:p>
          <a:p>
            <a:pPr marL="342900" marR="0" lvl="0" indent="-342900" algn="l" defTabSz="914400" rtl="0" eaLnBrk="1" fontAlgn="auto" latinLnBrk="0" hangingPunct="1">
              <a:lnSpc>
                <a:spcPct val="150000"/>
              </a:lnSpc>
              <a:spcBef>
                <a:spcPts val="0"/>
              </a:spcBef>
              <a:spcAft>
                <a:spcPts val="0"/>
              </a:spcAft>
              <a:buClrTx/>
              <a:buSzPct val="100000"/>
              <a:buFontTx/>
              <a:buChar char="•"/>
              <a:tabLst/>
              <a:defRPr/>
            </a:pP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특히 </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Hugging Face</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는 </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hf:// </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경로로 데이터셋을 바로 </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SQL </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질의하도록 </a:t>
            </a:r>
            <a:r>
              <a:rPr kumimoji="0" lang="en-US" altLang="ko-KR" sz="1400" b="0" i="0" u="none" strike="noStrike" kern="1200" cap="none" spc="0" normalizeH="0" baseline="0" noProof="0" dirty="0" err="1">
                <a:ln>
                  <a:noFill/>
                </a:ln>
                <a:solidFill>
                  <a:schemeClr val="bg1"/>
                </a:solidFill>
                <a:effectLst/>
                <a:uLnTx/>
                <a:uFillTx/>
                <a:latin typeface="+mn-ea"/>
                <a:cs typeface="Malgun Gothic" pitchFamily="34" charset="-120"/>
              </a:rPr>
              <a:t>DuckDB</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를 공식 지원</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 </a:t>
            </a:r>
            <a:r>
              <a:rPr kumimoji="0" lang="en-US" altLang="ko-KR" sz="1400" b="0" i="0" u="none" strike="noStrike" kern="1200" cap="none" spc="0" normalizeH="0" baseline="0" noProof="0" dirty="0" err="1">
                <a:ln>
                  <a:noFill/>
                </a:ln>
                <a:solidFill>
                  <a:schemeClr val="bg1"/>
                </a:solidFill>
                <a:effectLst/>
                <a:uLnTx/>
                <a:uFillTx/>
                <a:latin typeface="+mn-ea"/>
                <a:cs typeface="Malgun Gothic" pitchFamily="34" charset="-120"/>
              </a:rPr>
              <a:t>Hex·Airbyte</a:t>
            </a:r>
            <a:r>
              <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rPr>
              <a:t> </a:t>
            </a:r>
            <a:r>
              <a:rPr kumimoji="0" lang="ko-KR" altLang="en-US" sz="1400" b="0" i="0" u="none" strike="noStrike" kern="1200" cap="none" spc="0" normalizeH="0" baseline="0" noProof="0" dirty="0">
                <a:ln>
                  <a:noFill/>
                </a:ln>
                <a:solidFill>
                  <a:schemeClr val="bg1"/>
                </a:solidFill>
                <a:effectLst/>
                <a:uLnTx/>
                <a:uFillTx/>
                <a:latin typeface="+mn-ea"/>
                <a:cs typeface="Malgun Gothic" pitchFamily="34" charset="-120"/>
              </a:rPr>
              <a:t>등도 프로덕션에서 사용 중</a:t>
            </a:r>
            <a:endParaRPr kumimoji="0" lang="en-US" altLang="ko-KR" sz="1400" b="0" i="0" u="none" strike="noStrike" kern="1200" cap="none" spc="0" normalizeH="0" baseline="0" noProof="0" dirty="0">
              <a:ln>
                <a:noFill/>
              </a:ln>
              <a:solidFill>
                <a:schemeClr val="bg1"/>
              </a:solidFill>
              <a:effectLst/>
              <a:uLnTx/>
              <a:uFillTx/>
              <a:latin typeface="+mn-ea"/>
              <a:cs typeface="Malgun Gothic" pitchFamily="34" charset="-120"/>
            </a:endParaRPr>
          </a:p>
        </p:txBody>
      </p:sp>
      <p:sp>
        <p:nvSpPr>
          <p:cNvPr id="4" name="Text 2"/>
          <p:cNvSpPr/>
          <p:nvPr/>
        </p:nvSpPr>
        <p:spPr>
          <a:xfrm>
            <a:off x="822960" y="6419088"/>
            <a:ext cx="6400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502920" y="365760"/>
            <a:ext cx="111556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느린 이유에 따라 사용하는 라이브러리 다름</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1005840"/>
            <a:ext cx="11064240" cy="731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4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“느리다”는 증상은 하나지만 원인은 두 가지로 갈림. 원인이 다르면 처방(라이브러리)도 완전히 다름.</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40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오늘 다루는 해법은 데이터가 커서 느린 경우에만 유효. 계산이 무거워서 느린 </a:t>
            </a:r>
            <a:r>
              <a:rPr kumimoji="0" lang="en-US" sz="140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경우는</a:t>
            </a:r>
            <a:r>
              <a:rPr kumimoji="0" lang="en-US" sz="140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40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다른 방법 필요</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874520"/>
            <a:ext cx="5468112" cy="3246120"/>
          </a:xfrm>
          <a:prstGeom prst="rect">
            <a:avLst/>
          </a:prstGeom>
          <a:solidFill>
            <a:srgbClr val="1A1810"/>
          </a:solidFill>
          <a:ln w="15875">
            <a:solidFill>
              <a:srgbClr val="FFD733"/>
            </a:solidFill>
            <a:prstDash val="solid"/>
          </a:ln>
        </p:spPr>
      </p:sp>
      <p:sp>
        <p:nvSpPr>
          <p:cNvPr id="5" name="Text 3"/>
          <p:cNvSpPr/>
          <p:nvPr/>
        </p:nvSpPr>
        <p:spPr>
          <a:xfrm>
            <a:off x="758952" y="2075688"/>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오늘의 주제</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758952" y="2377440"/>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데이터가 커서 느린 경우</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758952" y="2834640"/>
            <a:ext cx="4956048" cy="17830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10GB CSV 하나 읽는 데 몇 분씩 걸리고, 그동안 CPU는 15~30%</a:t>
            </a:r>
            <a:r>
              <a:rPr kumimoji="0" lang="ko-KR" alt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만 사용되며</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놀고 디스크만 계속 돌아감</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필요한 메모리가 RAM을 넘기면 느려지는 게 아니라 MemoryError나 커널 강제 종료로 끝남</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병목은 계산이 아니라 입출력(디스크→메모리)과 메모리 용량. 코드 수정보다 도구 교체가 해법</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Text 6"/>
          <p:cNvSpPr/>
          <p:nvPr/>
        </p:nvSpPr>
        <p:spPr>
          <a:xfrm>
            <a:off x="758952" y="4617720"/>
            <a:ext cx="49560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DuckDB · Polars · Parquet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217920" y="1874520"/>
            <a:ext cx="5468112" cy="3246120"/>
          </a:xfrm>
          <a:prstGeom prst="rect">
            <a:avLst/>
          </a:prstGeom>
          <a:solidFill>
            <a:srgbClr val="1A1810"/>
          </a:solidFill>
          <a:ln w="12700">
            <a:solidFill>
              <a:srgbClr val="4A4430"/>
            </a:solidFill>
            <a:prstDash val="solid"/>
          </a:ln>
        </p:spPr>
      </p:sp>
      <p:sp>
        <p:nvSpPr>
          <p:cNvPr id="10" name="Text 8"/>
          <p:cNvSpPr/>
          <p:nvPr/>
        </p:nvSpPr>
        <p:spPr>
          <a:xfrm>
            <a:off x="6473952" y="2075688"/>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오늘 실습은 없음</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73952" y="2377440"/>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계산식이 복잡해서 느린 경우</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6473952" y="2834640"/>
            <a:ext cx="4956048" cy="17830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데이터는 수천 행으로 작은데 실행에 수십 분 걸림. CPU 코어 하나만 100%로 붙고 디스크는 조용함</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몬테카를로 시뮬레이션 · ML </a:t>
            </a:r>
            <a:r>
              <a:rPr kumimoji="0" lang="ko-KR" alt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알고리즘 </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직접 작성한 for 루프처럼 같은 수식을 수백만 번 반복하는 작업</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병목은</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a:t>
            </a:r>
            <a:r>
              <a:rPr lang="en-US" sz="1200" dirty="0">
                <a:solidFill>
                  <a:schemeClr val="bg1"/>
                </a:solidFill>
                <a:latin typeface="Malgun Gothic" pitchFamily="34" charset="0"/>
                <a:ea typeface="Malgun Gothic" pitchFamily="34" charset="-122"/>
                <a:cs typeface="Malgun Gothic" pitchFamily="34" charset="-120"/>
              </a:rPr>
              <a:t>python</a:t>
            </a:r>
            <a:r>
              <a:rPr lang="ko-KR" altLang="en-US" sz="1200" dirty="0">
                <a:solidFill>
                  <a:schemeClr val="bg1"/>
                </a:solidFill>
                <a:latin typeface="Malgun Gothic" pitchFamily="34" charset="0"/>
                <a:ea typeface="Malgun Gothic" pitchFamily="34" charset="-122"/>
                <a:cs typeface="Malgun Gothic" pitchFamily="34" charset="-120"/>
              </a:rPr>
              <a:t> 특성에 의해 발생하는</a:t>
            </a:r>
            <a:r>
              <a:rPr kumimoji="0" lang="en-US" sz="1200" b="0" i="0" u="none" strike="noStrike" kern="1200" cap="none" spc="0" normalizeH="0" baseline="0" noProof="0" dirty="0">
                <a:ln>
                  <a:noFill/>
                </a:ln>
                <a:solidFill>
                  <a:schemeClr val="bg1"/>
                </a:solidFill>
                <a:effectLst/>
                <a:uLnTx/>
                <a:uFillTx/>
                <a:latin typeface="Malgun Gothic" pitchFamily="34" charset="0"/>
                <a:ea typeface="Malgun Gothic" pitchFamily="34" charset="-122"/>
                <a:cs typeface="Malgun Gothic" pitchFamily="34" charset="-120"/>
              </a:rPr>
              <a:t> CPU 계산 그 </a:t>
            </a:r>
            <a:r>
              <a:rPr kumimoji="0" lang="en-US" sz="1200" b="0" i="0" u="none" strike="noStrike" kern="1200" cap="none" spc="0" normalizeH="0" baseline="0" noProof="0" dirty="0" err="1">
                <a:ln>
                  <a:noFill/>
                </a:ln>
                <a:solidFill>
                  <a:schemeClr val="bg1"/>
                </a:solidFill>
                <a:effectLst/>
                <a:uLnTx/>
                <a:uFillTx/>
                <a:latin typeface="Malgun Gothic" pitchFamily="34" charset="0"/>
                <a:ea typeface="Malgun Gothic" pitchFamily="34" charset="-122"/>
                <a:cs typeface="Malgun Gothic" pitchFamily="34" charset="-120"/>
              </a:rPr>
              <a:t>자체</a:t>
            </a:r>
            <a:r>
              <a:rPr lang="ko-KR" altLang="en-US" sz="1200" dirty="0">
                <a:solidFill>
                  <a:schemeClr val="bg1"/>
                </a:solidFill>
                <a:latin typeface="Malgun Gothic" pitchFamily="34" charset="0"/>
                <a:ea typeface="Malgun Gothic" pitchFamily="34" charset="-122"/>
                <a:cs typeface="Malgun Gothic" pitchFamily="34" charset="-120"/>
              </a:rPr>
              <a:t>일</a:t>
            </a:r>
            <a:r>
              <a:rPr lang="en-US" sz="1200" dirty="0">
                <a:solidFill>
                  <a:schemeClr val="bg1"/>
                </a:solidFill>
                <a:latin typeface="Malgun Gothic" pitchFamily="34" charset="0"/>
                <a:ea typeface="Malgun Gothic" pitchFamily="34" charset="-122"/>
                <a:cs typeface="Malgun Gothic" pitchFamily="34" charset="-120"/>
              </a:rPr>
              <a:t> </a:t>
            </a:r>
            <a:r>
              <a:rPr lang="ko-KR" altLang="en-US" sz="1200" dirty="0">
                <a:solidFill>
                  <a:schemeClr val="bg1"/>
                </a:solidFill>
                <a:latin typeface="Malgun Gothic" pitchFamily="34" charset="0"/>
                <a:ea typeface="Malgun Gothic" pitchFamily="34" charset="-122"/>
                <a:cs typeface="Malgun Gothic" pitchFamily="34" charset="-120"/>
              </a:rPr>
              <a:t>때 사용</a:t>
            </a:r>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13" name="Text 11"/>
          <p:cNvSpPr/>
          <p:nvPr/>
        </p:nvSpPr>
        <p:spPr>
          <a:xfrm>
            <a:off x="6473952" y="4617720"/>
            <a:ext cx="49560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Numba  (JIT </a:t>
            </a:r>
            <a:r>
              <a:rPr kumimoji="0" lang="en-US" sz="13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컴파일로</a:t>
            </a: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최대 </a:t>
            </a:r>
            <a:r>
              <a:rPr kumimoji="0" lang="en-US" sz="13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수십~수백</a:t>
            </a: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배 </a:t>
            </a:r>
            <a:r>
              <a:rPr kumimoji="0" lang="ko-KR" altLang="en-US" sz="13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빨라짐</a:t>
            </a:r>
            <a:r>
              <a:rPr kumimoji="0" lang="en-US" sz="13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502920" y="5376672"/>
            <a:ext cx="11183112" cy="868680"/>
          </a:xfrm>
          <a:prstGeom prst="rect">
            <a:avLst/>
          </a:prstGeom>
          <a:solidFill>
            <a:srgbClr val="121110"/>
          </a:solidFill>
          <a:ln w="12700">
            <a:solidFill>
              <a:srgbClr val="4A4430"/>
            </a:solidFill>
            <a:prstDash val="solid"/>
          </a:ln>
        </p:spPr>
      </p:sp>
      <p:sp>
        <p:nvSpPr>
          <p:cNvPr id="15" name="Text 13"/>
          <p:cNvSpPr/>
          <p:nvPr/>
        </p:nvSpPr>
        <p:spPr>
          <a:xfrm>
            <a:off x="758952" y="5504688"/>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진단이 도구보다 먼저</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58952" y="5779008"/>
            <a:ext cx="1065276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계산 병목에 Polars를 써도 빨라지지 않고, 데이터 병목에 Numba를 붙여도 MemoryError는 그대로 남. 원인을 먼저 판별하고 도구를 고름 → 판별법은 다음 장.</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502920" y="6492240"/>
            <a:ext cx="5486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502920" y="365760"/>
            <a:ext cx="1115568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내 </a:t>
            </a:r>
            <a:r>
              <a:rPr kumimoji="0" lang="en-US" sz="27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코드</a:t>
            </a:r>
            <a:r>
              <a:rPr kumimoji="0" lang="ko-KR" alt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가</a:t>
            </a:r>
            <a:r>
              <a:rPr kumimoji="0" 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27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어느</a:t>
            </a:r>
            <a:r>
              <a:rPr kumimoji="0" 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lang="ko-KR" altLang="en-US" sz="2700" b="1" dirty="0">
                <a:solidFill>
                  <a:srgbClr val="FFD733"/>
                </a:solidFill>
                <a:latin typeface="Malgun Gothic" pitchFamily="34" charset="0"/>
                <a:ea typeface="Malgun Gothic" pitchFamily="34" charset="-122"/>
                <a:cs typeface="Malgun Gothic" pitchFamily="34" charset="-120"/>
              </a:rPr>
              <a:t>문제인지 파악하고 라이브러리 결정</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1005840"/>
            <a:ext cx="11064240" cy="731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500"/>
              </a:spcAft>
              <a:buClrTx/>
              <a:buSzPct val="100000"/>
              <a:buFontTx/>
              <a:buChar char="•"/>
              <a:tabLst/>
              <a:defRPr/>
            </a:pPr>
            <a:r>
              <a:rPr kumimoji="0" lang="en-US" sz="140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기준은</a:t>
            </a:r>
            <a:r>
              <a:rPr kumimoji="0" lang="en-US" sz="140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하나 — 데이터를 줄였을 때 빨라지는가. 빨라지면 데이터 병목, 그대로면 계산 병목.</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2212848"/>
            <a:ext cx="1417320" cy="658368"/>
          </a:xfrm>
          <a:prstGeom prst="rect">
            <a:avLst/>
          </a:prstGeom>
          <a:solidFill>
            <a:srgbClr val="1A1810"/>
          </a:solidFill>
          <a:ln w="12700">
            <a:solidFill>
              <a:srgbClr val="4A4430"/>
            </a:solidFill>
            <a:prstDash val="solid"/>
          </a:ln>
        </p:spPr>
      </p:sp>
      <p:sp>
        <p:nvSpPr>
          <p:cNvPr id="5" name="Text 3"/>
          <p:cNvSpPr/>
          <p:nvPr/>
        </p:nvSpPr>
        <p:spPr>
          <a:xfrm>
            <a:off x="502920" y="2212848"/>
            <a:ext cx="1417320" cy="6583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느린 코드</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956816" y="240487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2267712" y="2212848"/>
            <a:ext cx="2148840" cy="658368"/>
          </a:xfrm>
          <a:prstGeom prst="rect">
            <a:avLst/>
          </a:prstGeom>
          <a:solidFill>
            <a:srgbClr val="1A1810"/>
          </a:solidFill>
          <a:ln w="12700">
            <a:solidFill>
              <a:srgbClr val="4A4430"/>
            </a:solidFill>
            <a:prstDash val="solid"/>
          </a:ln>
        </p:spPr>
      </p:sp>
      <p:sp>
        <p:nvSpPr>
          <p:cNvPr id="8" name="Text 6"/>
          <p:cNvSpPr/>
          <p:nvPr/>
        </p:nvSpPr>
        <p:spPr>
          <a:xfrm>
            <a:off x="2267712" y="2212848"/>
            <a:ext cx="2148840" cy="6583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데이터를 1/10로</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줄여 재실행</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4480560" y="194767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480560" y="286207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828032" y="1755648"/>
            <a:ext cx="6858000" cy="658368"/>
          </a:xfrm>
          <a:prstGeom prst="rect">
            <a:avLst/>
          </a:prstGeom>
          <a:solidFill>
            <a:srgbClr val="FFD733"/>
          </a:solidFill>
          <a:ln w="12700">
            <a:solidFill>
              <a:srgbClr val="FFD733"/>
            </a:solidFill>
            <a:prstDash val="solid"/>
          </a:ln>
        </p:spPr>
      </p:sp>
      <p:sp>
        <p:nvSpPr>
          <p:cNvPr id="12" name="Text 10"/>
          <p:cNvSpPr/>
          <p:nvPr/>
        </p:nvSpPr>
        <p:spPr>
          <a:xfrm>
            <a:off x="4828032" y="1755648"/>
            <a:ext cx="6858000" cy="6583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810"/>
                </a:solidFill>
                <a:effectLst/>
                <a:uLnTx/>
                <a:uFillTx/>
                <a:latin typeface="Malgun Gothic" pitchFamily="34" charset="0"/>
                <a:ea typeface="Malgun Gothic" pitchFamily="34" charset="-122"/>
                <a:cs typeface="Malgun Gothic" pitchFamily="34" charset="-120"/>
              </a:rPr>
              <a:t>빨라짐   →   데이터 병목 · 오늘 해법 (DuckDB · Polars · Parquet)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828032" y="2670048"/>
            <a:ext cx="6858000" cy="658368"/>
          </a:xfrm>
          <a:prstGeom prst="rect">
            <a:avLst/>
          </a:prstGeom>
          <a:solidFill>
            <a:srgbClr val="1A1810"/>
          </a:solidFill>
          <a:ln w="12700">
            <a:solidFill>
              <a:srgbClr val="4A4430"/>
            </a:solidFill>
            <a:prstDash val="solid"/>
          </a:ln>
        </p:spPr>
      </p:sp>
      <p:sp>
        <p:nvSpPr>
          <p:cNvPr id="14" name="Text 12"/>
          <p:cNvSpPr/>
          <p:nvPr/>
        </p:nvSpPr>
        <p:spPr>
          <a:xfrm>
            <a:off x="4828032" y="2670048"/>
            <a:ext cx="6858000" cy="6583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그대로 느림   →   계산 병목 · Numba의 영역 (오늘 범위 밖)</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566160"/>
            <a:ext cx="5468112" cy="1828800"/>
          </a:xfrm>
          <a:prstGeom prst="rect">
            <a:avLst/>
          </a:prstGeom>
          <a:solidFill>
            <a:srgbClr val="1A1810"/>
          </a:solidFill>
          <a:ln w="12700">
            <a:solidFill>
              <a:srgbClr val="4A4430"/>
            </a:solidFill>
            <a:prstDash val="solid"/>
          </a:ln>
        </p:spPr>
      </p:sp>
      <p:sp>
        <p:nvSpPr>
          <p:cNvPr id="16" name="Text 14"/>
          <p:cNvSpPr/>
          <p:nvPr/>
        </p:nvSpPr>
        <p:spPr>
          <a:xfrm>
            <a:off x="758952" y="3767328"/>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시나리오 A · 데이터 병목의 전형</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58952" y="4069080"/>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서버 로그 10GB 읽기</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758952" y="4526280"/>
            <a:ext cx="4956048" cy="731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read_csv 한 번에 4분 — 디스크 100%, CPU 15%로 디스크만 바쁨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행을 1/10로 줄이면 24초 → 데이터 크기에 비례하는 데이터 병목. 오늘 해법으로 해결되는 영역</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217920" y="3566160"/>
            <a:ext cx="5468112" cy="1828800"/>
          </a:xfrm>
          <a:prstGeom prst="rect">
            <a:avLst/>
          </a:prstGeom>
          <a:solidFill>
            <a:srgbClr val="1A1810"/>
          </a:solidFill>
          <a:ln w="12700">
            <a:solidFill>
              <a:srgbClr val="4A4430"/>
            </a:solidFill>
            <a:prstDash val="solid"/>
          </a:ln>
        </p:spPr>
      </p:sp>
      <p:sp>
        <p:nvSpPr>
          <p:cNvPr id="20" name="Text 18"/>
          <p:cNvSpPr/>
          <p:nvPr/>
        </p:nvSpPr>
        <p:spPr>
          <a:xfrm>
            <a:off x="6473952" y="3767328"/>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시나리오 B · 계산 병목의 전형</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473952" y="4069080"/>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5천 행에 시뮬레이션 10만 회</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6473952" y="4526280"/>
            <a:ext cx="4956048" cy="73152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실행에 20분 — CPU 한 코어만 100%, 디스크는 조용함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데이터를 500행으로 줄여도 거의 그대로. 시간을 먹는 건 반복 계산이라 Polars로 바꿔도 안 빨라짐 → Numba의 영역</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5532120"/>
            <a:ext cx="11183112" cy="822960"/>
          </a:xfrm>
          <a:prstGeom prst="rect">
            <a:avLst/>
          </a:prstGeom>
          <a:solidFill>
            <a:srgbClr val="121110"/>
          </a:solidFill>
          <a:ln w="12700">
            <a:solidFill>
              <a:srgbClr val="4A4430"/>
            </a:solidFill>
            <a:prstDash val="solid"/>
          </a:ln>
        </p:spPr>
      </p:sp>
      <p:sp>
        <p:nvSpPr>
          <p:cNvPr id="24" name="Text 22"/>
          <p:cNvSpPr/>
          <p:nvPr/>
        </p:nvSpPr>
        <p:spPr>
          <a:xfrm>
            <a:off x="758952" y="5660136"/>
            <a:ext cx="106070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둘 다 해당되면</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758952" y="5934456"/>
            <a:ext cx="1065276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실무에서는 두 병목이 겹치기도 함. 이때는 데이터 병목부터 해결함 — 읽기가 몇 배 빨라진 뒤에야 남은 시간이 계산 병목인지 또렷해짐.</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502920" y="6492240"/>
            <a:ext cx="54864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6B675C"/>
                </a:solidFill>
                <a:effectLst/>
                <a:uLnTx/>
                <a:uFillTx/>
                <a:latin typeface="Malgun Gothic" pitchFamily="34" charset="0"/>
                <a:ea typeface="Malgun Gothic" pitchFamily="34" charset="-122"/>
                <a:cs typeface="Malgun Gothic" pitchFamily="34" charset="-120"/>
              </a:rPr>
              <a:t>AI 활용 대용량 연구데이터 전처리 · 3교시</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0D0A"/>
        </a:solidFill>
        <a:effectLst/>
      </p:bgPr>
    </p:bg>
    <p:spTree>
      <p:nvGrpSpPr>
        <p:cNvPr id="1" name=""/>
        <p:cNvGrpSpPr/>
        <p:nvPr/>
      </p:nvGrpSpPr>
      <p:grpSpPr>
        <a:xfrm>
          <a:off x="0" y="0"/>
          <a:ext cx="0" cy="0"/>
          <a:chOff x="0" y="0"/>
          <a:chExt cx="0" cy="0"/>
        </a:xfrm>
      </p:grpSpPr>
      <p:sp>
        <p:nvSpPr>
          <p:cNvPr id="2" name="Text 0"/>
          <p:cNvSpPr/>
          <p:nvPr/>
        </p:nvSpPr>
        <p:spPr>
          <a:xfrm>
            <a:off x="502920" y="365760"/>
            <a:ext cx="11155680" cy="594360"/>
          </a:xfrm>
          <a:prstGeom prst="rect">
            <a:avLst/>
          </a:prstGeom>
          <a:noFill/>
          <a:ln/>
        </p:spPr>
        <p:txBody>
          <a:bodyPr wrap="square" lIns="0" tIns="0" rIns="0" bIns="0" rtlCol="0" anchor="ctr"/>
          <a:lstStyle/>
          <a:p>
            <a:pPr lvl="0"/>
            <a:r>
              <a:rPr kumimoji="0" lang="en-US" sz="2700" b="1"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Numba</a:t>
            </a:r>
            <a:r>
              <a:rPr kumimoji="0" 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270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간략 개념</a:t>
            </a:r>
            <a:r>
              <a:rPr lang="en-US" altLang="ko-KR" sz="2700" b="1" dirty="0">
                <a:solidFill>
                  <a:srgbClr val="FFD733"/>
                </a:solidFill>
                <a:latin typeface="Malgun Gothic" pitchFamily="34" charset="0"/>
                <a:ea typeface="Malgun Gothic" pitchFamily="34" charset="-122"/>
                <a:cs typeface="Malgun Gothic" pitchFamily="34" charset="-120"/>
              </a:rPr>
              <a:t>(</a:t>
            </a:r>
            <a:r>
              <a:rPr lang="en-US" altLang="ko-KR" sz="2700" b="1" dirty="0" err="1">
                <a:solidFill>
                  <a:srgbClr val="FFD733"/>
                </a:solidFill>
                <a:latin typeface="Malgun Gothic" pitchFamily="34" charset="0"/>
                <a:ea typeface="Malgun Gothic" pitchFamily="34" charset="-122"/>
                <a:cs typeface="Malgun Gothic" pitchFamily="34" charset="-120"/>
              </a:rPr>
              <a:t>오늘</a:t>
            </a:r>
            <a:r>
              <a:rPr lang="en-US" altLang="ko-KR" sz="2700" b="1" dirty="0">
                <a:solidFill>
                  <a:srgbClr val="FFD733"/>
                </a:solidFill>
                <a:latin typeface="Malgun Gothic" pitchFamily="34" charset="0"/>
                <a:ea typeface="Malgun Gothic" pitchFamily="34" charset="-122"/>
                <a:cs typeface="Malgun Gothic" pitchFamily="34" charset="-120"/>
              </a:rPr>
              <a:t> </a:t>
            </a:r>
            <a:r>
              <a:rPr lang="ko-KR" altLang="en-US" sz="2700" b="1" dirty="0">
                <a:solidFill>
                  <a:srgbClr val="FFD733"/>
                </a:solidFill>
                <a:latin typeface="Malgun Gothic" pitchFamily="34" charset="0"/>
                <a:ea typeface="Malgun Gothic" pitchFamily="34" charset="-122"/>
                <a:cs typeface="Malgun Gothic" pitchFamily="34" charset="-120"/>
              </a:rPr>
              <a:t>다루지</a:t>
            </a:r>
            <a:r>
              <a:rPr lang="en-US" altLang="ko-KR" sz="2700" b="1" dirty="0">
                <a:solidFill>
                  <a:srgbClr val="FFD733"/>
                </a:solidFill>
                <a:latin typeface="Malgun Gothic" pitchFamily="34" charset="0"/>
                <a:ea typeface="Malgun Gothic" pitchFamily="34" charset="-122"/>
                <a:cs typeface="Malgun Gothic" pitchFamily="34" charset="-120"/>
              </a:rPr>
              <a:t> 않</a:t>
            </a:r>
            <a:r>
              <a:rPr lang="ko-KR" altLang="en-US" sz="2700" b="1" dirty="0">
                <a:solidFill>
                  <a:srgbClr val="FFD733"/>
                </a:solidFill>
                <a:latin typeface="Malgun Gothic" pitchFamily="34" charset="0"/>
                <a:ea typeface="Malgun Gothic" pitchFamily="34" charset="-122"/>
                <a:cs typeface="Malgun Gothic" pitchFamily="34" charset="-120"/>
              </a:rPr>
              <a:t>지만 단어는 알고 가기</a:t>
            </a:r>
            <a:r>
              <a:rPr lang="en-US" altLang="ko-KR" sz="2700" b="1" dirty="0">
                <a:solidFill>
                  <a:srgbClr val="FFD733"/>
                </a:solidFill>
                <a:latin typeface="Malgun Gothic" pitchFamily="34" charset="0"/>
                <a:ea typeface="Malgun Gothic" pitchFamily="34" charset="-122"/>
                <a:cs typeface="Malgun Gothic" pitchFamily="34" charset="-120"/>
              </a:rPr>
              <a:t>)</a:t>
            </a:r>
            <a:endParaRPr kumimoji="0" lang="en-US" sz="2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48640" y="1005839"/>
            <a:ext cx="11155680" cy="1068493"/>
          </a:xfrm>
          <a:prstGeom prst="rect">
            <a:avLst/>
          </a:prstGeom>
          <a:noFill/>
          <a:ln/>
        </p:spPr>
        <p:txBody>
          <a:bodyPr wrap="square" lIns="0" tIns="0" rIns="0" bIns="0" rtlCol="0" anchor="t"/>
          <a:lstStyle/>
          <a:p>
            <a:pPr marL="342900" marR="0" lvl="0" indent="-342900" algn="l" defTabSz="914400" rtl="0" eaLnBrk="1" fontAlgn="auto" latinLnBrk="0" hangingPunct="1">
              <a:lnSpc>
                <a:spcPct val="150000"/>
              </a:lnSpc>
              <a:spcBef>
                <a:spcPts val="0"/>
              </a:spcBef>
              <a:spcAft>
                <a:spcPts val="500"/>
              </a:spcAft>
              <a:buClrTx/>
              <a:buSzPct val="100000"/>
              <a:buFontTx/>
              <a:buChar char="•"/>
              <a:tabLst/>
              <a:defRPr/>
            </a:pPr>
            <a:r>
              <a:rPr kumimoji="0" lang="en-US" altLang="ko-KR"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Numba</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는 파이썬 반복문을 미리 기계어로 번역해 빠르게 실행되도록 만드는 도구</a:t>
            </a:r>
            <a:r>
              <a:rPr kumimoji="0" lang="en-US" altLang="ko-KR"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p>
          <a:p>
            <a:pPr marL="800100" lvl="1" indent="-342900">
              <a:lnSpc>
                <a:spcPct val="150000"/>
              </a:lnSpc>
              <a:spcAft>
                <a:spcPts val="500"/>
              </a:spcAft>
              <a:buSzPct val="100000"/>
              <a:buFontTx/>
              <a:buChar char="•"/>
            </a:pPr>
            <a:r>
              <a:rPr kumimoji="0" lang="ko-KR" alt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파이썬이</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느린 이유</a:t>
            </a:r>
            <a:r>
              <a:rPr kumimoji="0" lang="en-US" altLang="ko-KR"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실행할 때마다 한 줄씩 매번 해석해서</a:t>
            </a:r>
            <a:r>
              <a:rPr kumimoji="0" lang="en-US" altLang="ko-KR"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100</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만 번 반복이면 해석도 </a:t>
            </a:r>
            <a:r>
              <a:rPr kumimoji="0" lang="en-US" altLang="ko-KR"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100</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만 번</a:t>
            </a:r>
            <a:endParaRPr kumimoji="0" lang="en-US" altLang="ko-KR"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endParaRPr>
          </a:p>
          <a:p>
            <a:pPr marL="342900" marR="0" lvl="0" indent="-342900" algn="l" defTabSz="914400" rtl="0" eaLnBrk="1" fontAlgn="auto" latinLnBrk="0" hangingPunct="1">
              <a:lnSpc>
                <a:spcPct val="150000"/>
              </a:lnSpc>
              <a:spcBef>
                <a:spcPts val="0"/>
              </a:spcBef>
              <a:spcAft>
                <a:spcPts val="500"/>
              </a:spcAft>
              <a:buClrTx/>
              <a:buSzPct val="100000"/>
              <a:buFontTx/>
              <a:buChar char="•"/>
              <a:tabLst/>
              <a:defRPr/>
            </a:pP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다만</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ko-KR" alt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대용량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데이터를</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메모리에</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못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올리는</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문제는</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해결하지</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못해</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오늘</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주제와는</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다른</a:t>
            </a:r>
            <a:r>
              <a:rPr kumimoji="0" lang="en-US" sz="1250" b="0"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 </a:t>
            </a:r>
            <a:r>
              <a:rPr kumimoji="0" lang="en-US" sz="1250" b="0" i="0" u="none" strike="noStrike" kern="1200" cap="none" spc="0" normalizeH="0" baseline="0" noProof="0" dirty="0" err="1">
                <a:ln>
                  <a:noFill/>
                </a:ln>
                <a:solidFill>
                  <a:srgbClr val="FFD733"/>
                </a:solidFill>
                <a:effectLst/>
                <a:uLnTx/>
                <a:uFillTx/>
                <a:latin typeface="Malgun Gothic" pitchFamily="34" charset="0"/>
                <a:ea typeface="Malgun Gothic" pitchFamily="34" charset="-122"/>
                <a:cs typeface="Malgun Gothic" pitchFamily="34" charset="-120"/>
              </a:rPr>
              <a:t>영역</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21208" y="2147485"/>
            <a:ext cx="192024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기본 파이썬</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한 </a:t>
            </a:r>
            <a:r>
              <a:rPr kumimoji="0" lang="en-US" sz="95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줄씩</a:t>
            </a:r>
            <a:r>
              <a:rPr kumimoji="0" lang="en-US" sz="9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a:t>
            </a:r>
            <a:r>
              <a:rPr kumimoji="0" lang="ko-KR" altLang="en-US" sz="9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해석</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2624328" y="2165773"/>
            <a:ext cx="868680" cy="502920"/>
          </a:xfrm>
          <a:prstGeom prst="rect">
            <a:avLst/>
          </a:prstGeom>
          <a:solidFill>
            <a:srgbClr val="1A1810"/>
          </a:solidFill>
          <a:ln w="12700">
            <a:solidFill>
              <a:srgbClr val="4A4430"/>
            </a:solidFill>
            <a:prstDash val="solid"/>
          </a:ln>
        </p:spPr>
      </p:sp>
      <p:sp>
        <p:nvSpPr>
          <p:cNvPr id="6" name="Text 4"/>
          <p:cNvSpPr/>
          <p:nvPr/>
        </p:nvSpPr>
        <p:spPr>
          <a:xfrm>
            <a:off x="2624328" y="2165773"/>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코드</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3502152" y="2284645"/>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3785616" y="2165773"/>
            <a:ext cx="868680" cy="502920"/>
          </a:xfrm>
          <a:prstGeom prst="rect">
            <a:avLst/>
          </a:prstGeom>
          <a:solidFill>
            <a:srgbClr val="1A1810"/>
          </a:solidFill>
          <a:ln w="12700">
            <a:solidFill>
              <a:srgbClr val="4A4430"/>
            </a:solidFill>
            <a:prstDash val="solid"/>
          </a:ln>
        </p:spPr>
      </p:sp>
      <p:sp>
        <p:nvSpPr>
          <p:cNvPr id="9" name="Text 7"/>
          <p:cNvSpPr/>
          <p:nvPr/>
        </p:nvSpPr>
        <p:spPr>
          <a:xfrm>
            <a:off x="3785616" y="2165773"/>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해석</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663440" y="2284645"/>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946904" y="2165773"/>
            <a:ext cx="868680" cy="502920"/>
          </a:xfrm>
          <a:prstGeom prst="rect">
            <a:avLst/>
          </a:prstGeom>
          <a:solidFill>
            <a:srgbClr val="1A1810"/>
          </a:solidFill>
          <a:ln w="12700">
            <a:solidFill>
              <a:srgbClr val="4A4430"/>
            </a:solidFill>
            <a:prstDash val="solid"/>
          </a:ln>
        </p:spPr>
      </p:sp>
      <p:sp>
        <p:nvSpPr>
          <p:cNvPr id="12" name="Text 10"/>
          <p:cNvSpPr/>
          <p:nvPr/>
        </p:nvSpPr>
        <p:spPr>
          <a:xfrm>
            <a:off x="4946904" y="2165773"/>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실행</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5824728" y="2284645"/>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6108192" y="2165773"/>
            <a:ext cx="868680" cy="502920"/>
          </a:xfrm>
          <a:prstGeom prst="rect">
            <a:avLst/>
          </a:prstGeom>
          <a:solidFill>
            <a:srgbClr val="1A1810"/>
          </a:solidFill>
          <a:ln w="12700">
            <a:solidFill>
              <a:srgbClr val="4A4430"/>
            </a:solidFill>
            <a:prstDash val="solid"/>
          </a:ln>
        </p:spPr>
      </p:sp>
      <p:sp>
        <p:nvSpPr>
          <p:cNvPr id="15" name="Text 13"/>
          <p:cNvSpPr/>
          <p:nvPr/>
        </p:nvSpPr>
        <p:spPr>
          <a:xfrm>
            <a:off x="6108192" y="2165773"/>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해석</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986016" y="2284645"/>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269480" y="2165773"/>
            <a:ext cx="868680" cy="502920"/>
          </a:xfrm>
          <a:prstGeom prst="rect">
            <a:avLst/>
          </a:prstGeom>
          <a:solidFill>
            <a:srgbClr val="1A1810"/>
          </a:solidFill>
          <a:ln w="12700">
            <a:solidFill>
              <a:srgbClr val="4A4430"/>
            </a:solidFill>
            <a:prstDash val="solid"/>
          </a:ln>
        </p:spPr>
      </p:sp>
      <p:sp>
        <p:nvSpPr>
          <p:cNvPr id="18" name="Text 16"/>
          <p:cNvSpPr/>
          <p:nvPr/>
        </p:nvSpPr>
        <p:spPr>
          <a:xfrm>
            <a:off x="7269480" y="2165773"/>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실행</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8147304" y="2284645"/>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430768" y="2165773"/>
            <a:ext cx="3657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9070848" y="2165773"/>
            <a:ext cx="26517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반복 100만 </a:t>
            </a:r>
            <a:r>
              <a:rPr kumimoji="0" lang="en-US" sz="1000" b="0" i="0" u="none" strike="noStrike" kern="1200" cap="none" spc="0" normalizeH="0" baseline="0" noProof="0" dirty="0" err="1">
                <a:ln>
                  <a:noFill/>
                </a:ln>
                <a:solidFill>
                  <a:srgbClr val="C6BFAD"/>
                </a:solidFill>
                <a:effectLst/>
                <a:uLnTx/>
                <a:uFillTx/>
                <a:latin typeface="Malgun Gothic" pitchFamily="34" charset="0"/>
                <a:ea typeface="Malgun Gothic" pitchFamily="34" charset="-122"/>
                <a:cs typeface="Malgun Gothic" pitchFamily="34" charset="-120"/>
              </a:rPr>
              <a:t>번이면</a:t>
            </a:r>
            <a:r>
              <a:rPr kumimoji="0" lang="en-US" sz="10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 </a:t>
            </a:r>
            <a:r>
              <a:rPr lang="ko-KR" altLang="en-US" sz="1000" dirty="0">
                <a:solidFill>
                  <a:srgbClr val="C6BFAD"/>
                </a:solidFill>
                <a:latin typeface="Malgun Gothic" pitchFamily="34" charset="0"/>
                <a:ea typeface="Malgun Gothic" pitchFamily="34" charset="-122"/>
                <a:cs typeface="Malgun Gothic" pitchFamily="34" charset="-120"/>
              </a:rPr>
              <a:t>해석</a:t>
            </a:r>
            <a:r>
              <a:rPr kumimoji="0" lang="en-US" sz="10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도 100만 번</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21208" y="2988733"/>
            <a:ext cx="20116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Numba</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미리 번역 (JIT 컴파일)</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2624328" y="3007021"/>
            <a:ext cx="1234440" cy="502920"/>
          </a:xfrm>
          <a:prstGeom prst="rect">
            <a:avLst/>
          </a:prstGeom>
          <a:solidFill>
            <a:srgbClr val="1A1810"/>
          </a:solidFill>
          <a:ln w="12700">
            <a:solidFill>
              <a:srgbClr val="4A4430"/>
            </a:solidFill>
            <a:prstDash val="solid"/>
          </a:ln>
        </p:spPr>
      </p:sp>
      <p:sp>
        <p:nvSpPr>
          <p:cNvPr id="24" name="Text 22"/>
          <p:cNvSpPr/>
          <p:nvPr/>
        </p:nvSpPr>
        <p:spPr>
          <a:xfrm>
            <a:off x="2624328" y="3007021"/>
            <a:ext cx="12344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반복문 전체</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3877056" y="3125893"/>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187952" y="3007021"/>
            <a:ext cx="1645920" cy="502920"/>
          </a:xfrm>
          <a:prstGeom prst="rect">
            <a:avLst/>
          </a:prstGeom>
          <a:solidFill>
            <a:srgbClr val="FFD733"/>
          </a:solidFill>
          <a:ln w="12700">
            <a:solidFill>
              <a:srgbClr val="FFD733"/>
            </a:solidFill>
            <a:prstDash val="solid"/>
          </a:ln>
        </p:spPr>
      </p:sp>
      <p:sp>
        <p:nvSpPr>
          <p:cNvPr id="27" name="Text 25"/>
          <p:cNvSpPr/>
          <p:nvPr/>
        </p:nvSpPr>
        <p:spPr>
          <a:xfrm>
            <a:off x="4187952" y="3007021"/>
            <a:ext cx="1645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A1810"/>
                </a:solidFill>
                <a:effectLst/>
                <a:uLnTx/>
                <a:uFillTx/>
                <a:latin typeface="Malgun Gothic" pitchFamily="34" charset="0"/>
                <a:ea typeface="Malgun Gothic" pitchFamily="34" charset="-122"/>
                <a:cs typeface="Malgun Gothic" pitchFamily="34" charset="-120"/>
              </a:rPr>
              <a:t>처음 한 번만 번역</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5852160" y="3125893"/>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163056" y="3007021"/>
            <a:ext cx="2331720" cy="502920"/>
          </a:xfrm>
          <a:prstGeom prst="rect">
            <a:avLst/>
          </a:prstGeom>
          <a:solidFill>
            <a:srgbClr val="1A1810"/>
          </a:solidFill>
          <a:ln w="12700">
            <a:solidFill>
              <a:srgbClr val="4A4430"/>
            </a:solidFill>
            <a:prstDash val="solid"/>
          </a:ln>
        </p:spPr>
      </p:sp>
      <p:sp>
        <p:nvSpPr>
          <p:cNvPr id="30" name="Text 28"/>
          <p:cNvSpPr/>
          <p:nvPr/>
        </p:nvSpPr>
        <p:spPr>
          <a:xfrm>
            <a:off x="6163056" y="3007021"/>
            <a:ext cx="23317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실행 · 실행 · 실행 ⋯</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705088" y="3007021"/>
            <a:ext cx="30175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6BFAD"/>
                </a:solidFill>
                <a:effectLst/>
                <a:uLnTx/>
                <a:uFillTx/>
                <a:latin typeface="Malgun Gothic" pitchFamily="34" charset="0"/>
                <a:ea typeface="Malgun Gothic" pitchFamily="34" charset="-122"/>
                <a:cs typeface="Malgun Gothic" pitchFamily="34" charset="-120"/>
              </a:rPr>
              <a:t>이후엔 번역 없이 기계어로 바로 실행</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521208" y="3857413"/>
            <a:ext cx="5468112" cy="1783080"/>
          </a:xfrm>
          <a:prstGeom prst="rect">
            <a:avLst/>
          </a:prstGeom>
          <a:solidFill>
            <a:srgbClr val="1A1810"/>
          </a:solidFill>
          <a:ln w="12700">
            <a:solidFill>
              <a:srgbClr val="4A4430"/>
            </a:solidFill>
            <a:prstDash val="solid"/>
          </a:ln>
        </p:spPr>
      </p:sp>
      <p:sp>
        <p:nvSpPr>
          <p:cNvPr id="33" name="Text 31"/>
          <p:cNvSpPr/>
          <p:nvPr/>
        </p:nvSpPr>
        <p:spPr>
          <a:xfrm>
            <a:off x="777240" y="4058581"/>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Numba가 맡는 병목</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777240" y="4360333"/>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반복 계산을 수십~수백 배로</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777240" y="4817533"/>
            <a:ext cx="4956048" cy="68580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직접 작성한 for 루프 · 몬테카를로 시뮬레이션 · ML </a:t>
            </a:r>
            <a:r>
              <a:rPr kumimoji="0" lang="ko-KR" alt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계산</a:t>
            </a:r>
            <a:r>
              <a:rPr kumimoji="0" lang="en-US" sz="1100" b="0" i="0" u="none" strike="noStrike" kern="1200" cap="none" spc="0" normalizeH="0" baseline="0" noProof="0" dirty="0" err="1">
                <a:ln>
                  <a:noFill/>
                </a:ln>
                <a:solidFill>
                  <a:srgbClr val="ECE7DC"/>
                </a:solidFill>
                <a:effectLst/>
                <a:uLnTx/>
                <a:uFillTx/>
                <a:latin typeface="Malgun Gothic" pitchFamily="34" charset="0"/>
                <a:ea typeface="Malgun Gothic" pitchFamily="34" charset="-122"/>
                <a:cs typeface="Malgun Gothic" pitchFamily="34" charset="-120"/>
              </a:rPr>
              <a:t>처럼</a:t>
            </a: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 같은 계산을 수백만 번 반복하는 코드가 대상</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함수 위에 표시 한 줄만 붙이면 되고 본문은 그대로. 숫자 계산에 특화됨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6236208" y="3857413"/>
            <a:ext cx="5468112" cy="1783080"/>
          </a:xfrm>
          <a:prstGeom prst="rect">
            <a:avLst/>
          </a:prstGeom>
          <a:solidFill>
            <a:srgbClr val="1A1810"/>
          </a:solidFill>
          <a:ln w="12700">
            <a:solidFill>
              <a:srgbClr val="4A4430"/>
            </a:solidFill>
            <a:prstDash val="solid"/>
          </a:ln>
        </p:spPr>
      </p:sp>
      <p:sp>
        <p:nvSpPr>
          <p:cNvPr id="37" name="Text 35"/>
          <p:cNvSpPr/>
          <p:nvPr/>
        </p:nvSpPr>
        <p:spPr>
          <a:xfrm>
            <a:off x="6492240" y="4058581"/>
            <a:ext cx="4956048"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FFD733"/>
                </a:solidFill>
                <a:effectLst/>
                <a:uLnTx/>
                <a:uFillTx/>
                <a:latin typeface="Malgun Gothic" pitchFamily="34" charset="0"/>
                <a:ea typeface="Malgun Gothic" pitchFamily="34" charset="-122"/>
                <a:cs typeface="Malgun Gothic" pitchFamily="34" charset="-120"/>
              </a:rPr>
              <a:t>오늘 주제의 병목은 그대로</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6492240" y="4360333"/>
            <a:ext cx="4956048"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Malgun Gothic" pitchFamily="34" charset="0"/>
                <a:ea typeface="Malgun Gothic" pitchFamily="34" charset="-122"/>
                <a:cs typeface="Malgun Gothic" pitchFamily="34" charset="-120"/>
              </a:rPr>
              <a:t>파일 읽기 · 메모리 부족은 못 고침</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6492240" y="4817533"/>
            <a:ext cx="4956048" cy="68580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20GB CSV에서 나는 MemoryError는 Numba를 붙여도 똑같이 남</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700"/>
              </a:spcAft>
              <a:buClrTx/>
              <a:buSzPct val="100000"/>
              <a:buFontTx/>
              <a:buChar char="•"/>
              <a:tabLst/>
              <a:defRPr/>
            </a:pPr>
            <a:r>
              <a:rPr kumimoji="0" lang="en-US" sz="1100" b="0" i="0" u="none" strike="noStrike" kern="1200" cap="none" spc="0" normalizeH="0" baseline="0" noProof="0" dirty="0">
                <a:ln>
                  <a:noFill/>
                </a:ln>
                <a:solidFill>
                  <a:srgbClr val="ECE7DC"/>
                </a:solidFill>
                <a:effectLst/>
                <a:uLnTx/>
                <a:uFillTx/>
                <a:latin typeface="Malgun Gothic" pitchFamily="34" charset="0"/>
                <a:ea typeface="Malgun Gothic" pitchFamily="34" charset="-122"/>
                <a:cs typeface="Malgun Gothic" pitchFamily="34" charset="-120"/>
              </a:rPr>
              <a:t>데이터를 이미 메모리에 올린 뒤의 계산만 빨라짐. 올리는 것 자체가 문제면 DuckDB · Polars · Parquet의 영역</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4047</Words>
  <Application>Microsoft Office PowerPoint</Application>
  <PresentationFormat>와이드스크린</PresentationFormat>
  <Paragraphs>341</Paragraphs>
  <Slides>20</Slides>
  <Notes>20</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20</vt:i4>
      </vt:variant>
    </vt:vector>
  </HeadingPairs>
  <TitlesOfParts>
    <vt:vector size="26" baseType="lpstr">
      <vt:lpstr>맑은 고딕</vt:lpstr>
      <vt:lpstr>맑은 고딕</vt:lpstr>
      <vt:lpstr>Arial</vt:lpstr>
      <vt:lpstr>Calibri</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think</cp:lastModifiedBy>
  <cp:revision>1</cp:revision>
  <dcterms:created xsi:type="dcterms:W3CDTF">2026-08-18T16:09:18Z</dcterms:created>
  <dcterms:modified xsi:type="dcterms:W3CDTF">2026-08-22T14:23:31Z</dcterms:modified>
</cp:coreProperties>
</file>