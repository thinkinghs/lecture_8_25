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00" r:id="rId2"/>
    <p:sldId id="301" r:id="rId3"/>
    <p:sldId id="302" r:id="rId4"/>
    <p:sldId id="303" r:id="rId5"/>
    <p:sldId id="305" r:id="rId6"/>
    <p:sldId id="304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D684B-DA10-4684-B218-28EB2A52AA7C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2AD28-0CD4-4A28-B2A3-EF338D8995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07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60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19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3288" y="2121408"/>
            <a:ext cx="731520" cy="0"/>
          </a:xfrm>
          <a:prstGeom prst="line">
            <a:avLst/>
          </a:prstGeom>
          <a:noFill/>
          <a:ln w="28575">
            <a:solidFill>
              <a:srgbClr val="FFD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51460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6교시. FastMCP로 만드는 정제 서버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1600" y="324612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DuckDB 파이프라인을 MCP 툴로 포장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6464F-047E-1AC3-98A3-16CC6669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A23E793-6AAD-7384-F62D-DD33D1E5217A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것 — </a:t>
            </a:r>
            <a:r>
              <a:rPr kumimoji="0" lang="en-US" altLang="ko-KR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6A5170-FAEE-56DB-D773-683086BC828E}"/>
              </a:ext>
            </a:extLst>
          </p:cNvPr>
          <p:cNvSpPr/>
          <p:nvPr/>
        </p:nvSpPr>
        <p:spPr>
          <a:xfrm>
            <a:off x="822960" y="1371599"/>
            <a:ext cx="11288358" cy="4849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후 시나리오</a:t>
            </a: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data/incoming에 CSV를 올리고 Desktop 채팅으로 요청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085850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만든 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DuckDB로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정제해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data/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cleaned에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Parquet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구성 — 툴 3개</a:t>
            </a: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list_files(목록)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inspect_file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(데이터 구조 조사)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r>
              <a:rPr lang="ko-KR" altLang="en-US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lean_file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(정제 실행)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085850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600" dirty="0" err="1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수정은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Claude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Code에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사용은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Desktop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39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일회성 스크립트에서 연구실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활용하도록 개선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실습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개선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MCP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고정 — 누가 요청해도 같은 규칙, 같은 결과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5144872" cy="3154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140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kern="0" spc="14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정제할 때마다 </a:t>
            </a:r>
            <a:r>
              <a:rPr kumimoji="0" lang="ko-KR" altLang="en-US" sz="105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</a:t>
            </a:r>
            <a:r>
              <a:rPr kumimoji="0" lang="en-US" sz="105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크립</a:t>
            </a:r>
            <a:r>
              <a:rPr kumimoji="0" lang="ko-KR" altLang="en-US" sz="105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</a:t>
            </a:r>
            <a:r>
              <a:rPr kumimoji="0" lang="ko-KR" alt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형태여서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때마다 코드 생성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246028"/>
            <a:ext cx="4596232" cy="163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프롬프트 작성, 생성된 코드 검토 필요</a:t>
            </a:r>
            <a:br>
              <a:rPr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요청하는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사람에 따라 구현이 조금씩 달라짐</a:t>
            </a:r>
            <a:br>
              <a:rPr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동료에게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전달하려면 스크립트와 환경 설명 필요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23864" y="2194560"/>
            <a:ext cx="5144872" cy="3154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4140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98184" y="2743199"/>
            <a:ext cx="4596232" cy="59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ts val="1958"/>
              </a:lnSpc>
            </a:pPr>
            <a:r>
              <a:rPr lang="en-US" altLang="ko-KR" sz="16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</a:t>
            </a:r>
            <a:r>
              <a:rPr lang="en-US" altLang="ko-KR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로직을</a:t>
            </a:r>
            <a:r>
              <a:rPr lang="en-US" altLang="ko-KR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Tools</a:t>
            </a:r>
            <a:r>
              <a:rPr lang="ko-KR" alt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altLang="ko-KR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8184" y="3246028"/>
            <a:ext cx="4596232" cy="154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규칙이 서버 코드에 한 번 고정 — 채팅 한 줄로 매번 동일 실행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변경은 서버 한 곳만 수정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파이썬을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모르는 동료도 같은 워크플로우 사용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6교시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FastMCP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MCP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개발의 사실상 표준 프레임워크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0545775" cy="4509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ko-KR" sz="1600" b="1" dirty="0">
                <a:solidFill>
                  <a:schemeClr val="bg1"/>
                </a:solidFill>
              </a:rPr>
              <a:t>공식 </a:t>
            </a:r>
            <a:r>
              <a:rPr lang="ko-KR" altLang="ko-KR" sz="1600" b="1" dirty="0" err="1">
                <a:solidFill>
                  <a:schemeClr val="bg1"/>
                </a:solidFill>
              </a:rPr>
              <a:t>SDK를</a:t>
            </a:r>
            <a:r>
              <a:rPr lang="ko-KR" altLang="ko-KR" sz="1600" b="1" dirty="0">
                <a:solidFill>
                  <a:schemeClr val="bg1"/>
                </a:solidFill>
              </a:rPr>
              <a:t> 이긴 개인 프로젝트</a:t>
            </a:r>
            <a:endParaRPr lang="en-US" altLang="ko-KR" sz="1600" b="1" dirty="0">
              <a:solidFill>
                <a:schemeClr val="bg1"/>
              </a:solidFill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ko-KR" sz="1600" dirty="0">
                <a:solidFill>
                  <a:schemeClr val="bg1"/>
                </a:solidFill>
              </a:rPr>
              <a:t>한 개발자(</a:t>
            </a:r>
            <a:r>
              <a:rPr lang="ko-KR" altLang="ko-KR" sz="1600" dirty="0" err="1">
                <a:solidFill>
                  <a:schemeClr val="bg1"/>
                </a:solidFill>
              </a:rPr>
              <a:t>Jeremy</a:t>
            </a:r>
            <a:r>
              <a:rPr lang="ko-KR" altLang="ko-KR" sz="1600" dirty="0">
                <a:solidFill>
                  <a:schemeClr val="bg1"/>
                </a:solidFill>
              </a:rPr>
              <a:t> </a:t>
            </a:r>
            <a:r>
              <a:rPr lang="ko-KR" altLang="ko-KR" sz="1600" dirty="0" err="1">
                <a:solidFill>
                  <a:schemeClr val="bg1"/>
                </a:solidFill>
              </a:rPr>
              <a:t>Lowin</a:t>
            </a:r>
            <a:r>
              <a:rPr lang="ko-KR" altLang="ko-KR" sz="1600" dirty="0">
                <a:solidFill>
                  <a:schemeClr val="bg1"/>
                </a:solidFill>
              </a:rPr>
              <a:t>)가 MCP 공개 일주일 만에 만든 라이브러리인데, 너무 잘 만들어서 </a:t>
            </a:r>
            <a:r>
              <a:rPr lang="ko-KR" altLang="ko-KR" sz="1600" dirty="0" err="1">
                <a:solidFill>
                  <a:schemeClr val="bg1"/>
                </a:solidFill>
              </a:rPr>
              <a:t>Anthropic이</a:t>
            </a:r>
            <a:r>
              <a:rPr lang="ko-KR" altLang="ko-KR" sz="1600" dirty="0">
                <a:solidFill>
                  <a:schemeClr val="bg1"/>
                </a:solidFill>
              </a:rPr>
              <a:t> 아예 공식 MCP </a:t>
            </a:r>
            <a:r>
              <a:rPr lang="ko-KR" altLang="ko-KR" sz="1600" dirty="0" err="1">
                <a:solidFill>
                  <a:schemeClr val="bg1"/>
                </a:solidFill>
              </a:rPr>
              <a:t>SDK의</a:t>
            </a:r>
            <a:r>
              <a:rPr lang="ko-KR" altLang="ko-KR" sz="1600" dirty="0">
                <a:solidFill>
                  <a:schemeClr val="bg1"/>
                </a:solidFill>
              </a:rPr>
              <a:t> 기반으로 채택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ko-KR" sz="1600" dirty="0">
                <a:solidFill>
                  <a:schemeClr val="bg1"/>
                </a:solidFill>
              </a:rPr>
              <a:t>거기서 멈추지 않고 독립 프로젝트로 계속 진화해, 지금은 전체 MCP 서버의 70%가 </a:t>
            </a:r>
            <a:r>
              <a:rPr lang="ko-KR" altLang="ko-KR" sz="1600" dirty="0" err="1">
                <a:solidFill>
                  <a:schemeClr val="bg1"/>
                </a:solidFill>
              </a:rPr>
              <a:t>FastMCP로</a:t>
            </a:r>
            <a:r>
              <a:rPr lang="ko-KR" altLang="ko-KR" sz="1600" dirty="0">
                <a:solidFill>
                  <a:schemeClr val="bg1"/>
                </a:solidFill>
              </a:rPr>
              <a:t> </a:t>
            </a:r>
            <a:r>
              <a:rPr lang="ko-KR" altLang="ko-KR" sz="1600" dirty="0" err="1">
                <a:solidFill>
                  <a:schemeClr val="bg1"/>
                </a:solidFill>
              </a:rPr>
              <a:t>돌아감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bg1"/>
                </a:solidFill>
              </a:rPr>
              <a:t>편리한 사용성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 err="1">
                <a:solidFill>
                  <a:schemeClr val="bg1"/>
                </a:solidFill>
              </a:rPr>
              <a:t>데코레이터</a:t>
            </a:r>
            <a:r>
              <a:rPr lang="ko-KR" altLang="en-US" sz="1600" dirty="0">
                <a:solidFill>
                  <a:schemeClr val="bg1"/>
                </a:solidFill>
              </a:rPr>
              <a:t> 하나면 끝</a:t>
            </a:r>
            <a:r>
              <a:rPr lang="en-US" altLang="ko-KR" sz="1600" dirty="0">
                <a:solidFill>
                  <a:schemeClr val="bg1"/>
                </a:solidFill>
              </a:rPr>
              <a:t>: @mcp.tool </a:t>
            </a:r>
            <a:r>
              <a:rPr lang="ko-KR" altLang="en-US" sz="1600" dirty="0" err="1">
                <a:solidFill>
                  <a:schemeClr val="bg1"/>
                </a:solidFill>
              </a:rPr>
              <a:t>데코레이터와</a:t>
            </a:r>
            <a:r>
              <a:rPr lang="ko-KR" altLang="en-US" sz="1600" dirty="0">
                <a:solidFill>
                  <a:schemeClr val="bg1"/>
                </a:solidFill>
              </a:rPr>
              <a:t> 타입 힌트만으로 파이썬 함수가 </a:t>
            </a:r>
            <a:r>
              <a:rPr lang="en-US" altLang="ko-KR" sz="1600" dirty="0">
                <a:solidFill>
                  <a:schemeClr val="bg1"/>
                </a:solidFill>
              </a:rPr>
              <a:t>MCP </a:t>
            </a:r>
            <a:r>
              <a:rPr lang="ko-KR" altLang="en-US" sz="1600" dirty="0">
                <a:solidFill>
                  <a:schemeClr val="bg1"/>
                </a:solidFill>
              </a:rPr>
              <a:t>툴이 됨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bg1"/>
                </a:solidFill>
              </a:rPr>
              <a:t>프로토콜 운영까지 편리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bg1"/>
                </a:solidFill>
              </a:rPr>
              <a:t>공식 </a:t>
            </a:r>
            <a:r>
              <a:rPr lang="en-US" altLang="ko-KR" sz="1600" dirty="0">
                <a:solidFill>
                  <a:schemeClr val="bg1"/>
                </a:solidFill>
              </a:rPr>
              <a:t>SDK</a:t>
            </a:r>
            <a:r>
              <a:rPr lang="ko-KR" altLang="en-US" sz="1600" dirty="0">
                <a:solidFill>
                  <a:schemeClr val="bg1"/>
                </a:solidFill>
              </a:rPr>
              <a:t>가 </a:t>
            </a:r>
            <a:r>
              <a:rPr lang="en-US" altLang="ko-KR" sz="1600" dirty="0">
                <a:solidFill>
                  <a:schemeClr val="bg1"/>
                </a:solidFill>
              </a:rPr>
              <a:t>'</a:t>
            </a:r>
            <a:r>
              <a:rPr lang="ko-KR" altLang="en-US" sz="1600" dirty="0">
                <a:solidFill>
                  <a:schemeClr val="bg1"/>
                </a:solidFill>
              </a:rPr>
              <a:t>정석 구현</a:t>
            </a:r>
            <a:r>
              <a:rPr lang="en-US" altLang="ko-KR" sz="1600" dirty="0">
                <a:solidFill>
                  <a:schemeClr val="bg1"/>
                </a:solidFill>
              </a:rPr>
              <a:t>'</a:t>
            </a:r>
            <a:r>
              <a:rPr lang="ko-KR" altLang="en-US" sz="1600" dirty="0">
                <a:solidFill>
                  <a:schemeClr val="bg1"/>
                </a:solidFill>
              </a:rPr>
              <a:t>이라면 </a:t>
            </a:r>
            <a:r>
              <a:rPr lang="en-US" altLang="ko-KR" sz="1600" dirty="0" err="1">
                <a:solidFill>
                  <a:schemeClr val="bg1"/>
                </a:solidFill>
              </a:rPr>
              <a:t>FastMCP</a:t>
            </a:r>
            <a:r>
              <a:rPr lang="ko-KR" altLang="en-US" sz="1600" dirty="0">
                <a:solidFill>
                  <a:schemeClr val="bg1"/>
                </a:solidFill>
              </a:rPr>
              <a:t>는 실전용 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bg1"/>
                </a:solidFill>
              </a:rPr>
              <a:t>인증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배포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테스트</a:t>
            </a:r>
            <a:r>
              <a:rPr lang="en-US" altLang="ko-KR" sz="1600" dirty="0">
                <a:solidFill>
                  <a:schemeClr val="bg1"/>
                </a:solidFill>
              </a:rPr>
              <a:t>, HTTP/SSE </a:t>
            </a:r>
            <a:r>
              <a:rPr lang="ko-KR" altLang="en-US" sz="1600" dirty="0">
                <a:solidFill>
                  <a:schemeClr val="bg1"/>
                </a:solidFill>
              </a:rPr>
              <a:t>전송 등 프로덕션 환경에서 필요한 기능을 기본 제공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6교시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1.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세팅과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첫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list_files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748118"/>
            <a:ext cx="10545775" cy="4149762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48118"/>
            <a:ext cx="45720" cy="4149762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4008" y="1965960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4008" y="2313432"/>
            <a:ext cx="10116698" cy="3450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작업 폴더 아래에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mcp-cleaner라는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프로젝트 폴더를 만들고 다음을 순서대로 진행해줘.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fastmcp와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되어 있는지 확인하고 설치 안되어 있으면 설치해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data/incoming, data/cleaned 폴더를 만들고, 4교시 실습 폴더의 data/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sensor_data_large.csv를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data/incoming으로 복사해줘.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server.py 작성: FastMCP 서버 이름은 data-cleaner.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list_files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data/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incoming의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 이름·크기(MB)·수정 시각을 표 형태 문자열로 반환하고, 폴더가 비어 있으면 안내 문구를 반환.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툴의 docstring은 모델이 읽는 설명서니까, 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data/incoming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어떤 파일이 있는지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전 데이터 리스트 현황을 먼저 확인하고 싶을 때 사용한다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문장으로 써줘.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서버가 오류 없이 기동되는지 점검하고 결과를 3줄로 요약해줘.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6교시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718FB-91DD-66C2-A056-CF5B296CC98D}"/>
              </a:ext>
            </a:extLst>
          </p:cNvPr>
          <p:cNvSpPr txBox="1"/>
          <p:nvPr/>
        </p:nvSpPr>
        <p:spPr>
          <a:xfrm>
            <a:off x="822960" y="128016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돌리고 뒤에서 설명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server.py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함수를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툴로 만들기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476486"/>
            <a:ext cx="5144872" cy="4668281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95943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설명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025126"/>
            <a:ext cx="4596232" cy="4017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FastMCP</a:t>
            </a:r>
            <a:r>
              <a:rPr lang="en-US" altLang="ko-KR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("data-cleaner")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인스턴스 생성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"data-cleaner"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호스트의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목록에 표시되는 이름</a:t>
            </a: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@mcp.tool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함수를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툴로 등록</a:t>
            </a: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이름 </a:t>
            </a:r>
            <a:r>
              <a:rPr lang="en-US" altLang="ko-KR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</a:t>
            </a:r>
            <a:r>
              <a:rPr lang="ko-KR" altLang="en-US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 이름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연결 시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tools/list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요청으로 툴 목록을 받아가고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list_files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이름과 설명이 모델의 컨텍스트에 주입됨</a:t>
            </a: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docstring = </a:t>
            </a:r>
            <a:r>
              <a:rPr lang="ko-KR" altLang="en-US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 선택 기준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사용자의 요청과 각 툴의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docstring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대조해 어떤 툴을 호출할지 판단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주석 아님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문자열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받는 결과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tools/call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결과로 호스트에 전달되어 모델의 컨텍스트에 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들어감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98184" y="1522207"/>
            <a:ext cx="5144872" cy="462256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8184" y="1695943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1에서 </a:t>
            </a:r>
            <a:r>
              <a:rPr kumimoji="0" lang="en-US" sz="105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lang="ko-KR" altLang="en-US" sz="1050" b="1" kern="0" spc="14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</a:t>
            </a: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server.py의 골격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0093" y="2025127"/>
            <a:ext cx="4993341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None/>
            </a:pPr>
            <a:r>
              <a:rPr lang="ko-KR" altLang="ko-KR" sz="1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fastmcp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FastMCP</a:t>
            </a:r>
            <a:endParaRPr lang="ko-KR" altLang="ko-KR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b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mcp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FastMCP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1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data-cleaner</a:t>
            </a:r>
            <a:r>
              <a:rPr lang="ko-KR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ko-KR" altLang="ko-KR" sz="11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INCOMING_DIR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ko-KR" altLang="ko-KR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ko-KR" altLang="ko-KR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ko-KR" altLang="ko-KR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1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ko-KR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1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incoming</a:t>
            </a:r>
            <a:r>
              <a:rPr lang="ko-KR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ko-KR" altLang="ko-KR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ko-KR" sz="11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ko-KR" altLang="ko-KR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mcp</a:t>
            </a:r>
            <a:r>
              <a:rPr lang="ko-KR" altLang="ko-KR" sz="11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.tool</a:t>
            </a:r>
            <a:endParaRPr lang="ko-KR" altLang="ko-KR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ko-KR" sz="11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list_files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-&gt; </a:t>
            </a:r>
            <a:r>
              <a:rPr lang="ko-KR" altLang="ko-KR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ko-KR" altLang="ko-KR" sz="11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ko-KR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ko-KR" sz="11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incoming</a:t>
            </a:r>
            <a:r>
              <a:rPr lang="ko-KR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폴더에 어떤 파일이 있는지, 정리 전 데이터</a:t>
            </a:r>
            <a:r>
              <a:rPr lang="en-US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리스트</a:t>
            </a:r>
            <a:r>
              <a:rPr lang="ko-KR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현황을 먼저 확인하고 싶을 때 사용한다."""</a:t>
            </a:r>
            <a:endParaRPr lang="ko-KR" altLang="ko-KR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INCOMING_DIR</a:t>
            </a:r>
            <a:r>
              <a:rPr lang="ko-KR" altLang="ko-KR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1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1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INCOMING_DIR</a:t>
            </a:r>
            <a:r>
              <a:rPr lang="ko-KR" altLang="ko-KR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1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iterdir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()):</a:t>
            </a:r>
          </a:p>
          <a:p>
            <a:pPr>
              <a:lnSpc>
                <a:spcPct val="150000"/>
              </a:lnSpc>
              <a:buNone/>
            </a:pP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1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ko-KR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ko-KR" sz="11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incoming</a:t>
            </a:r>
            <a:r>
              <a:rPr lang="ko-KR" altLang="ko-KR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폴더가 비어 있습니다."</a:t>
            </a:r>
            <a:endParaRPr lang="ko-KR" altLang="ko-KR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6교시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erver.py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148839"/>
            <a:ext cx="10271760" cy="2736925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697479"/>
            <a:ext cx="9167308" cy="206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server.py에서 @mcp.tool 데코레이터와 docstring 위치 확인.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하나 = 툴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solidFill>
                  <a:schemeClr val="bg1"/>
                </a:solidFill>
              </a:rPr>
              <a:t>Docstring </a:t>
            </a:r>
            <a:r>
              <a:rPr lang="ko-KR" altLang="en-US" sz="1400" dirty="0">
                <a:solidFill>
                  <a:schemeClr val="bg1"/>
                </a:solidFill>
              </a:rPr>
              <a:t>보면 </a:t>
            </a:r>
            <a:r>
              <a:rPr lang="en-US" altLang="ko-KR" sz="1400" dirty="0">
                <a:solidFill>
                  <a:schemeClr val="bg1"/>
                </a:solidFill>
              </a:rPr>
              <a:t>incoming </a:t>
            </a:r>
            <a:r>
              <a:rPr lang="ko-KR" altLang="en-US" sz="1400" dirty="0">
                <a:solidFill>
                  <a:schemeClr val="bg1"/>
                </a:solidFill>
              </a:rPr>
              <a:t>파일만 확인함</a:t>
            </a:r>
            <a:r>
              <a:rPr lang="en-US" altLang="ko-KR" sz="1400" dirty="0">
                <a:solidFill>
                  <a:schemeClr val="bg1"/>
                </a:solidFill>
              </a:rPr>
              <a:t>. </a:t>
            </a:r>
            <a:r>
              <a:rPr lang="ko-KR" altLang="ko-KR" sz="1400" dirty="0">
                <a:solidFill>
                  <a:schemeClr val="bg1"/>
                </a:solidFill>
              </a:rPr>
              <a:t>이 서버의 존재 이유 자체가 </a:t>
            </a:r>
            <a:r>
              <a:rPr lang="ko-KR" altLang="ko-KR" sz="1400" dirty="0" err="1">
                <a:solidFill>
                  <a:schemeClr val="bg1"/>
                </a:solidFill>
                <a:latin typeface="Courier New" panose="02070309020205020404" pitchFamily="49" charset="0"/>
              </a:rPr>
              <a:t>data</a:t>
            </a:r>
            <a:r>
              <a:rPr lang="ko-KR" altLang="ko-KR" sz="1400" dirty="0">
                <a:solidFill>
                  <a:schemeClr val="bg1"/>
                </a:solidFill>
                <a:latin typeface="Courier New" panose="02070309020205020404" pitchFamily="49" charset="0"/>
              </a:rPr>
              <a:t>/</a:t>
            </a:r>
            <a:r>
              <a:rPr lang="ko-KR" altLang="ko-KR" sz="1400" dirty="0" err="1">
                <a:solidFill>
                  <a:schemeClr val="bg1"/>
                </a:solidFill>
                <a:latin typeface="Courier New" panose="02070309020205020404" pitchFamily="49" charset="0"/>
              </a:rPr>
              <a:t>incoming</a:t>
            </a:r>
            <a:r>
              <a:rPr lang="ko-KR" altLang="ko-KR" sz="1400" dirty="0" err="1">
                <a:solidFill>
                  <a:schemeClr val="bg1"/>
                </a:solidFill>
              </a:rPr>
              <a:t>을</a:t>
            </a:r>
            <a:r>
              <a:rPr lang="ko-KR" altLang="ko-KR" sz="1400" dirty="0">
                <a:solidFill>
                  <a:schemeClr val="bg1"/>
                </a:solidFill>
              </a:rPr>
              <a:t> 관리하는 것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</a:rPr>
              <a:t>그래서</a:t>
            </a:r>
            <a:r>
              <a:rPr lang="ko-KR" altLang="ko-KR" sz="1400" dirty="0">
                <a:solidFill>
                  <a:schemeClr val="bg1"/>
                </a:solidFill>
              </a:rPr>
              <a:t> 툴은  항상 </a:t>
            </a:r>
            <a:r>
              <a:rPr lang="ko-KR" altLang="en-US" sz="1400" dirty="0">
                <a:solidFill>
                  <a:schemeClr val="bg1"/>
                </a:solidFill>
              </a:rPr>
              <a:t>이 폴더만 확인하도록 함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 err="1">
                <a:solidFill>
                  <a:schemeClr val="bg1"/>
                </a:solidFill>
              </a:rPr>
              <a:t>일반론적인</a:t>
            </a:r>
            <a:r>
              <a:rPr lang="ko-KR" altLang="en-US" sz="1400" dirty="0">
                <a:solidFill>
                  <a:schemeClr val="bg1"/>
                </a:solidFill>
              </a:rPr>
              <a:t> 내용을 적는 </a:t>
            </a:r>
            <a:r>
              <a:rPr lang="en-US" altLang="ko-KR" sz="1400" dirty="0">
                <a:solidFill>
                  <a:schemeClr val="bg1"/>
                </a:solidFill>
              </a:rPr>
              <a:t>skill</a:t>
            </a:r>
            <a:r>
              <a:rPr lang="ko-KR" altLang="en-US" sz="1400" dirty="0">
                <a:solidFill>
                  <a:schemeClr val="bg1"/>
                </a:solidFill>
              </a:rPr>
              <a:t>과 다소 다른 부분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6교시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E18C0CFB-5938-76E3-434B-D7A527F8AC2D}"/>
              </a:ext>
            </a:extLst>
          </p:cNvPr>
          <p:cNvSpPr/>
          <p:nvPr/>
        </p:nvSpPr>
        <p:spPr>
          <a:xfrm>
            <a:off x="822960" y="1581912"/>
            <a:ext cx="99971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Desktop에는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미등록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파일만 생성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2.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-cleaner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등록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59" y="1477024"/>
            <a:ext cx="10545775" cy="5103069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59" y="1477024"/>
            <a:ext cx="45719" cy="5103069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1" y="1696481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1" y="1897649"/>
            <a:ext cx="9923983" cy="468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-cleaner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폴더의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server.py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등록해줘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실행되는지 확인하고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--version),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되면 중단하고 알려줘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-cleaner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절대경로를 확인하고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server.py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pyproject.toml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있는지 확인해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pyproject.toml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dependencies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fastmcp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들어있는지도 같이 확인해줘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전에 아래 명령이 실제로 서버를 띄우는지 먼저 테스트해줘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초 후 종료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):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run --project &lt;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-cleaner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절대경로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server.py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</a:t>
            </a:r>
            <a:r>
              <a:rPr lang="ko-KR" altLang="en-US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크래시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없이 살아있으면 성공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실패하면 여기서 중단하고 에러를 보여줘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claude_desktop_config.json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찾아서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내용을 읽은 뒤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mcpServers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아래 항목을 추가해줘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항목은 절대 건드리지 마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{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"data-cleaner": {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"command": "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",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"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args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": ["run", "--project", "&lt;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-cleaner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절대경로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&gt;", "server.py"],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"env": { "PYTHONUTF8": "1" }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}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}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파일은 반드시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UTF-8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저장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경로가 있어서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cp949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쓰면 깨짐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PYTHONUTF8=1: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한글 경로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출력을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stdio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주고받을 때 인코딩 오류 방지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후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유효한지 </a:t>
            </a:r>
            <a:r>
              <a:rPr lang="ko-KR" altLang="en-US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파싱해서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확인하고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추가된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data-cleaner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항목을 보여줘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서버 항목들이 그대로 남아있는지도 확인해줘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나면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(config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못 찾음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JSON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실패 등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메시지를 그대로 보여주고 원인을 설명해줘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만든 툴의 첫 호출 확인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94678" y="2489499"/>
            <a:ext cx="10893910" cy="1737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8998" y="2708955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68998" y="3038139"/>
            <a:ext cx="1023752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Server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발생하면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-cleaner MCP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등록 과정에서 에러가 발생해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해결해줘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＇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사용자지정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커넥터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data-cleaner 표시, 툴은 list_files 1개.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프롬프트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승인 → sensor_data_large.csv 약 117MB가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6교시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E18C0CFB-5938-76E3-434B-D7A527F8AC2D}"/>
              </a:ext>
            </a:extLst>
          </p:cNvPr>
          <p:cNvSpPr/>
          <p:nvPr/>
        </p:nvSpPr>
        <p:spPr>
          <a:xfrm>
            <a:off x="822960" y="1581912"/>
            <a:ext cx="99971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 Desktop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채팅에서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첫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"incoming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?" →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list_files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호출·승인·결과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altLang="ko-KR" sz="16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3.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 조사하는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inspect_file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598"/>
            <a:ext cx="10902875" cy="2017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아래 프롬프트 입력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설명 때 배운 내용 상기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데이터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단계에서 전체 적재 금지, DuckDB가 필요한 부분만 직접 읽는 구조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추가 완료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-&gt;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입력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“incoming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sensor_data_large.csv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파일의 데이터 구조를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조사해줘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추가한 </a:t>
            </a:r>
            <a:r>
              <a:rPr lang="en-US" altLang="ko-KR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inspect_file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실행하는 권한 달라고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요청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처리까지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툴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설계에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“incoming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sensor.csv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조사해줘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(오타)도 입력 — 안내 반환 →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파일명으로 다시 시도하는지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관찰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3569924"/>
            <a:ext cx="10545775" cy="2668973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569924"/>
            <a:ext cx="45720" cy="2668973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3789380"/>
            <a:ext cx="9923983" cy="253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2" y="4136853"/>
            <a:ext cx="9923983" cy="192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server.py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server에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inspect_file(filename)을 tools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추가해줘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기능은 아래와 같아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data/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incomin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ko-KR" alt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요청받은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CSV를 DuckDB로 조사해서 행 수, 컬럼 이름과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앞 5행 샘플을 보기 좋은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반환해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파일 전체를 메모리에 올리지 말고 DuckDB가 CSV를 직접 읽는 방식으로 구현해.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존재하지 않는 파일명이 들어오면 오류 대신, 사용 가능한 파일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시도하라는 안내 문자열을 반환해줘.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latinLnBrk="0"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docstring에는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data/incoming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전에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데이터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파악할 때 사용'이 드러나게 써줘.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 문법 점검하고 결과를 3줄로 요약해줘.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5216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6교시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요청한 파일이 없다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메시지도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그 다음 행동 판단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</a:t>
            </a:r>
            <a:r>
              <a:rPr lang="ko-KR" altLang="en-US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반환값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 행동을 스스로 결정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실습의 두 장면 비교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5144872" cy="3154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140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</a:t>
            </a:r>
            <a:r>
              <a:rPr kumimoji="0" lang="en-US" sz="11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10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</a:t>
            </a:r>
            <a:r>
              <a:rPr kumimoji="0" lang="en-US" sz="11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1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inspect_file 정상 호출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154679"/>
            <a:ext cx="4596232" cy="1731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수 3,000,000 · 컬럼 6개 · 샘플 5행 반환</a:t>
            </a:r>
            <a:br/>
            <a:br/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117MB 파일에도 즉시 응답 — 전체 적재 없이 필요한 부분만 읽는 구조의 효과</a:t>
            </a:r>
            <a:br/>
            <a:br/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큰 파일 유의점이 서버 안에 내장된 상태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23864" y="2194560"/>
            <a:ext cx="5144872" cy="3154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4140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오타</a:t>
            </a:r>
            <a:r>
              <a:rPr kumimoji="0" lang="en-US" sz="11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10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</a:t>
            </a:r>
            <a:r>
              <a:rPr kumimoji="0" lang="en-US" sz="11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1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98184" y="2743199"/>
            <a:ext cx="4596232" cy="59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ts val="1958"/>
              </a:lnSpc>
            </a:pPr>
            <a:r>
              <a:rPr lang="en-US" altLang="ko-KR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sensor.csv — 존재하지 않는 입력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8184" y="3246028"/>
            <a:ext cx="4596232" cy="1926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ts val="1750"/>
              </a:lnSpc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"해당 파일 없음 + 사용 가능 목록" 반환</a:t>
            </a:r>
            <a:br>
              <a:rPr dirty="0"/>
            </a:br>
            <a:br>
              <a:rPr dirty="0"/>
            </a:b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안내를 읽고 올바른 파일명으로 재호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출하거나 대안을 사용자에게 제시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 latinLnBrk="0">
              <a:lnSpc>
                <a:spcPts val="1750"/>
              </a:lnSpc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</a:endParaRPr>
          </a:p>
          <a:p>
            <a:pPr lvl="0" latinLnBrk="0">
              <a:lnSpc>
                <a:spcPts val="1750"/>
              </a:lnSpc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+mn-cs"/>
              </a:rPr>
              <a:t>요청한 파일이 없을 때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+mn-cs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+mn-cs"/>
              </a:rPr>
              <a:t>서버가 에러 로그를 그대로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+mn-cs"/>
              </a:rPr>
              <a:t>ai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+mn-cs"/>
              </a:rPr>
              <a:t>모델에게 넘겨주는 것이 아니라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+mn-cs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+mn-cs"/>
              </a:rPr>
              <a:t>모델이 그 다음 액션을 판단할 수 있게 발생한 이슈를 자연어로 모델에게 전달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+mn-cs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6교시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4.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정제하는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clean_file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0545775" cy="1120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규칙은 이전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실습과 유사 — 이미 검증한 로직을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 구현하는 단계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형식을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Parquet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용량을 압축해서 데이터 업무 효율 올리기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서버에서 무엇을 얼마나 처리했는지 숫자로 반환해서 모델이 확인할 수 있도록 함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343016"/>
            <a:ext cx="10545775" cy="3618512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43015"/>
            <a:ext cx="82322" cy="3618513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5" y="2544184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3855" y="2891656"/>
            <a:ext cx="9923983" cy="287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ct val="150000"/>
              </a:lnSpc>
              <a:defRPr/>
            </a:pPr>
            <a:r>
              <a:rPr lang="en-US" sz="12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-cleaner </a:t>
            </a:r>
            <a:r>
              <a:rPr lang="ko-KR" alt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폴더의</a:t>
            </a:r>
            <a:r>
              <a:rPr 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server.py에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clean_file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(filename)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tool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추가해줘. 처리는 전부 DuckDB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아래 정제 조건을 따라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incomin</a:t>
            </a:r>
            <a:r>
              <a:rPr lang="en-US" altLang="ko-KR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 </a:t>
            </a:r>
            <a:r>
              <a:rPr lang="ko-KR" alt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있는</a:t>
            </a:r>
            <a:r>
              <a:rPr lang="en-US" altLang="ko-KR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파일의 데이터 정제를 요청할 때 실행하도록 </a:t>
            </a:r>
            <a:r>
              <a:rPr lang="en-US" altLang="ko-KR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docstring</a:t>
            </a:r>
            <a:r>
              <a:rPr lang="ko-KR" alt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만들어줘</a:t>
            </a:r>
            <a:r>
              <a:rPr lang="en-US" altLang="ko-KR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규칙 4가지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timestamp 여러 형식을 하나의 datetime으로 통일   2. status 대소문자 표기 통일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temperature -50 미만 또는 100 초과 행 제거   4. 결측치를 같은 sensor_id의 중앙값으로 대체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결과는 data/cleaned/&lt;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원본이름_cleaned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&gt;.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parquet으로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이름 뒤에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_cleaned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이름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붙이는거야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원본 파일은 수정 금지.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반환값: 처리 전/후 행 수, 제거 행 수, 대체 건수, 저장 경로와 크기(MB), 처리 시간 요약.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없는 파일명은 inspect_file과 같은 방식으로 안내하고, 수정 후 문법 점검과 3줄 요약해줘.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6교시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300만 행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1083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 후 채팅: "incoming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sensor_data_large.csv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정제해줘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데이터 정제 코드 생성 시간 없이 바로 데이터 정제해서 빠르게 진행 가능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이전 실습에서는 정제 요청하면 정제 코드도 즉석으로 바로 만들었기에 정제 시간 뿐만 아니라 코드 생성 시간도 소요되었음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619755"/>
            <a:ext cx="5144872" cy="3242265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839212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3168396"/>
            <a:ext cx="459623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clean_file 호출 → 요약 보고: 제거 행 수, 대체 건수, 처리 시간.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data/cleaned에 Parquet 생성, 약 30MB — CSV의 1/4(4교시와 동일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경향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98184" y="2665475"/>
            <a:ext cx="5144872" cy="3242265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8184" y="2839212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내부에 고정된 SQL — </a:t>
            </a:r>
            <a:r>
              <a:rPr kumimoji="0" lang="ko-KR" altLang="en-US" sz="12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매번 생성하지 않기에 항상 같은 방식으로 실행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0094" y="3168396"/>
            <a:ext cx="45143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0"/>
              </a:lnSpc>
              <a:buNone/>
            </a:pPr>
            <a:r>
              <a:rPr lang="ko-KR" altLang="ko-KR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con</a:t>
            </a:r>
            <a:r>
              <a:rPr lang="ko-KR" altLang="ko-KR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.execute</a:t>
            </a:r>
            <a:r>
              <a:rPr lang="ko-KR" altLang="ko-KR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0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ko-KR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    CREATE TEMP TABLE </a:t>
            </a:r>
            <a:r>
              <a:rPr lang="ko-KR" altLang="ko-KR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parsed</a:t>
            </a: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AS</a:t>
            </a:r>
            <a:endParaRPr lang="ko-KR" altLang="ko-KR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    SELECT</a:t>
            </a:r>
            <a:endParaRPr lang="ko-KR" altLang="ko-KR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try_strptime</a:t>
            </a: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ko-KR" altLang="ko-KR" sz="10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TIMESTAMP_FORMATS</a:t>
            </a:r>
            <a:r>
              <a:rPr lang="ko-KR" altLang="ko-KR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) AS </a:t>
            </a:r>
            <a:r>
              <a:rPr lang="ko-KR" altLang="ko-KR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</a:t>
            </a:r>
            <a:endParaRPr lang="ko-KR" altLang="ko-KR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sensor_id</a:t>
            </a: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</a:t>
            </a:r>
            <a:endParaRPr lang="ko-KR" altLang="ko-KR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</a:t>
            </a:r>
            <a:endParaRPr lang="ko-KR" altLang="ko-KR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</a:t>
            </a:r>
            <a:endParaRPr lang="ko-KR" altLang="ko-KR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        UPPER(TRIM(</a:t>
            </a:r>
            <a:r>
              <a:rPr lang="ko-KR" altLang="ko-KR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)) AS </a:t>
            </a:r>
            <a:r>
              <a:rPr lang="ko-KR" altLang="ko-KR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status</a:t>
            </a:r>
            <a:endParaRPr lang="ko-KR" altLang="ko-KR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    FROM </a:t>
            </a:r>
            <a:r>
              <a:rPr lang="ko-KR" altLang="ko-KR" sz="1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read_csv_auto</a:t>
            </a: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('</a:t>
            </a:r>
            <a:r>
              <a:rPr lang="ko-KR" altLang="ko-KR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ko-KR" altLang="ko-KR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csv_literal</a:t>
            </a:r>
            <a:r>
              <a:rPr lang="ko-KR" altLang="ko-KR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')</a:t>
            </a:r>
            <a:endParaRPr lang="ko-KR" altLang="ko-KR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"""</a:t>
            </a:r>
            <a:r>
              <a:rPr lang="ko-KR" altLang="ko-KR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7" name="Text 15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6교시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latinLnBrk="0">
              <a:defRPr/>
            </a:pPr>
            <a:r>
              <a:rPr lang="en-US" altLang="ko-KR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</a:t>
            </a:r>
            <a:r>
              <a:rPr lang="en-US" altLang="ko-KR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 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실습은 </a:t>
            </a:r>
            <a:r>
              <a:rPr lang="en-US" altLang="ko-KR" sz="2500" b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altLang="ko-KR" sz="2500" dirty="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0545775" cy="1389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크게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 방식 있는데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전달에서는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번이 가장 간단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m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공유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받은 사람이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code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환경설정을 내 컴퓨터에 맞게 수정해달라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요청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2" latinLnBrk="0">
              <a:lnSpc>
                <a:spcPct val="150000"/>
              </a:lnSpc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받은 사람이 아래 프롬프트처럼 의존성 설치하고 설정파일 맞춰달라고 하면 끝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1" latinLnBrk="0">
              <a:lnSpc>
                <a:spcPct val="150000"/>
              </a:lnSpc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데스크톱 확장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(.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mcpb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패키징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ko-KR" sz="1400" dirty="0">
                <a:solidFill>
                  <a:prstClr val="white"/>
                </a:solidFill>
              </a:rPr>
              <a:t>수신자는 </a:t>
            </a:r>
            <a:r>
              <a:rPr lang="ko-KR" altLang="ko-KR" sz="1400" dirty="0" err="1">
                <a:solidFill>
                  <a:prstClr val="white"/>
                </a:solidFill>
              </a:rPr>
              <a:t>Claude</a:t>
            </a:r>
            <a:r>
              <a:rPr lang="ko-KR" altLang="ko-KR" sz="1400" dirty="0">
                <a:solidFill>
                  <a:prstClr val="white"/>
                </a:solidFill>
              </a:rPr>
              <a:t> </a:t>
            </a:r>
            <a:r>
              <a:rPr lang="ko-KR" altLang="ko-KR" sz="1400" dirty="0" err="1">
                <a:solidFill>
                  <a:prstClr val="white"/>
                </a:solidFill>
              </a:rPr>
              <a:t>Desktop에서</a:t>
            </a:r>
            <a:r>
              <a:rPr lang="ko-KR" altLang="ko-KR" sz="1400" dirty="0">
                <a:solidFill>
                  <a:prstClr val="white"/>
                </a:solidFill>
              </a:rPr>
              <a:t> 더블클릭 설치로 완료</a:t>
            </a:r>
            <a:r>
              <a:rPr lang="en-US" altLang="ko-KR" sz="1400" dirty="0">
                <a:solidFill>
                  <a:prstClr val="white"/>
                </a:solidFill>
              </a:rPr>
              <a:t>, </a:t>
            </a:r>
            <a:r>
              <a:rPr lang="ko-KR" altLang="en-US" sz="1400" dirty="0">
                <a:solidFill>
                  <a:prstClr val="white"/>
                </a:solidFill>
              </a:rPr>
              <a:t>대신 제작자가 </a:t>
            </a:r>
            <a:r>
              <a:rPr lang="ko-KR" altLang="en-US" sz="1400" dirty="0" err="1">
                <a:solidFill>
                  <a:prstClr val="white"/>
                </a:solidFill>
              </a:rPr>
              <a:t>패키징하는</a:t>
            </a:r>
            <a:r>
              <a:rPr lang="ko-KR" altLang="en-US" sz="1400" dirty="0">
                <a:solidFill>
                  <a:prstClr val="white"/>
                </a:solidFill>
              </a:rPr>
              <a:t> 수고 필요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저장소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PyPI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인원 대상 장기 운영에 적합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4627CFB2-564B-49A1-CA63-B13A53AB8F36}"/>
              </a:ext>
            </a:extLst>
          </p:cNvPr>
          <p:cNvSpPr/>
          <p:nvPr/>
        </p:nvSpPr>
        <p:spPr>
          <a:xfrm>
            <a:off x="868680" y="3569924"/>
            <a:ext cx="10545775" cy="2668973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08BEDDA-969A-77CF-2ADD-0405BAB8A6D7}"/>
              </a:ext>
            </a:extLst>
          </p:cNvPr>
          <p:cNvSpPr/>
          <p:nvPr/>
        </p:nvSpPr>
        <p:spPr>
          <a:xfrm>
            <a:off x="822960" y="3569924"/>
            <a:ext cx="45720" cy="2668973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1CA9A96-01AB-780C-144A-ECE43ECD410B}"/>
              </a:ext>
            </a:extLst>
          </p:cNvPr>
          <p:cNvSpPr/>
          <p:nvPr/>
        </p:nvSpPr>
        <p:spPr>
          <a:xfrm>
            <a:off x="1170432" y="3789380"/>
            <a:ext cx="9923983" cy="253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spc="14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sz="1050" b="1" kern="0" spc="14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b="1" kern="0" spc="14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</a:t>
            </a:r>
            <a:r>
              <a:rPr lang="en-US" altLang="ko-KR" sz="1050" b="1" kern="0" spc="14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050" b="1" kern="0" spc="14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 방식</a:t>
            </a: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8B779FAB-45EC-C4F8-0F74-4C44EAFCBBC8}"/>
              </a:ext>
            </a:extLst>
          </p:cNvPr>
          <p:cNvSpPr/>
          <p:nvPr/>
        </p:nvSpPr>
        <p:spPr>
          <a:xfrm>
            <a:off x="1170432" y="4136853"/>
            <a:ext cx="9923983" cy="192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전달받은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-cleaner(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폴더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이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동작하도록 설정해줘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defRPr/>
            </a:pP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 latinLnBrk="0">
              <a:defRPr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가상환경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(.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venv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만들고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requirements.txt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의존성 설치</a:t>
            </a:r>
          </a:p>
          <a:p>
            <a:pPr lvl="0" latinLnBrk="0">
              <a:defRPr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 </a:t>
            </a:r>
            <a:r>
              <a:rPr lang="ko-KR" alt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하드코딩된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이전 소유자의 절대 경로를 현재 폴더 기준으로 수정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</a:p>
          <a:p>
            <a:pPr lvl="0" latinLnBrk="0">
              <a:defRPr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data/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incoming·data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/cleaned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없으면 생성</a:t>
            </a:r>
          </a:p>
          <a:p>
            <a:pPr lvl="0" latinLnBrk="0">
              <a:defRPr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claude_desktop_config.json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찾아 백업 후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mcpServers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data-cleaner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</a:p>
          <a:p>
            <a:pPr lvl="0" latinLnBrk="0">
              <a:defRPr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(command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venv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경로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항목은 건드리지 말 것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lvl="0" latinLnBrk="0">
              <a:defRPr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완료되면 수정한 파일 목록과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추가된 내용을 보여주고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</a:p>
          <a:p>
            <a:pPr lvl="0" latinLnBrk="0">
              <a:defRPr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Claude Desktop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 → 커넥터에서 도구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 확인하라고 안내해줘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2132</Words>
  <Application>Microsoft Office PowerPoint</Application>
  <PresentationFormat>와이드스크린</PresentationFormat>
  <Paragraphs>189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맑은 고딕</vt:lpstr>
      <vt:lpstr>맑은 고딕</vt:lpstr>
      <vt:lpstr>Arial</vt:lpstr>
      <vt:lpstr>Calibri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2026-08-22T12:08:07Z</dcterms:created>
  <dcterms:modified xsi:type="dcterms:W3CDTF">2026-08-23T11:17:57Z</dcterms:modified>
</cp:coreProperties>
</file>